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28"/>
  </p:notesMasterIdLst>
  <p:sldIdLst>
    <p:sldId id="256" r:id="rId5"/>
    <p:sldId id="300" r:id="rId6"/>
    <p:sldId id="301" r:id="rId7"/>
    <p:sldId id="302" r:id="rId8"/>
    <p:sldId id="303" r:id="rId9"/>
    <p:sldId id="311" r:id="rId10"/>
    <p:sldId id="291" r:id="rId11"/>
    <p:sldId id="310" r:id="rId12"/>
    <p:sldId id="314" r:id="rId13"/>
    <p:sldId id="312" r:id="rId14"/>
    <p:sldId id="313" r:id="rId15"/>
    <p:sldId id="294" r:id="rId16"/>
    <p:sldId id="317" r:id="rId17"/>
    <p:sldId id="304" r:id="rId18"/>
    <p:sldId id="315" r:id="rId19"/>
    <p:sldId id="316" r:id="rId20"/>
    <p:sldId id="318" r:id="rId21"/>
    <p:sldId id="305" r:id="rId22"/>
    <p:sldId id="319" r:id="rId23"/>
    <p:sldId id="320" r:id="rId24"/>
    <p:sldId id="321" r:id="rId25"/>
    <p:sldId id="307" r:id="rId26"/>
    <p:sldId id="306" r:id="rId27"/>
  </p:sldIdLst>
  <p:sldSz cx="9144000" cy="6858000" type="screen4x3"/>
  <p:notesSz cx="6735763" cy="98663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3" roundtripDataSignature="AMtx7mig7uoUar2FONQYJwEy87gUzpUQY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MAI VŨ DŨNG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F3F3"/>
    <a:srgbClr val="F4F4F4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E320BE63-4007-4B99-8653-B8915922B5FC}">
  <a:tblStyle styleId="{E320BE63-4007-4B99-8653-B8915922B5F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>
          <a:top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bottom>
        </a:tcBdr>
      </a:tcStyle>
    </a:band1H>
    <a:band2H>
      <a:tcTxStyle/>
      <a:tcStyle>
        <a:tcBdr/>
      </a:tcStyle>
    </a:band2H>
    <a:band1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1V>
    <a:band2V>
      <a:tcTxStyle/>
      <a:tcStyle>
        <a:tcBdr>
          <a:lef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right>
        </a:tcBdr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50800" cap="flat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a:top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6307D7D-2257-42CE-8DAA-5773DBCB34A1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2647" autoAdjust="0"/>
  </p:normalViewPr>
  <p:slideViewPr>
    <p:cSldViewPr snapToGrid="0">
      <p:cViewPr varScale="1">
        <p:scale>
          <a:sx n="91" d="100"/>
          <a:sy n="91" d="100"/>
        </p:scale>
        <p:origin x="2184" y="9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customschemas.google.com/relationships/presentationmetadata" Target="metadata"/><Relationship Id="rId38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7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36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5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19413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14763" y="0"/>
            <a:ext cx="2919412" cy="493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371013"/>
            <a:ext cx="2919413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901700" y="739775"/>
            <a:ext cx="493236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7" name="Google Shape;87;p1:notes"/>
          <p:cNvSpPr txBox="1">
            <a:spLocks noGrp="1"/>
          </p:cNvSpPr>
          <p:nvPr>
            <p:ph type="body" idx="1"/>
          </p:nvPr>
        </p:nvSpPr>
        <p:spPr>
          <a:xfrm>
            <a:off x="673100" y="4686300"/>
            <a:ext cx="5389563" cy="44402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8" name="Google Shape;88;p1:notes"/>
          <p:cNvSpPr txBox="1">
            <a:spLocks noGrp="1"/>
          </p:cNvSpPr>
          <p:nvPr>
            <p:ph type="sldNum" idx="12"/>
          </p:nvPr>
        </p:nvSpPr>
        <p:spPr>
          <a:xfrm>
            <a:off x="3814763" y="9371013"/>
            <a:ext cx="2919412" cy="493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750" tIns="45375" rIns="90750" bIns="4537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FA72E-7B1E-570C-7ECE-2A9D411BA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60326-EB59-B819-A73C-E27F9C4CF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89B345-0F92-275E-2445-440A549DD4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950146-888F-0CF0-540C-087B0B1DAA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299752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B80C-F1E7-8E6C-6A46-5E1B30C2E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27300A-7843-1F27-EC97-D6F7A5B8A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70DFD0-E65F-EF19-B888-307A0FA657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F46F3-A5EF-C9BC-83F9-F0E510B335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84633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ECEBA-3058-4028-80C1-D9276C267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EC2F8-DE83-CE37-FDDC-40A016968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6D95A-C684-AFE9-31D4-D3DC6D04D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A4D6C3-B742-2758-798B-E85B976BD02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8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65548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8381C-6CCA-18C5-7D54-104F81D3F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414F99-14D9-0725-71B7-F10DBAEBA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71DDDA-D7FC-028E-CBBB-C07E1C207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63E497-378F-E5B2-9CCB-63AAFC2D087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563694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751CE-55BD-995D-BA14-1A615D3DA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40C985-B4B7-9716-394E-401BCBE00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27B66-DC2F-2562-01F8-D3D7F33C9C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47BBA-F2FD-D66F-4ACF-002375ADF0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29517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F9485F-AF48-14D7-0EFE-AB237514D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F4E7B3-A194-0BAE-5B79-5C00F25AA7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2E567F-F966-2FFE-C282-719F5CE327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EEA78D-4782-A872-59B5-AEA912EAA41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488201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6409E-06CA-6544-D9CE-95C802EE2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ECAB04-CA79-F775-85FE-EB1E7EF4A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53F66C-4521-03A7-8337-61442E3013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7FCAE-8EAC-0572-CA86-06EA9030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632746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b="1" dirty="0" err="1"/>
              <a:t>angry</a:t>
            </a:r>
            <a:endParaRPr lang="vi-VN" dirty="0"/>
          </a:p>
          <a:p>
            <a:r>
              <a:rPr lang="vi-VN" dirty="0"/>
              <a:t>Bị đoán sang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 là nhiều</a:t>
            </a:r>
          </a:p>
          <a:p>
            <a:r>
              <a:rPr lang="vi-VN" dirty="0"/>
              <a:t>Lý do: </a:t>
            </a:r>
            <a:r>
              <a:rPr lang="vi-VN" dirty="0" err="1"/>
              <a:t>angry</a:t>
            </a:r>
            <a:r>
              <a:rPr lang="vi-VN" dirty="0"/>
              <a:t> có đường nét mắt và miệng dễ bị lẫn với </a:t>
            </a:r>
            <a:r>
              <a:rPr lang="vi-VN" dirty="0" err="1"/>
              <a:t>sad</a:t>
            </a:r>
            <a:r>
              <a:rPr lang="vi-VN" dirty="0"/>
              <a:t> hoặc </a:t>
            </a:r>
            <a:r>
              <a:rPr lang="vi-VN" dirty="0" err="1"/>
              <a:t>surprise</a:t>
            </a:r>
            <a:r>
              <a:rPr lang="vi-VN" dirty="0"/>
              <a:t> khi chỉ dùng </a:t>
            </a:r>
            <a:r>
              <a:rPr lang="vi-VN" dirty="0" err="1"/>
              <a:t>gradient</a:t>
            </a:r>
            <a:r>
              <a:rPr lang="vi-VN" dirty="0"/>
              <a:t> HOG</a:t>
            </a:r>
          </a:p>
          <a:p>
            <a:r>
              <a:rPr lang="vi-VN" b="1" dirty="0" err="1"/>
              <a:t>disgust</a:t>
            </a:r>
            <a:endParaRPr lang="vi-VN" dirty="0"/>
          </a:p>
          <a:p>
            <a:r>
              <a:rPr lang="vi-VN" dirty="0"/>
              <a:t>Phần lớn bị nhầm thành </a:t>
            </a:r>
            <a:r>
              <a:rPr lang="vi-VN" dirty="0" err="1"/>
              <a:t>disgust</a:t>
            </a:r>
            <a:r>
              <a:rPr lang="vi-VN" dirty="0"/>
              <a:t> chính nó, nhưng nhiều bị nhầm sang </a:t>
            </a:r>
            <a:r>
              <a:rPr lang="vi-VN" dirty="0" err="1"/>
              <a:t>surprise</a:t>
            </a:r>
            <a:r>
              <a:rPr lang="vi-VN" dirty="0"/>
              <a:t> và </a:t>
            </a:r>
            <a:r>
              <a:rPr lang="vi-VN" dirty="0" err="1"/>
              <a:t>happy</a:t>
            </a:r>
            <a:endParaRPr lang="vi-VN" dirty="0"/>
          </a:p>
          <a:p>
            <a:r>
              <a:rPr lang="vi-VN" dirty="0" err="1"/>
              <a:t>disgust</a:t>
            </a:r>
            <a:r>
              <a:rPr lang="vi-VN" dirty="0"/>
              <a:t> trong FER2013 rất ít mẫu và hình dạng cũng không đặc trưng rõ</a:t>
            </a:r>
          </a:p>
          <a:p>
            <a:r>
              <a:rPr lang="vi-VN" b="1" dirty="0" err="1"/>
              <a:t>fear</a:t>
            </a:r>
            <a:endParaRPr lang="vi-VN" dirty="0"/>
          </a:p>
          <a:p>
            <a:r>
              <a:rPr lang="vi-VN" dirty="0"/>
              <a:t>Lẫn nhiều với </a:t>
            </a:r>
            <a:r>
              <a:rPr lang="vi-VN" dirty="0" err="1"/>
              <a:t>surprise</a:t>
            </a:r>
            <a:r>
              <a:rPr lang="vi-VN" dirty="0"/>
              <a:t> và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 err="1"/>
              <a:t>fear</a:t>
            </a:r>
            <a:r>
              <a:rPr lang="vi-VN" dirty="0"/>
              <a:t> và </a:t>
            </a:r>
            <a:r>
              <a:rPr lang="vi-VN" dirty="0" err="1"/>
              <a:t>surprise</a:t>
            </a:r>
            <a:r>
              <a:rPr lang="vi-VN" dirty="0"/>
              <a:t> có </a:t>
            </a:r>
            <a:r>
              <a:rPr lang="vi-VN" dirty="0" err="1"/>
              <a:t>pattern</a:t>
            </a:r>
            <a:r>
              <a:rPr lang="vi-VN" dirty="0"/>
              <a:t> </a:t>
            </a:r>
            <a:r>
              <a:rPr lang="vi-VN" dirty="0" err="1"/>
              <a:t>gradient</a:t>
            </a:r>
            <a:r>
              <a:rPr lang="vi-VN" dirty="0"/>
              <a:t> gần giống: mắt mở lớn, miệng mở nhẹ</a:t>
            </a:r>
          </a:p>
          <a:p>
            <a:r>
              <a:rPr lang="vi-VN" b="1" dirty="0" err="1"/>
              <a:t>happy</a:t>
            </a:r>
            <a:endParaRPr lang="vi-VN" dirty="0"/>
          </a:p>
          <a:p>
            <a:r>
              <a:rPr lang="vi-VN" dirty="0"/>
              <a:t>Chủ yếu bị dự đoán thành </a:t>
            </a:r>
            <a:r>
              <a:rPr lang="vi-VN" dirty="0" err="1"/>
              <a:t>happy</a:t>
            </a:r>
            <a:r>
              <a:rPr lang="vi-VN" dirty="0"/>
              <a:t> hoặc </a:t>
            </a:r>
            <a:r>
              <a:rPr lang="vi-VN" dirty="0" err="1"/>
              <a:t>surprise</a:t>
            </a:r>
            <a:r>
              <a:rPr lang="vi-VN" dirty="0"/>
              <a:t> hoặc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 err="1"/>
              <a:t>happy</a:t>
            </a:r>
            <a:r>
              <a:rPr lang="vi-VN" dirty="0"/>
              <a:t> có hình dạng rõ (miệng cười) nhưng </a:t>
            </a:r>
            <a:r>
              <a:rPr lang="vi-VN" dirty="0" err="1"/>
              <a:t>gradient</a:t>
            </a:r>
            <a:r>
              <a:rPr lang="vi-VN" dirty="0"/>
              <a:t> đôi khi bị nhầm sang </a:t>
            </a:r>
            <a:r>
              <a:rPr lang="vi-VN" dirty="0" err="1"/>
              <a:t>surprise</a:t>
            </a:r>
            <a:r>
              <a:rPr lang="vi-VN" dirty="0"/>
              <a:t> vì vùng miệng mở rộng</a:t>
            </a:r>
          </a:p>
          <a:p>
            <a:r>
              <a:rPr lang="vi-VN" b="1" dirty="0" err="1"/>
              <a:t>neutral</a:t>
            </a:r>
            <a:endParaRPr lang="vi-VN" dirty="0"/>
          </a:p>
          <a:p>
            <a:r>
              <a:rPr lang="vi-VN" dirty="0"/>
              <a:t>Nhiều ảnh bị nhầm sang </a:t>
            </a:r>
            <a:r>
              <a:rPr lang="vi-VN" dirty="0" err="1"/>
              <a:t>sad</a:t>
            </a:r>
            <a:r>
              <a:rPr lang="vi-VN" dirty="0"/>
              <a:t> và </a:t>
            </a:r>
            <a:r>
              <a:rPr lang="vi-VN" dirty="0" err="1"/>
              <a:t>surprise</a:t>
            </a:r>
            <a:endParaRPr lang="vi-VN" dirty="0"/>
          </a:p>
          <a:p>
            <a:r>
              <a:rPr lang="vi-VN" dirty="0" err="1"/>
              <a:t>neutral</a:t>
            </a:r>
            <a:r>
              <a:rPr lang="vi-VN" dirty="0"/>
              <a:t> rất khó phân biệt chỉ bằng </a:t>
            </a:r>
            <a:r>
              <a:rPr lang="vi-VN" dirty="0" err="1"/>
              <a:t>gradient</a:t>
            </a:r>
            <a:r>
              <a:rPr lang="vi-VN" dirty="0"/>
              <a:t> vì cấu trúc mặt ít đặc trưng</a:t>
            </a:r>
          </a:p>
          <a:p>
            <a:r>
              <a:rPr lang="vi-VN" b="1" dirty="0" err="1"/>
              <a:t>sad</a:t>
            </a:r>
            <a:endParaRPr lang="vi-VN" dirty="0"/>
          </a:p>
          <a:p>
            <a:r>
              <a:rPr lang="vi-VN" dirty="0"/>
              <a:t>Nhiều ảnh bị nhầm sang </a:t>
            </a:r>
            <a:r>
              <a:rPr lang="vi-VN" dirty="0" err="1"/>
              <a:t>surprise</a:t>
            </a:r>
            <a:r>
              <a:rPr lang="vi-VN" dirty="0"/>
              <a:t> và </a:t>
            </a:r>
            <a:r>
              <a:rPr lang="vi-VN" dirty="0" err="1"/>
              <a:t>happy</a:t>
            </a:r>
            <a:endParaRPr lang="vi-VN" dirty="0"/>
          </a:p>
          <a:p>
            <a:r>
              <a:rPr lang="vi-VN" dirty="0" err="1"/>
              <a:t>sad</a:t>
            </a:r>
            <a:r>
              <a:rPr lang="vi-VN" dirty="0"/>
              <a:t> và </a:t>
            </a:r>
            <a:r>
              <a:rPr lang="vi-VN" dirty="0" err="1"/>
              <a:t>neutral</a:t>
            </a:r>
            <a:r>
              <a:rPr lang="vi-VN" dirty="0"/>
              <a:t> có </a:t>
            </a:r>
            <a:r>
              <a:rPr lang="vi-VN" dirty="0" err="1"/>
              <a:t>gradient</a:t>
            </a:r>
            <a:r>
              <a:rPr lang="vi-VN" dirty="0"/>
              <a:t> rất yếu nên dễ bị gom sai </a:t>
            </a:r>
            <a:r>
              <a:rPr lang="vi-VN" dirty="0" err="1"/>
              <a:t>cluster</a:t>
            </a:r>
            <a:endParaRPr lang="vi-VN" dirty="0"/>
          </a:p>
          <a:p>
            <a:r>
              <a:rPr lang="vi-VN" b="1" dirty="0" err="1"/>
              <a:t>surprise</a:t>
            </a:r>
            <a:endParaRPr lang="vi-VN" dirty="0"/>
          </a:p>
          <a:p>
            <a:r>
              <a:rPr lang="vi-VN" dirty="0"/>
              <a:t>Đây là </a:t>
            </a:r>
            <a:r>
              <a:rPr lang="vi-VN" dirty="0" err="1"/>
              <a:t>class</a:t>
            </a:r>
            <a:r>
              <a:rPr lang="vi-VN" dirty="0"/>
              <a:t> dễ nhất và mô hình đoán đúng nhiều nhất</a:t>
            </a:r>
          </a:p>
          <a:p>
            <a:r>
              <a:rPr lang="vi-VN" dirty="0" err="1"/>
              <a:t>surprise</a:t>
            </a:r>
            <a:r>
              <a:rPr lang="vi-VN" dirty="0"/>
              <a:t> có đặc trưng </a:t>
            </a:r>
            <a:r>
              <a:rPr lang="vi-VN" dirty="0" err="1"/>
              <a:t>gradient</a:t>
            </a:r>
            <a:r>
              <a:rPr lang="vi-VN" dirty="0"/>
              <a:t> mạnh: mắt mở to, miệng mở lớn</a:t>
            </a:r>
          </a:p>
          <a:p>
            <a:endParaRPr lang="vi-VN" dirty="0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17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283818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dirty="0"/>
              <a:t>Mức tổng thể</a:t>
            </a:r>
          </a:p>
          <a:p>
            <a:r>
              <a:rPr lang="vi-VN" dirty="0"/>
              <a:t>Ma trận có đường chéo chính khá đậm, nghĩa là SVM phân loại đúng nhiều hơn hẳn so với K-</a:t>
            </a:r>
            <a:r>
              <a:rPr lang="vi-VN" dirty="0" err="1"/>
              <a:t>Means</a:t>
            </a:r>
            <a:r>
              <a:rPr lang="vi-VN" dirty="0"/>
              <a:t> trước đó.</a:t>
            </a:r>
          </a:p>
          <a:p>
            <a:r>
              <a:rPr lang="vi-VN" dirty="0"/>
              <a:t>Điều này cho thấy HOG + PCA + SVM đã học được biên phân tách giữa các cảm xúc tốt hơn rất nhiều so với phân cụm K-</a:t>
            </a:r>
            <a:r>
              <a:rPr lang="vi-VN" dirty="0" err="1"/>
              <a:t>Means</a:t>
            </a:r>
            <a:r>
              <a:rPr lang="vi-VN" dirty="0"/>
              <a:t> không giám sát.</a:t>
            </a:r>
          </a:p>
          <a:p>
            <a:r>
              <a:rPr lang="vi-VN" dirty="0"/>
              <a:t>Theo từng lớp cảm xúc</a:t>
            </a:r>
          </a:p>
          <a:p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 có số lượng dự đoán đúng khá lớn trên đường chéo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angry</a:t>
            </a:r>
            <a:r>
              <a:rPr lang="vi-VN" dirty="0"/>
              <a:t>: 99 mẫu đúng nhưng vẫn bị nhầm khá nhiều sang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disgust</a:t>
            </a:r>
            <a:r>
              <a:rPr lang="vi-VN" dirty="0"/>
              <a:t>: 84 mẫu đúng, ít nhầm hơn, chứng tỏ SVM phân biệt </a:t>
            </a:r>
            <a:r>
              <a:rPr lang="vi-VN" dirty="0" err="1"/>
              <a:t>disgust</a:t>
            </a:r>
            <a:r>
              <a:rPr lang="vi-VN" dirty="0"/>
              <a:t> tốt hơn K-</a:t>
            </a:r>
            <a:r>
              <a:rPr lang="vi-VN" dirty="0" err="1"/>
              <a:t>Means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happy</a:t>
            </a:r>
            <a:r>
              <a:rPr lang="vi-VN" dirty="0"/>
              <a:t>: 176 mẫu đúng, là một trong các lớp dễ nhận dạng nhất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neutral</a:t>
            </a:r>
            <a:r>
              <a:rPr lang="vi-VN" dirty="0"/>
              <a:t>: 114 mẫu đúng nhưng vẫn hay bị lẫn với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sad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surprise</a:t>
            </a:r>
            <a:r>
              <a:rPr lang="vi-VN" dirty="0"/>
              <a:t>: 173 mẫu đúng, vẫn là lớp dễ nhất, </a:t>
            </a:r>
            <a:r>
              <a:rPr lang="vi-VN" dirty="0" err="1"/>
              <a:t>gradient</a:t>
            </a:r>
            <a:r>
              <a:rPr lang="vi-VN" dirty="0"/>
              <a:t> của miệng và mắt rất đặc trưng</a:t>
            </a:r>
          </a:p>
          <a:p>
            <a:r>
              <a:rPr lang="vi-VN" dirty="0" err="1"/>
              <a:t>fear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vẫn là hai lớp khó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fear</a:t>
            </a:r>
            <a:r>
              <a:rPr lang="vi-VN" dirty="0"/>
              <a:t>: chỉ khoảng 71 mẫu đúng, rất nhiều bị nhầm sang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, </a:t>
            </a:r>
            <a:r>
              <a:rPr lang="vi-VN" dirty="0" err="1"/>
              <a:t>surprise</a:t>
            </a:r>
            <a:br>
              <a:rPr lang="vi-VN" dirty="0"/>
            </a:br>
            <a:r>
              <a:rPr lang="vi-VN" dirty="0"/>
              <a:t>• </a:t>
            </a:r>
            <a:r>
              <a:rPr lang="vi-VN" dirty="0" err="1"/>
              <a:t>sad</a:t>
            </a:r>
            <a:r>
              <a:rPr lang="vi-VN" dirty="0"/>
              <a:t>: số đúng không quá cao, thường bị nhầm thành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neutral</a:t>
            </a:r>
            <a:endParaRPr lang="vi-VN" dirty="0"/>
          </a:p>
          <a:p>
            <a:r>
              <a:rPr lang="vi-VN" dirty="0"/>
              <a:t>Kiểu nhầm lẫn chính</a:t>
            </a:r>
          </a:p>
          <a:p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surprise</a:t>
            </a:r>
            <a:r>
              <a:rPr lang="vi-VN" dirty="0"/>
              <a:t> ↔ </a:t>
            </a:r>
            <a:r>
              <a:rPr lang="vi-VN" dirty="0" err="1"/>
              <a:t>sad</a:t>
            </a:r>
            <a:r>
              <a:rPr lang="vi-VN" dirty="0"/>
              <a:t>: ba cảm xúc này có biểu cảm khuôn mặt khá giống nhau trong FER2013 nên HOG + SVM vẫn khó tách biệt hoàn toàn</a:t>
            </a:r>
          </a:p>
          <a:p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disgust</a:t>
            </a:r>
            <a:r>
              <a:rPr lang="vi-VN" dirty="0"/>
              <a:t> ↔ </a:t>
            </a:r>
            <a:r>
              <a:rPr lang="vi-VN" dirty="0" err="1"/>
              <a:t>sad</a:t>
            </a:r>
            <a:r>
              <a:rPr lang="vi-VN" dirty="0"/>
              <a:t>: đường nét chân mày và miệng khiến </a:t>
            </a:r>
            <a:r>
              <a:rPr lang="vi-VN" dirty="0" err="1"/>
              <a:t>gradient</a:t>
            </a:r>
            <a:r>
              <a:rPr lang="vi-VN" dirty="0"/>
              <a:t> tương tự nhau, dẫn đến bị lẫn cụm</a:t>
            </a:r>
          </a:p>
          <a:p>
            <a:r>
              <a:rPr lang="vi-VN" dirty="0" err="1"/>
              <a:t>neutral</a:t>
            </a:r>
            <a:r>
              <a:rPr lang="vi-VN" dirty="0"/>
              <a:t> bị lẫn với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do khuôn mặt ít đặc trưng, biên dạng </a:t>
            </a:r>
            <a:r>
              <a:rPr lang="vi-VN" dirty="0" err="1"/>
              <a:t>gradient</a:t>
            </a:r>
            <a:r>
              <a:rPr lang="vi-VN" dirty="0"/>
              <a:t> yếu</a:t>
            </a:r>
          </a:p>
          <a:p>
            <a:r>
              <a:rPr lang="vi-VN" dirty="0"/>
              <a:t>Kết luận và ý nghĩa</a:t>
            </a:r>
          </a:p>
          <a:p>
            <a:r>
              <a:rPr lang="vi-VN" dirty="0"/>
              <a:t>So với K-</a:t>
            </a:r>
            <a:r>
              <a:rPr lang="vi-VN" dirty="0" err="1"/>
              <a:t>Means</a:t>
            </a:r>
            <a:r>
              <a:rPr lang="vi-VN" dirty="0"/>
              <a:t>, SVM tận dụng tốt hơn đặc trưng HOG + PCA, cho đường chéo ma trận rõ ràng và </a:t>
            </a:r>
            <a:r>
              <a:rPr lang="vi-VN" dirty="0" err="1"/>
              <a:t>accuracy</a:t>
            </a:r>
            <a:r>
              <a:rPr lang="vi-VN" dirty="0"/>
              <a:t> cao hơn nhiều.</a:t>
            </a:r>
          </a:p>
          <a:p>
            <a:r>
              <a:rPr lang="vi-VN" dirty="0"/>
              <a:t>PCA 90% giữ lại đủ thông tin để SVM phân lớp tốt nhưng vẫn giảm nhiễu và số chiều, do đó là lựa chọn PCA hợp lý cho </a:t>
            </a:r>
            <a:r>
              <a:rPr lang="vi-VN" dirty="0" err="1"/>
              <a:t>pipeline</a:t>
            </a:r>
            <a:r>
              <a:rPr lang="vi-VN" dirty="0"/>
              <a:t> HOG + PCA + SVM trên FER2013.</a:t>
            </a:r>
          </a:p>
          <a:p>
            <a:endParaRPr lang="vi-VN" dirty="0"/>
          </a:p>
        </p:txBody>
      </p:sp>
      <p:sp>
        <p:nvSpPr>
          <p:cNvPr id="4" name="Chỗ dành sẵn cho Số hiệu Bản chiếu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888780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D3D55-49C5-77F8-82CA-D9C5E5A02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>
            <a:extLst>
              <a:ext uri="{FF2B5EF4-FFF2-40B4-BE49-F238E27FC236}">
                <a16:creationId xmlns:a16="http://schemas.microsoft.com/office/drawing/2014/main" id="{E08F79BE-92C8-55B0-8277-9EE62ACB1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>
            <a:extLst>
              <a:ext uri="{FF2B5EF4-FFF2-40B4-BE49-F238E27FC236}">
                <a16:creationId xmlns:a16="http://schemas.microsoft.com/office/drawing/2014/main" id="{5385D4FF-81AB-9117-C6E5-84A69AA4A0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b="1" dirty="0"/>
              <a:t>Đánh giá mô hình CNN dựa trên </a:t>
            </a:r>
            <a:r>
              <a:rPr lang="vi-VN" b="1" dirty="0" err="1"/>
              <a:t>confusion</a:t>
            </a:r>
            <a:r>
              <a:rPr lang="vi-VN" b="1" dirty="0"/>
              <a:t> </a:t>
            </a:r>
            <a:r>
              <a:rPr lang="vi-VN" b="1" dirty="0" err="1"/>
              <a:t>matrix</a:t>
            </a:r>
            <a:endParaRPr lang="vi-VN" b="1" dirty="0"/>
          </a:p>
          <a:p>
            <a:r>
              <a:rPr lang="vi-VN" b="1" dirty="0"/>
              <a:t>Hiệu năng tổng thể</a:t>
            </a:r>
            <a:endParaRPr lang="vi-VN" dirty="0"/>
          </a:p>
          <a:p>
            <a:pPr lvl="1"/>
            <a:r>
              <a:rPr lang="vi-VN" dirty="0" err="1"/>
              <a:t>Confusion</a:t>
            </a:r>
            <a:r>
              <a:rPr lang="vi-VN" dirty="0"/>
              <a:t> </a:t>
            </a:r>
            <a:r>
              <a:rPr lang="vi-VN" dirty="0" err="1"/>
              <a:t>matrix</a:t>
            </a:r>
            <a:r>
              <a:rPr lang="vi-VN" dirty="0"/>
              <a:t> cho thấy CNN đã học được đặc trưng từ ảnh tốt hơn </a:t>
            </a:r>
            <a:r>
              <a:rPr lang="vi-VN" dirty="0" err="1"/>
              <a:t>KMeans</a:t>
            </a:r>
            <a:r>
              <a:rPr lang="vi-VN" dirty="0"/>
              <a:t> hoặc SVM + HOG, thể hiện qua đường chéo chính đậm và đều hơn.</a:t>
            </a:r>
          </a:p>
          <a:p>
            <a:pPr lvl="1"/>
            <a:r>
              <a:rPr lang="vi-VN" dirty="0"/>
              <a:t>Tuy vậy, mô hình vẫn gặp khó khăn ở một số cảm xúc có biểu hiện khuôn mặt tương tự nhau, phản ánh đặc trưng phức tạp của FER2013.</a:t>
            </a:r>
          </a:p>
          <a:p>
            <a:r>
              <a:rPr lang="vi-VN" b="1" dirty="0"/>
              <a:t>Những cảm xúc mô hình nhận diện tốt</a:t>
            </a:r>
            <a:endParaRPr lang="vi-VN" dirty="0"/>
          </a:p>
          <a:p>
            <a:pPr lvl="1"/>
            <a:r>
              <a:rPr lang="vi-VN" b="1" dirty="0" err="1"/>
              <a:t>Surprise</a:t>
            </a:r>
            <a:r>
              <a:rPr lang="vi-VN" b="1" dirty="0"/>
              <a:t>: 171 mẫu đúng</a:t>
            </a:r>
            <a:br>
              <a:rPr lang="vi-VN" dirty="0"/>
            </a:br>
            <a:r>
              <a:rPr lang="vi-VN" dirty="0"/>
              <a:t>Đây là lớp dễ nhất với CNN vì biểu hiện mắt mở to, miệng mở tạo ra </a:t>
            </a:r>
            <a:r>
              <a:rPr lang="vi-VN" dirty="0" err="1"/>
              <a:t>gradient</a:t>
            </a:r>
            <a:r>
              <a:rPr lang="vi-VN" dirty="0"/>
              <a:t> rất rõ.</a:t>
            </a:r>
          </a:p>
          <a:p>
            <a:pPr lvl="1"/>
            <a:r>
              <a:rPr lang="vi-VN" b="1" dirty="0" err="1"/>
              <a:t>Neutral</a:t>
            </a:r>
            <a:r>
              <a:rPr lang="vi-VN" b="1" dirty="0"/>
              <a:t>: 138 mẫu đúng</a:t>
            </a:r>
            <a:br>
              <a:rPr lang="vi-VN" dirty="0"/>
            </a:br>
            <a:r>
              <a:rPr lang="vi-VN" dirty="0"/>
              <a:t>Đây là lớp có biểu cảm ổn định và ít biến thiên, CNN học tốt khuôn mặt ở trạng thái nghỉ.</a:t>
            </a:r>
          </a:p>
          <a:p>
            <a:pPr lvl="1"/>
            <a:r>
              <a:rPr lang="vi-VN" b="1" dirty="0" err="1"/>
              <a:t>Happy</a:t>
            </a:r>
            <a:r>
              <a:rPr lang="vi-VN" b="1" dirty="0"/>
              <a:t>: 121 mẫu đúng</a:t>
            </a:r>
            <a:br>
              <a:rPr lang="vi-VN" dirty="0"/>
            </a:br>
            <a:r>
              <a:rPr lang="vi-VN" dirty="0"/>
              <a:t>NBC (</a:t>
            </a:r>
            <a:r>
              <a:rPr lang="vi-VN" dirty="0" err="1"/>
              <a:t>mouth</a:t>
            </a:r>
            <a:r>
              <a:rPr lang="vi-VN" dirty="0"/>
              <a:t> </a:t>
            </a:r>
            <a:r>
              <a:rPr lang="vi-VN" dirty="0" err="1"/>
              <a:t>curvature</a:t>
            </a:r>
            <a:r>
              <a:rPr lang="vi-VN" dirty="0"/>
              <a:t>) trong </a:t>
            </a:r>
            <a:r>
              <a:rPr lang="vi-VN" dirty="0" err="1"/>
              <a:t>happy</a:t>
            </a:r>
            <a:r>
              <a:rPr lang="vi-VN" dirty="0"/>
              <a:t> giúp CNN phân biệt tốt.</a:t>
            </a:r>
          </a:p>
          <a:p>
            <a:r>
              <a:rPr lang="vi-VN" b="1" dirty="0"/>
              <a:t>Những cảm xúc mô hình nhận diện trung bình</a:t>
            </a:r>
            <a:endParaRPr lang="vi-VN" dirty="0"/>
          </a:p>
          <a:p>
            <a:pPr lvl="1"/>
            <a:r>
              <a:rPr lang="vi-VN" b="1" dirty="0" err="1"/>
              <a:t>Sad</a:t>
            </a:r>
            <a:r>
              <a:rPr lang="vi-VN" b="1" dirty="0"/>
              <a:t>: 86 mẫu đúng</a:t>
            </a:r>
            <a:br>
              <a:rPr lang="vi-VN" dirty="0"/>
            </a:br>
            <a:r>
              <a:rPr lang="vi-VN" dirty="0"/>
              <a:t>Tuy nhận diện khá tốt, </a:t>
            </a:r>
            <a:r>
              <a:rPr lang="vi-VN" dirty="0" err="1"/>
              <a:t>sad</a:t>
            </a:r>
            <a:r>
              <a:rPr lang="vi-VN" dirty="0"/>
              <a:t> vẫn bị nhầm với </a:t>
            </a:r>
            <a:r>
              <a:rPr lang="vi-VN" dirty="0" err="1"/>
              <a:t>neutral</a:t>
            </a:r>
            <a:r>
              <a:rPr lang="vi-VN" dirty="0"/>
              <a:t> và </a:t>
            </a:r>
            <a:r>
              <a:rPr lang="vi-VN" dirty="0" err="1"/>
              <a:t>angry</a:t>
            </a:r>
            <a:r>
              <a:rPr lang="vi-VN" dirty="0"/>
              <a:t>, vốn có đường miệng và chân mày gần nhau.</a:t>
            </a:r>
          </a:p>
          <a:p>
            <a:pPr lvl="1"/>
            <a:r>
              <a:rPr lang="vi-VN" b="1" dirty="0" err="1"/>
              <a:t>Angry</a:t>
            </a:r>
            <a:r>
              <a:rPr lang="vi-VN" b="1" dirty="0"/>
              <a:t>: 54 mẫu đúng</a:t>
            </a:r>
            <a:br>
              <a:rPr lang="vi-VN" dirty="0"/>
            </a:br>
            <a:r>
              <a:rPr lang="vi-VN" dirty="0" err="1"/>
              <a:t>Angry</a:t>
            </a:r>
            <a:r>
              <a:rPr lang="vi-VN" dirty="0"/>
              <a:t> thường bị nhầm với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do cấu trúc mắt và lông mày tương tự.</a:t>
            </a:r>
          </a:p>
          <a:p>
            <a:r>
              <a:rPr lang="vi-VN" b="1" dirty="0"/>
              <a:t>Những cảm xúc mô hình nhận diện kém</a:t>
            </a:r>
            <a:endParaRPr lang="vi-VN" dirty="0"/>
          </a:p>
          <a:p>
            <a:pPr lvl="1"/>
            <a:r>
              <a:rPr lang="vi-VN" b="1" dirty="0" err="1"/>
              <a:t>Disgust</a:t>
            </a:r>
            <a:r>
              <a:rPr lang="vi-VN" b="1" dirty="0"/>
              <a:t>: 81 mẫu đúng</a:t>
            </a:r>
            <a:br>
              <a:rPr lang="vi-VN" dirty="0"/>
            </a:br>
            <a:r>
              <a:rPr lang="vi-VN" dirty="0"/>
              <a:t>Lớp này ít ảnh trong </a:t>
            </a:r>
            <a:r>
              <a:rPr lang="vi-VN" dirty="0" err="1"/>
              <a:t>dataset</a:t>
            </a:r>
            <a:r>
              <a:rPr lang="vi-VN" dirty="0"/>
              <a:t> và đặc trưng không mạnh nên dễ bị lẫn với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neutral</a:t>
            </a:r>
            <a:r>
              <a:rPr lang="vi-VN" dirty="0"/>
              <a:t>.</a:t>
            </a:r>
          </a:p>
          <a:p>
            <a:pPr lvl="1"/>
            <a:r>
              <a:rPr lang="vi-VN" b="1" dirty="0" err="1"/>
              <a:t>Fear</a:t>
            </a:r>
            <a:r>
              <a:rPr lang="vi-VN" b="1" dirty="0"/>
              <a:t>: chỉ 36 mẫu đúng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vẫn là lớp khó nhất trong FER2013.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dễ bị nhầm với </a:t>
            </a:r>
            <a:r>
              <a:rPr lang="vi-VN" dirty="0" err="1"/>
              <a:t>surprise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do biểu cảm mắt lớn, miệng mở tương tự </a:t>
            </a:r>
            <a:r>
              <a:rPr lang="vi-VN" dirty="0" err="1"/>
              <a:t>surprise</a:t>
            </a:r>
            <a:r>
              <a:rPr lang="vi-VN" dirty="0"/>
              <a:t> nhưng không rõ bằng.</a:t>
            </a:r>
          </a:p>
          <a:p>
            <a:r>
              <a:rPr lang="vi-VN" b="1" dirty="0"/>
              <a:t>Kiểu nhầm lẫn chính</a:t>
            </a:r>
            <a:br>
              <a:rPr lang="vi-VN" dirty="0"/>
            </a:br>
            <a:r>
              <a:rPr lang="vi-VN" dirty="0"/>
              <a:t>Những cặp biểu cảm có mức nhầm lẫn cao gồm</a:t>
            </a:r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surprise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disgust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sad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/>
              <a:t>Đây đều là các cặp có biên dạng </a:t>
            </a:r>
            <a:r>
              <a:rPr lang="vi-VN" dirty="0" err="1"/>
              <a:t>gradient</a:t>
            </a:r>
            <a:r>
              <a:rPr lang="vi-VN" dirty="0"/>
              <a:t> khuôn mặt gần nhau hoặc mang tính mơ hồ trong ảnh xám 48x48.</a:t>
            </a:r>
          </a:p>
          <a:p>
            <a:r>
              <a:rPr lang="vi-VN" b="1" dirty="0"/>
              <a:t>Kết luận tổng quan</a:t>
            </a:r>
            <a:endParaRPr lang="vi-VN" dirty="0"/>
          </a:p>
          <a:p>
            <a:pPr lvl="1"/>
            <a:r>
              <a:rPr lang="vi-VN" dirty="0"/>
              <a:t>CNN cho kết quả tốt hơn SVM + HOG ở hầu hết các cảm xúc, đặc biệt là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.</a:t>
            </a:r>
          </a:p>
          <a:p>
            <a:pPr lvl="1"/>
            <a:r>
              <a:rPr lang="vi-VN" dirty="0"/>
              <a:t>Tuy vẫn còn nhiều nhầm lẫn ở các lớp khó như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nhưng kết quả hiện tại phù hợp với đặc thù bộ dữ liệu FER2013 (ảnh </a:t>
            </a:r>
            <a:r>
              <a:rPr lang="vi-VN" dirty="0" err="1"/>
              <a:t>grayscale</a:t>
            </a:r>
            <a:r>
              <a:rPr lang="vi-VN" dirty="0"/>
              <a:t> nhỏ, nhiễu cao, biểu cảm mơ hồ).</a:t>
            </a:r>
          </a:p>
          <a:p>
            <a:pPr lvl="1"/>
            <a:r>
              <a:rPr lang="vi-VN" dirty="0"/>
              <a:t>Khối CNN hiện tại đã hoạt động tốt ở mức </a:t>
            </a:r>
            <a:r>
              <a:rPr lang="vi-VN" dirty="0" err="1"/>
              <a:t>baseline</a:t>
            </a:r>
            <a:r>
              <a:rPr lang="vi-VN" dirty="0"/>
              <a:t>. Nếu cần cải thiện thêm, có thể nâng cấp theo hướng</a:t>
            </a:r>
          </a:p>
          <a:p>
            <a:pPr lvl="2"/>
            <a:r>
              <a:rPr lang="vi-VN" dirty="0"/>
              <a:t>thêm </a:t>
            </a:r>
            <a:r>
              <a:rPr lang="vi-VN" dirty="0" err="1"/>
              <a:t>data</a:t>
            </a:r>
            <a:r>
              <a:rPr lang="vi-VN" dirty="0"/>
              <a:t> </a:t>
            </a:r>
            <a:r>
              <a:rPr lang="vi-VN" dirty="0" err="1"/>
              <a:t>augmentation</a:t>
            </a:r>
            <a:endParaRPr lang="vi-VN" dirty="0"/>
          </a:p>
          <a:p>
            <a:pPr lvl="2"/>
            <a:r>
              <a:rPr lang="vi-VN" dirty="0"/>
              <a:t>dùng </a:t>
            </a:r>
            <a:r>
              <a:rPr lang="vi-VN" dirty="0" err="1"/>
              <a:t>deeper</a:t>
            </a:r>
            <a:r>
              <a:rPr lang="vi-VN" dirty="0"/>
              <a:t> CNN</a:t>
            </a:r>
          </a:p>
          <a:p>
            <a:pPr lvl="2"/>
            <a:r>
              <a:rPr lang="vi-VN" dirty="0"/>
              <a:t>dùng </a:t>
            </a:r>
            <a:r>
              <a:rPr lang="vi-VN" dirty="0" err="1"/>
              <a:t>optimizer</a:t>
            </a:r>
            <a:r>
              <a:rPr lang="vi-VN" dirty="0"/>
              <a:t> tốt hơn như </a:t>
            </a:r>
            <a:r>
              <a:rPr lang="vi-VN" dirty="0" err="1"/>
              <a:t>AdamW</a:t>
            </a:r>
            <a:endParaRPr lang="vi-VN" dirty="0"/>
          </a:p>
          <a:p>
            <a:pPr lvl="2"/>
            <a:r>
              <a:rPr lang="vi-VN" dirty="0"/>
              <a:t>tăng số ảnh </a:t>
            </a:r>
            <a:r>
              <a:rPr lang="vi-VN" dirty="0" err="1"/>
              <a:t>train</a:t>
            </a:r>
            <a:r>
              <a:rPr lang="vi-VN" dirty="0"/>
              <a:t> </a:t>
            </a:r>
            <a:r>
              <a:rPr lang="vi-VN" dirty="0" err="1"/>
              <a:t>per</a:t>
            </a:r>
            <a:r>
              <a:rPr lang="vi-VN" dirty="0"/>
              <a:t> </a:t>
            </a:r>
            <a:r>
              <a:rPr lang="vi-VN" dirty="0" err="1"/>
              <a:t>emotion</a:t>
            </a: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C3E8D28-54D1-542E-842E-F1497FA28F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7477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8201-9F22-2D3B-1185-6820D19A27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ỗ dành sẵn cho Hình ảnh của Bản chiếu 1">
            <a:extLst>
              <a:ext uri="{FF2B5EF4-FFF2-40B4-BE49-F238E27FC236}">
                <a16:creationId xmlns:a16="http://schemas.microsoft.com/office/drawing/2014/main" id="{E271CDE7-B6DF-8034-B0F7-0C760E62A2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Chỗ dành sẵn cho Ghi chú 2">
            <a:extLst>
              <a:ext uri="{FF2B5EF4-FFF2-40B4-BE49-F238E27FC236}">
                <a16:creationId xmlns:a16="http://schemas.microsoft.com/office/drawing/2014/main" id="{B1F92348-3FB6-F41D-6E6D-A6609F1B5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vi-VN" b="1" dirty="0"/>
              <a:t>Đánh giá mô hình CNN dựa trên </a:t>
            </a:r>
            <a:r>
              <a:rPr lang="vi-VN" b="1" dirty="0" err="1"/>
              <a:t>confusion</a:t>
            </a:r>
            <a:r>
              <a:rPr lang="vi-VN" b="1" dirty="0"/>
              <a:t> </a:t>
            </a:r>
            <a:r>
              <a:rPr lang="vi-VN" b="1" dirty="0" err="1"/>
              <a:t>matrix</a:t>
            </a:r>
            <a:endParaRPr lang="vi-VN" b="1" dirty="0"/>
          </a:p>
          <a:p>
            <a:r>
              <a:rPr lang="vi-VN" b="1" dirty="0"/>
              <a:t>Hiệu năng tổng thể</a:t>
            </a:r>
            <a:endParaRPr lang="vi-VN" dirty="0"/>
          </a:p>
          <a:p>
            <a:pPr lvl="1"/>
            <a:r>
              <a:rPr lang="vi-VN" dirty="0" err="1"/>
              <a:t>Confusion</a:t>
            </a:r>
            <a:r>
              <a:rPr lang="vi-VN" dirty="0"/>
              <a:t> </a:t>
            </a:r>
            <a:r>
              <a:rPr lang="vi-VN" dirty="0" err="1"/>
              <a:t>matrix</a:t>
            </a:r>
            <a:r>
              <a:rPr lang="vi-VN" dirty="0"/>
              <a:t> cho thấy CNN đã học được đặc trưng từ ảnh tốt hơn </a:t>
            </a:r>
            <a:r>
              <a:rPr lang="vi-VN" dirty="0" err="1"/>
              <a:t>KMeans</a:t>
            </a:r>
            <a:r>
              <a:rPr lang="vi-VN" dirty="0"/>
              <a:t> hoặc SVM + HOG, thể hiện qua đường chéo chính đậm và đều hơn.</a:t>
            </a:r>
          </a:p>
          <a:p>
            <a:pPr lvl="1"/>
            <a:r>
              <a:rPr lang="vi-VN" dirty="0"/>
              <a:t>Tuy vậy, mô hình vẫn gặp khó khăn ở một số cảm xúc có biểu hiện khuôn mặt tương tự nhau, phản ánh đặc trưng phức tạp của FER2013.</a:t>
            </a:r>
          </a:p>
          <a:p>
            <a:r>
              <a:rPr lang="vi-VN" b="1" dirty="0"/>
              <a:t>Những cảm xúc mô hình nhận diện tốt</a:t>
            </a:r>
            <a:endParaRPr lang="vi-VN" dirty="0"/>
          </a:p>
          <a:p>
            <a:pPr lvl="1"/>
            <a:r>
              <a:rPr lang="vi-VN" b="1" dirty="0" err="1"/>
              <a:t>Surprise</a:t>
            </a:r>
            <a:r>
              <a:rPr lang="vi-VN" b="1" dirty="0"/>
              <a:t>: 171 mẫu đúng</a:t>
            </a:r>
            <a:br>
              <a:rPr lang="vi-VN" dirty="0"/>
            </a:br>
            <a:r>
              <a:rPr lang="vi-VN" dirty="0"/>
              <a:t>Đây là lớp dễ nhất với CNN vì biểu hiện mắt mở to, miệng mở tạo ra </a:t>
            </a:r>
            <a:r>
              <a:rPr lang="vi-VN" dirty="0" err="1"/>
              <a:t>gradient</a:t>
            </a:r>
            <a:r>
              <a:rPr lang="vi-VN" dirty="0"/>
              <a:t> rất rõ.</a:t>
            </a:r>
          </a:p>
          <a:p>
            <a:pPr lvl="1"/>
            <a:r>
              <a:rPr lang="vi-VN" b="1" dirty="0" err="1"/>
              <a:t>Neutral</a:t>
            </a:r>
            <a:r>
              <a:rPr lang="vi-VN" b="1" dirty="0"/>
              <a:t>: 138 mẫu đúng</a:t>
            </a:r>
            <a:br>
              <a:rPr lang="vi-VN" dirty="0"/>
            </a:br>
            <a:r>
              <a:rPr lang="vi-VN" dirty="0"/>
              <a:t>Đây là lớp có biểu cảm ổn định và ít biến thiên, CNN học tốt khuôn mặt ở trạng thái nghỉ.</a:t>
            </a:r>
          </a:p>
          <a:p>
            <a:pPr lvl="1"/>
            <a:r>
              <a:rPr lang="vi-VN" b="1" dirty="0" err="1"/>
              <a:t>Happy</a:t>
            </a:r>
            <a:r>
              <a:rPr lang="vi-VN" b="1" dirty="0"/>
              <a:t>: 121 mẫu đúng</a:t>
            </a:r>
            <a:br>
              <a:rPr lang="vi-VN" dirty="0"/>
            </a:br>
            <a:r>
              <a:rPr lang="vi-VN" dirty="0"/>
              <a:t>NBC (</a:t>
            </a:r>
            <a:r>
              <a:rPr lang="vi-VN" dirty="0" err="1"/>
              <a:t>mouth</a:t>
            </a:r>
            <a:r>
              <a:rPr lang="vi-VN" dirty="0"/>
              <a:t> </a:t>
            </a:r>
            <a:r>
              <a:rPr lang="vi-VN" dirty="0" err="1"/>
              <a:t>curvature</a:t>
            </a:r>
            <a:r>
              <a:rPr lang="vi-VN" dirty="0"/>
              <a:t>) trong </a:t>
            </a:r>
            <a:r>
              <a:rPr lang="vi-VN" dirty="0" err="1"/>
              <a:t>happy</a:t>
            </a:r>
            <a:r>
              <a:rPr lang="vi-VN" dirty="0"/>
              <a:t> giúp CNN phân biệt tốt.</a:t>
            </a:r>
          </a:p>
          <a:p>
            <a:r>
              <a:rPr lang="vi-VN" b="1" dirty="0"/>
              <a:t>Những cảm xúc mô hình nhận diện trung bình</a:t>
            </a:r>
            <a:endParaRPr lang="vi-VN" dirty="0"/>
          </a:p>
          <a:p>
            <a:pPr lvl="1"/>
            <a:r>
              <a:rPr lang="vi-VN" b="1" dirty="0" err="1"/>
              <a:t>Sad</a:t>
            </a:r>
            <a:r>
              <a:rPr lang="vi-VN" b="1" dirty="0"/>
              <a:t>: 86 mẫu đúng</a:t>
            </a:r>
            <a:br>
              <a:rPr lang="vi-VN" dirty="0"/>
            </a:br>
            <a:r>
              <a:rPr lang="vi-VN" dirty="0"/>
              <a:t>Tuy nhận diện khá tốt, </a:t>
            </a:r>
            <a:r>
              <a:rPr lang="vi-VN" dirty="0" err="1"/>
              <a:t>sad</a:t>
            </a:r>
            <a:r>
              <a:rPr lang="vi-VN" dirty="0"/>
              <a:t> vẫn bị nhầm với </a:t>
            </a:r>
            <a:r>
              <a:rPr lang="vi-VN" dirty="0" err="1"/>
              <a:t>neutral</a:t>
            </a:r>
            <a:r>
              <a:rPr lang="vi-VN" dirty="0"/>
              <a:t> và </a:t>
            </a:r>
            <a:r>
              <a:rPr lang="vi-VN" dirty="0" err="1"/>
              <a:t>angry</a:t>
            </a:r>
            <a:r>
              <a:rPr lang="vi-VN" dirty="0"/>
              <a:t>, vốn có đường miệng và chân mày gần nhau.</a:t>
            </a:r>
          </a:p>
          <a:p>
            <a:pPr lvl="1"/>
            <a:r>
              <a:rPr lang="vi-VN" b="1" dirty="0" err="1"/>
              <a:t>Angry</a:t>
            </a:r>
            <a:r>
              <a:rPr lang="vi-VN" b="1" dirty="0"/>
              <a:t>: 54 mẫu đúng</a:t>
            </a:r>
            <a:br>
              <a:rPr lang="vi-VN" dirty="0"/>
            </a:br>
            <a:r>
              <a:rPr lang="vi-VN" dirty="0" err="1"/>
              <a:t>Angry</a:t>
            </a:r>
            <a:r>
              <a:rPr lang="vi-VN" dirty="0"/>
              <a:t> thường bị nhầm với </a:t>
            </a:r>
            <a:r>
              <a:rPr lang="vi-VN" dirty="0" err="1"/>
              <a:t>disgust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do cấu trúc mắt và lông mày tương tự.</a:t>
            </a:r>
          </a:p>
          <a:p>
            <a:r>
              <a:rPr lang="vi-VN" b="1" dirty="0"/>
              <a:t>Những cảm xúc mô hình nhận diện kém</a:t>
            </a:r>
            <a:endParaRPr lang="vi-VN" dirty="0"/>
          </a:p>
          <a:p>
            <a:pPr lvl="1"/>
            <a:r>
              <a:rPr lang="vi-VN" b="1" dirty="0" err="1"/>
              <a:t>Disgust</a:t>
            </a:r>
            <a:r>
              <a:rPr lang="vi-VN" b="1" dirty="0"/>
              <a:t>: 81 mẫu đúng</a:t>
            </a:r>
            <a:br>
              <a:rPr lang="vi-VN" dirty="0"/>
            </a:br>
            <a:r>
              <a:rPr lang="vi-VN" dirty="0"/>
              <a:t>Lớp này ít ảnh trong </a:t>
            </a:r>
            <a:r>
              <a:rPr lang="vi-VN" dirty="0" err="1"/>
              <a:t>dataset</a:t>
            </a:r>
            <a:r>
              <a:rPr lang="vi-VN" dirty="0"/>
              <a:t> và đặc trưng không mạnh nên dễ bị lẫn với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neutral</a:t>
            </a:r>
            <a:r>
              <a:rPr lang="vi-VN" dirty="0"/>
              <a:t>.</a:t>
            </a:r>
          </a:p>
          <a:p>
            <a:pPr lvl="1"/>
            <a:r>
              <a:rPr lang="vi-VN" b="1" dirty="0" err="1"/>
              <a:t>Fear</a:t>
            </a:r>
            <a:r>
              <a:rPr lang="vi-VN" b="1" dirty="0"/>
              <a:t>: chỉ 36 mẫu đúng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vẫn là lớp khó nhất trong FER2013.</a:t>
            </a:r>
            <a:br>
              <a:rPr lang="vi-VN" dirty="0"/>
            </a:br>
            <a:r>
              <a:rPr lang="vi-VN" dirty="0" err="1"/>
              <a:t>Fear</a:t>
            </a:r>
            <a:r>
              <a:rPr lang="vi-VN" dirty="0"/>
              <a:t> dễ bị nhầm với </a:t>
            </a:r>
            <a:r>
              <a:rPr lang="vi-VN" dirty="0" err="1"/>
              <a:t>surprise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 và </a:t>
            </a:r>
            <a:r>
              <a:rPr lang="vi-VN" dirty="0" err="1"/>
              <a:t>sad</a:t>
            </a:r>
            <a:r>
              <a:rPr lang="vi-VN" dirty="0"/>
              <a:t> do biểu cảm mắt lớn, miệng mở tương tự </a:t>
            </a:r>
            <a:r>
              <a:rPr lang="vi-VN" dirty="0" err="1"/>
              <a:t>surprise</a:t>
            </a:r>
            <a:r>
              <a:rPr lang="vi-VN" dirty="0"/>
              <a:t> nhưng không rõ bằng.</a:t>
            </a:r>
          </a:p>
          <a:p>
            <a:r>
              <a:rPr lang="vi-VN" b="1" dirty="0"/>
              <a:t>Kiểu nhầm lẫn chính</a:t>
            </a:r>
            <a:br>
              <a:rPr lang="vi-VN" dirty="0"/>
            </a:br>
            <a:r>
              <a:rPr lang="vi-VN" dirty="0"/>
              <a:t>Những cặp biểu cảm có mức nhầm lẫn cao gồm</a:t>
            </a:r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surprise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disgust</a:t>
            </a:r>
            <a:endParaRPr lang="vi-VN" dirty="0"/>
          </a:p>
          <a:p>
            <a:pPr lvl="1"/>
            <a:r>
              <a:rPr lang="vi-VN" dirty="0" err="1"/>
              <a:t>angry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sad</a:t>
            </a:r>
            <a:r>
              <a:rPr lang="vi-VN" dirty="0"/>
              <a:t> ↔ </a:t>
            </a:r>
            <a:r>
              <a:rPr lang="vi-VN" dirty="0" err="1"/>
              <a:t>neutral</a:t>
            </a:r>
            <a:endParaRPr lang="vi-VN" dirty="0"/>
          </a:p>
          <a:p>
            <a:pPr lvl="1"/>
            <a:r>
              <a:rPr lang="vi-VN" dirty="0" err="1"/>
              <a:t>fear</a:t>
            </a:r>
            <a:r>
              <a:rPr lang="vi-VN" dirty="0"/>
              <a:t> ↔ </a:t>
            </a:r>
            <a:r>
              <a:rPr lang="vi-VN" dirty="0" err="1"/>
              <a:t>sad</a:t>
            </a:r>
            <a:endParaRPr lang="vi-VN" dirty="0"/>
          </a:p>
          <a:p>
            <a:r>
              <a:rPr lang="vi-VN" dirty="0"/>
              <a:t>Đây đều là các cặp có biên dạng </a:t>
            </a:r>
            <a:r>
              <a:rPr lang="vi-VN" dirty="0" err="1"/>
              <a:t>gradient</a:t>
            </a:r>
            <a:r>
              <a:rPr lang="vi-VN" dirty="0"/>
              <a:t> khuôn mặt gần nhau hoặc mang tính mơ hồ trong ảnh xám 48x48.</a:t>
            </a:r>
          </a:p>
          <a:p>
            <a:r>
              <a:rPr lang="vi-VN" b="1" dirty="0"/>
              <a:t>Kết luận tổng quan</a:t>
            </a:r>
            <a:endParaRPr lang="vi-VN" dirty="0"/>
          </a:p>
          <a:p>
            <a:pPr lvl="1"/>
            <a:r>
              <a:rPr lang="vi-VN" dirty="0"/>
              <a:t>CNN cho kết quả tốt hơn SVM + HOG ở hầu hết các cảm xúc, đặc biệt là </a:t>
            </a:r>
            <a:r>
              <a:rPr lang="vi-VN" dirty="0" err="1"/>
              <a:t>happy</a:t>
            </a:r>
            <a:r>
              <a:rPr lang="vi-VN" dirty="0"/>
              <a:t>, </a:t>
            </a:r>
            <a:r>
              <a:rPr lang="vi-VN" dirty="0" err="1"/>
              <a:t>neutral</a:t>
            </a:r>
            <a:r>
              <a:rPr lang="vi-VN" dirty="0"/>
              <a:t>, </a:t>
            </a:r>
            <a:r>
              <a:rPr lang="vi-VN" dirty="0" err="1"/>
              <a:t>surprise</a:t>
            </a:r>
            <a:r>
              <a:rPr lang="vi-VN" dirty="0"/>
              <a:t>.</a:t>
            </a:r>
          </a:p>
          <a:p>
            <a:pPr lvl="1"/>
            <a:r>
              <a:rPr lang="vi-VN" dirty="0"/>
              <a:t>Tuy vẫn còn nhiều nhầm lẫn ở các lớp khó như </a:t>
            </a:r>
            <a:r>
              <a:rPr lang="vi-VN" dirty="0" err="1"/>
              <a:t>fear</a:t>
            </a:r>
            <a:r>
              <a:rPr lang="vi-VN" dirty="0"/>
              <a:t>, </a:t>
            </a:r>
            <a:r>
              <a:rPr lang="vi-VN" dirty="0" err="1"/>
              <a:t>angry</a:t>
            </a:r>
            <a:r>
              <a:rPr lang="vi-VN" dirty="0"/>
              <a:t>, </a:t>
            </a:r>
            <a:r>
              <a:rPr lang="vi-VN" dirty="0" err="1"/>
              <a:t>sad</a:t>
            </a:r>
            <a:r>
              <a:rPr lang="vi-VN" dirty="0"/>
              <a:t> nhưng kết quả hiện tại phù hợp với đặc thù bộ dữ liệu FER2013 (ảnh </a:t>
            </a:r>
            <a:r>
              <a:rPr lang="vi-VN" dirty="0" err="1"/>
              <a:t>grayscale</a:t>
            </a:r>
            <a:r>
              <a:rPr lang="vi-VN" dirty="0"/>
              <a:t> nhỏ, nhiễu cao, biểu cảm mơ hồ).</a:t>
            </a:r>
          </a:p>
          <a:p>
            <a:pPr lvl="1"/>
            <a:r>
              <a:rPr lang="vi-VN" dirty="0"/>
              <a:t>Khối CNN hiện tại đã hoạt động tốt ở mức </a:t>
            </a:r>
            <a:r>
              <a:rPr lang="vi-VN" dirty="0" err="1"/>
              <a:t>baseline</a:t>
            </a:r>
            <a:r>
              <a:rPr lang="vi-VN" dirty="0"/>
              <a:t>. Nếu cần cải thiện thêm, có thể nâng cấp theo hướng</a:t>
            </a:r>
          </a:p>
          <a:p>
            <a:pPr lvl="2"/>
            <a:r>
              <a:rPr lang="vi-VN" dirty="0"/>
              <a:t>thêm </a:t>
            </a:r>
            <a:r>
              <a:rPr lang="vi-VN" dirty="0" err="1"/>
              <a:t>data</a:t>
            </a:r>
            <a:r>
              <a:rPr lang="vi-VN" dirty="0"/>
              <a:t> </a:t>
            </a:r>
            <a:r>
              <a:rPr lang="vi-VN" dirty="0" err="1"/>
              <a:t>augmentation</a:t>
            </a:r>
            <a:endParaRPr lang="vi-VN" dirty="0"/>
          </a:p>
          <a:p>
            <a:pPr lvl="2"/>
            <a:r>
              <a:rPr lang="vi-VN" dirty="0"/>
              <a:t>dùng </a:t>
            </a:r>
            <a:r>
              <a:rPr lang="vi-VN" dirty="0" err="1"/>
              <a:t>deeper</a:t>
            </a:r>
            <a:r>
              <a:rPr lang="vi-VN" dirty="0"/>
              <a:t> CNN</a:t>
            </a:r>
          </a:p>
          <a:p>
            <a:pPr lvl="2"/>
            <a:r>
              <a:rPr lang="vi-VN" dirty="0"/>
              <a:t>dùng </a:t>
            </a:r>
            <a:r>
              <a:rPr lang="vi-VN" dirty="0" err="1"/>
              <a:t>optimizer</a:t>
            </a:r>
            <a:r>
              <a:rPr lang="vi-VN" dirty="0"/>
              <a:t> tốt hơn như </a:t>
            </a:r>
            <a:r>
              <a:rPr lang="vi-VN" dirty="0" err="1"/>
              <a:t>AdamW</a:t>
            </a:r>
            <a:endParaRPr lang="vi-VN" dirty="0"/>
          </a:p>
          <a:p>
            <a:pPr lvl="2"/>
            <a:r>
              <a:rPr lang="vi-VN" dirty="0"/>
              <a:t>tăng số ảnh </a:t>
            </a:r>
            <a:r>
              <a:rPr lang="vi-VN" dirty="0" err="1"/>
              <a:t>train</a:t>
            </a:r>
            <a:r>
              <a:rPr lang="vi-VN" dirty="0"/>
              <a:t> </a:t>
            </a:r>
            <a:r>
              <a:rPr lang="vi-VN" dirty="0" err="1"/>
              <a:t>per</a:t>
            </a:r>
            <a:r>
              <a:rPr lang="vi-VN" dirty="0"/>
              <a:t> </a:t>
            </a:r>
            <a:r>
              <a:rPr lang="vi-VN" dirty="0" err="1"/>
              <a:t>emotion</a:t>
            </a: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B34F256-65CE-2E36-B777-D160C8D1DAC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6596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7"/>
          <p:cNvSpPr txBox="1">
            <a:spLocks noGrp="1"/>
          </p:cNvSpPr>
          <p:nvPr>
            <p:ph type="title"/>
          </p:nvPr>
        </p:nvSpPr>
        <p:spPr>
          <a:xfrm>
            <a:off x="457200" y="76200"/>
            <a:ext cx="74676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7"/>
          <p:cNvSpPr txBox="1">
            <a:spLocks noGrp="1"/>
          </p:cNvSpPr>
          <p:nvPr>
            <p:ph type="body" idx="1"/>
          </p:nvPr>
        </p:nvSpPr>
        <p:spPr>
          <a:xfrm>
            <a:off x="457200" y="1323105"/>
            <a:ext cx="8229600" cy="46783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rgbClr val="0C0C0C"/>
              </a:buClr>
              <a:buSzPts val="2600"/>
              <a:buFont typeface="Noto Sans Symbols"/>
              <a:buChar char="❑"/>
              <a:defRPr sz="2600" b="1">
                <a:solidFill>
                  <a:srgbClr val="0C0C0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>
                <a:solidFill>
                  <a:schemeClr val="dk1"/>
                </a:solidFill>
              </a:defRPr>
            </a:lvl3pPr>
            <a:lvl4pPr marL="1828800" lvl="3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002060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10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28;p29"/>
          <p:cNvPicPr preferRelativeResize="0"/>
          <p:nvPr/>
        </p:nvPicPr>
        <p:blipFill rotWithShape="1">
          <a:blip r:embed="rId2">
            <a:alphaModFix/>
          </a:blip>
          <a:srcRect t="8081" b="8861"/>
          <a:stretch/>
        </p:blipFill>
        <p:spPr>
          <a:xfrm>
            <a:off x="0" y="1131888"/>
            <a:ext cx="9144000" cy="5370512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29"/>
          <p:cNvSpPr txBox="1">
            <a:spLocks noGrp="1"/>
          </p:cNvSpPr>
          <p:nvPr>
            <p:ph type="title"/>
          </p:nvPr>
        </p:nvSpPr>
        <p:spPr>
          <a:xfrm>
            <a:off x="0" y="2057400"/>
            <a:ext cx="914400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000" b="1" cap="non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29"/>
          <p:cNvSpPr txBox="1">
            <a:spLocks noGrp="1"/>
          </p:cNvSpPr>
          <p:nvPr>
            <p:ph type="body" idx="1"/>
          </p:nvPr>
        </p:nvSpPr>
        <p:spPr>
          <a:xfrm>
            <a:off x="457200" y="76200"/>
            <a:ext cx="7239000" cy="9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FFFF00"/>
              </a:buClr>
              <a:buSzPts val="3000"/>
              <a:buNone/>
              <a:defRPr sz="300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0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3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93700" algn="l">
              <a:spcBef>
                <a:spcPts val="100"/>
              </a:spcBef>
              <a:spcAft>
                <a:spcPts val="0"/>
              </a:spcAft>
              <a:buClr>
                <a:schemeClr val="dk1"/>
              </a:buClr>
              <a:buSzPts val="2600"/>
              <a:buChar char="•"/>
              <a:defRPr sz="2600">
                <a:solidFill>
                  <a:schemeClr val="dk1"/>
                </a:solidFill>
              </a:defRPr>
            </a:lvl1pPr>
            <a:lvl2pPr marL="914400" lvl="1" indent="-3810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>
                <a:solidFill>
                  <a:schemeClr val="dk1"/>
                </a:solidFill>
              </a:defRPr>
            </a:lvl2pPr>
            <a:lvl3pPr marL="1371600" lvl="2" indent="-355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>
                <a:solidFill>
                  <a:schemeClr val="dk1"/>
                </a:solidFill>
              </a:defRPr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>
                <a:solidFill>
                  <a:schemeClr val="dk1"/>
                </a:solidFill>
              </a:defRPr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>
                <a:solidFill>
                  <a:schemeClr val="dk1"/>
                </a:solidFill>
              </a:defRPr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8" name="Google Shape;3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1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3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4" name="Google Shape;44;p3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5" name="Google Shape;45;p3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6" name="Google Shape;46;p3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7" name="Google Shape;47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2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3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3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4318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2" name="Google Shape;62;p3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3" name="Google Shape;63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3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3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9" name="Google Shape;69;p3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70" name="Google Shape;70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36"/>
          <p:cNvSpPr txBox="1">
            <a:spLocks noGrp="1"/>
          </p:cNvSpPr>
          <p:nvPr>
            <p:ph type="body" idx="1"/>
          </p:nvPr>
        </p:nvSpPr>
        <p:spPr>
          <a:xfrm rot="5400000">
            <a:off x="2194719" y="-365918"/>
            <a:ext cx="47545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6" name="Google Shape;76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3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3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2" name="Google Shape;82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>
            <a:spLocks noGrp="1"/>
          </p:cNvSpPr>
          <p:nvPr>
            <p:ph type="title"/>
          </p:nvPr>
        </p:nvSpPr>
        <p:spPr>
          <a:xfrm>
            <a:off x="457200" y="152400"/>
            <a:ext cx="7467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3600" b="1" i="0" u="none" strike="noStrike" cap="non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6"/>
          <p:cNvSpPr txBox="1">
            <a:spLocks noGrp="1"/>
          </p:cNvSpPr>
          <p:nvPr>
            <p:ph type="body" idx="1"/>
          </p:nvPr>
        </p:nvSpPr>
        <p:spPr>
          <a:xfrm>
            <a:off x="457200" y="1371600"/>
            <a:ext cx="8229600" cy="4754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100"/>
              </a:spcBef>
              <a:spcAft>
                <a:spcPts val="0"/>
              </a:spcAft>
              <a:buClr>
                <a:srgbClr val="002060"/>
              </a:buClr>
              <a:buSzPts val="2800"/>
              <a:buFont typeface="Arial"/>
              <a:buChar char="•"/>
              <a:defRPr sz="2800" b="1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400"/>
              <a:buFont typeface="Arial"/>
              <a:buChar char="–"/>
              <a:defRPr sz="24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55600" algn="l" rtl="0">
              <a:spcBef>
                <a:spcPts val="300"/>
              </a:spcBef>
              <a:spcAft>
                <a:spcPts val="0"/>
              </a:spcAft>
              <a:buClr>
                <a:srgbClr val="002060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rgbClr val="00206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98989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1800" b="0" i="0" u="none" strike="noStrike" cap="none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jpeg"/><Relationship Id="rId13" Type="http://schemas.openxmlformats.org/officeDocument/2006/relationships/image" Target="../media/image27.jpeg"/><Relationship Id="rId3" Type="http://schemas.openxmlformats.org/officeDocument/2006/relationships/image" Target="../media/image17.jpeg"/><Relationship Id="rId7" Type="http://schemas.openxmlformats.org/officeDocument/2006/relationships/image" Target="../media/image21.jpeg"/><Relationship Id="rId12" Type="http://schemas.openxmlformats.org/officeDocument/2006/relationships/image" Target="../media/image26.jpe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eg"/><Relationship Id="rId11" Type="http://schemas.openxmlformats.org/officeDocument/2006/relationships/image" Target="../media/image25.jpeg"/><Relationship Id="rId5" Type="http://schemas.openxmlformats.org/officeDocument/2006/relationships/image" Target="../media/image19.jpeg"/><Relationship Id="rId15" Type="http://schemas.openxmlformats.org/officeDocument/2006/relationships/image" Target="../media/image29.jpeg"/><Relationship Id="rId10" Type="http://schemas.openxmlformats.org/officeDocument/2006/relationships/image" Target="../media/image24.jpeg"/><Relationship Id="rId4" Type="http://schemas.openxmlformats.org/officeDocument/2006/relationships/image" Target="../media/image18.jpeg"/><Relationship Id="rId9" Type="http://schemas.openxmlformats.org/officeDocument/2006/relationships/image" Target="../media/image23.jpeg"/><Relationship Id="rId14" Type="http://schemas.openxmlformats.org/officeDocument/2006/relationships/image" Target="../media/image28.jpe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"/>
          <p:cNvSpPr txBox="1"/>
          <p:nvPr/>
        </p:nvSpPr>
        <p:spPr>
          <a:xfrm>
            <a:off x="307428" y="1572588"/>
            <a:ext cx="8027277" cy="2123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just">
              <a:buClr>
                <a:srgbClr val="212529"/>
              </a:buClr>
              <a:buSzPts val="2400"/>
            </a:pPr>
            <a:r>
              <a:rPr lang="vi-VN" sz="4400" b="1" i="0" u="none" strike="noStrike" cap="none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Nhận dạng cảm xúc trên tập cơ sở dữ liệu FER2013 sử dụng thuật toán K-</a:t>
            </a:r>
            <a:r>
              <a:rPr lang="vi-VN" sz="4400" b="1" i="0" u="none" strike="noStrike" cap="none" dirty="0" err="1">
                <a:solidFill>
                  <a:srgbClr val="212529"/>
                </a:solidFill>
                <a:latin typeface="Calibri" panose="020F0502020204030204" pitchFamily="34" charset="0"/>
                <a:ea typeface="Calibri"/>
                <a:cs typeface="Calibri" panose="020F0502020204030204" pitchFamily="34" charset="0"/>
                <a:sym typeface="Calibri"/>
              </a:rPr>
              <a:t>means</a:t>
            </a:r>
            <a:endParaRPr lang="vi-VN" sz="4400" b="1" i="0" u="none" strike="noStrike" cap="none" dirty="0">
              <a:solidFill>
                <a:srgbClr val="212529"/>
              </a:solidFill>
              <a:latin typeface="Calibri" panose="020F0502020204030204" pitchFamily="34" charset="0"/>
              <a:ea typeface="Calibri"/>
              <a:cs typeface="Calibri" panose="020F0502020204030204" pitchFamily="34" charset="0"/>
              <a:sym typeface="Calibri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381000" y="3920820"/>
            <a:ext cx="762000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GVHD: TS. Nguyễn Thúy Bình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Nguyễn Thành Đạt </a:t>
            </a:r>
            <a:r>
              <a:rPr lang="en-US" sz="2400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-</a:t>
            </a:r>
            <a:r>
              <a:rPr lang="en-US" sz="2400" b="0" i="0" u="none" strike="noStrike" cap="none" dirty="0">
                <a:solidFill>
                  <a:srgbClr val="0C0C0C"/>
                </a:solidFill>
                <a:latin typeface="Calibri"/>
                <a:ea typeface="Calibri"/>
                <a:cs typeface="Calibri"/>
                <a:sym typeface="Calibri"/>
              </a:rPr>
              <a:t> 211440519 – KTDT-THCN1-K62</a:t>
            </a:r>
            <a:endParaRPr sz="2400" b="0" i="0" u="none" strike="noStrike" cap="none" dirty="0">
              <a:solidFill>
                <a:srgbClr val="0C0C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5116E839-D721-14A3-6ED0-70234A9F9C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" y="1"/>
            <a:ext cx="2425700" cy="1219200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Mục lục</a:t>
            </a:r>
          </a:p>
        </p:txBody>
      </p:sp>
      <p:sp>
        <p:nvSpPr>
          <p:cNvPr id="3" name="Tiêu đề phụ 2">
            <a:extLst>
              <a:ext uri="{FF2B5EF4-FFF2-40B4-BE49-F238E27FC236}">
                <a16:creationId xmlns:a16="http://schemas.microsoft.com/office/drawing/2014/main" id="{6FD4E566-6E04-8BF4-4DBF-D6E2A0E194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2003" y="1629541"/>
            <a:ext cx="5551652" cy="2458984"/>
          </a:xfrm>
        </p:spPr>
        <p:txBody>
          <a:bodyPr/>
          <a:lstStyle/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Giới thiệu về bài toán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Thuật toán và tập dữ liệu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Khảo sát, đánh giá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So sánh, đối chiếu kết quả</a:t>
            </a:r>
          </a:p>
          <a:p>
            <a:pPr marL="565150" indent="-514350" algn="l">
              <a:buAutoNum type="arabicPeriod"/>
            </a:pPr>
            <a:r>
              <a:rPr lang="vi-VN" dirty="0">
                <a:solidFill>
                  <a:schemeClr val="tx1"/>
                </a:solidFill>
              </a:rPr>
              <a:t>Hướng phát triển</a:t>
            </a:r>
          </a:p>
          <a:p>
            <a:pPr marL="565150" indent="-514350" algn="l">
              <a:buAutoNum type="arabicPeriod"/>
            </a:pPr>
            <a:endParaRPr lang="vi-VN" dirty="0">
              <a:solidFill>
                <a:schemeClr val="tx1"/>
              </a:solidFill>
            </a:endParaRP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D617F7E-2E3A-6A3A-0AEE-2754B0BD2A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183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80D5620-B959-6CC1-6C49-6012D41DCE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r>
              <a:rPr lang="vi-VN" dirty="0"/>
              <a:t>1. Giới thiệu về bài toán</a:t>
            </a:r>
            <a:br>
              <a:rPr lang="vi-VN" dirty="0"/>
            </a:br>
            <a:endParaRPr lang="vi-VN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6E85DE9-03AF-B46B-A71F-CF98467CDF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711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D726C0EA-B636-B755-FB83-5CA3666C00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4</a:t>
            </a:fld>
            <a:endParaRPr lang="en-US"/>
          </a:p>
        </p:txBody>
      </p:sp>
      <p:sp>
        <p:nvSpPr>
          <p:cNvPr id="5" name="Tiêu đề 1">
            <a:extLst>
              <a:ext uri="{FF2B5EF4-FFF2-40B4-BE49-F238E27FC236}">
                <a16:creationId xmlns:a16="http://schemas.microsoft.com/office/drawing/2014/main" id="{8BAAE06C-939C-47DB-C167-EBC7214182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634" y="346732"/>
            <a:ext cx="5276193" cy="431033"/>
          </a:xfrm>
        </p:spPr>
        <p:txBody>
          <a:bodyPr/>
          <a:lstStyle/>
          <a:p>
            <a:r>
              <a:rPr lang="vi-VN" dirty="0">
                <a:solidFill>
                  <a:schemeClr val="bg1"/>
                </a:solidFill>
              </a:rPr>
              <a:t>1. Giới thiệu về bài toán</a:t>
            </a:r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E783A09B-3AB1-8FD8-B481-ACB2351473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6537" y="1670545"/>
            <a:ext cx="7462346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Nhận dạng cảm xúc</a:t>
            </a:r>
            <a:r>
              <a:rPr lang="vi-VN" altLang="vi-VN" sz="2400" dirty="0">
                <a:solidFill>
                  <a:schemeClr val="tx1"/>
                </a:solidFill>
                <a:latin typeface="Arial" panose="020B0604020202020204" pitchFamily="34" charset="0"/>
              </a:rPr>
              <a:t> với 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FER2013 là bộ dữ liệu chuẩn gồm nhiều ảnh khuôn mặt với các cảm xúc khác nhau.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Thuật toán K-</a:t>
            </a:r>
            <a:r>
              <a:rPr kumimoji="0" lang="vi-VN" altLang="vi-VN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r>
              <a:rPr kumimoji="0" lang="vi-VN" altLang="vi-VN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được dùng để phân cụm ảnh sau khi tiền xử lý và trích xuất đặc trưng với HOG và giảm chiều dữ liệu với PCA.</a:t>
            </a:r>
          </a:p>
        </p:txBody>
      </p:sp>
    </p:spTree>
    <p:extLst>
      <p:ext uri="{BB962C8B-B14F-4D97-AF65-F5344CB8AC3E}">
        <p14:creationId xmlns:p14="http://schemas.microsoft.com/office/powerpoint/2010/main" val="3940840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62B81-75AA-C2B1-35A9-79D8995A9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AE72686B-B4D5-3F3D-BB56-93444474E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2. Thuật toán và tập dữ liệu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5AAF4BD4-1995-45FA-6F87-95655EF489F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0821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DA040-AACF-49F2-48C9-86A731538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E95F03-CF5E-ED2C-CA10-008F4C1EEF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6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B1B08C7F-FABD-EA11-9358-FBCB8BA0B35C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3" name="Hình chữ nhật 2">
            <a:extLst>
              <a:ext uri="{FF2B5EF4-FFF2-40B4-BE49-F238E27FC236}">
                <a16:creationId xmlns:a16="http://schemas.microsoft.com/office/drawing/2014/main" id="{0ECF1DFA-DC91-6BCE-8D88-A35617239E9E}"/>
              </a:ext>
            </a:extLst>
          </p:cNvPr>
          <p:cNvSpPr/>
          <p:nvPr/>
        </p:nvSpPr>
        <p:spPr>
          <a:xfrm>
            <a:off x="483476" y="1891807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Nhập ảnh </a:t>
            </a:r>
          </a:p>
          <a:p>
            <a:pPr algn="ctr"/>
            <a:r>
              <a:rPr lang="vi-VN" sz="2000" dirty="0"/>
              <a:t>đầu vào</a:t>
            </a:r>
          </a:p>
        </p:txBody>
      </p:sp>
      <p:sp>
        <p:nvSpPr>
          <p:cNvPr id="8" name="Hình chữ nhật 7">
            <a:extLst>
              <a:ext uri="{FF2B5EF4-FFF2-40B4-BE49-F238E27FC236}">
                <a16:creationId xmlns:a16="http://schemas.microsoft.com/office/drawing/2014/main" id="{492EF051-B0E1-7005-61AE-6F692618399D}"/>
              </a:ext>
            </a:extLst>
          </p:cNvPr>
          <p:cNvSpPr/>
          <p:nvPr/>
        </p:nvSpPr>
        <p:spPr>
          <a:xfrm>
            <a:off x="3628696" y="1891805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Tiền xử lý</a:t>
            </a:r>
          </a:p>
        </p:txBody>
      </p:sp>
      <p:sp>
        <p:nvSpPr>
          <p:cNvPr id="9" name="Hình chữ nhật 8">
            <a:extLst>
              <a:ext uri="{FF2B5EF4-FFF2-40B4-BE49-F238E27FC236}">
                <a16:creationId xmlns:a16="http://schemas.microsoft.com/office/drawing/2014/main" id="{417ED55F-C876-120E-CAC4-C04453E1FF91}"/>
              </a:ext>
            </a:extLst>
          </p:cNvPr>
          <p:cNvSpPr/>
          <p:nvPr/>
        </p:nvSpPr>
        <p:spPr>
          <a:xfrm>
            <a:off x="6773917" y="1891806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Trích chọn đặc trưng</a:t>
            </a:r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76E5A664-007F-56A5-D2D1-3DAB93983032}"/>
              </a:ext>
            </a:extLst>
          </p:cNvPr>
          <p:cNvSpPr/>
          <p:nvPr/>
        </p:nvSpPr>
        <p:spPr>
          <a:xfrm>
            <a:off x="362869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Giảm chiều dữ liệu</a:t>
            </a:r>
          </a:p>
        </p:txBody>
      </p: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F9E41102-4885-BCE8-D8C7-D335636F22E4}"/>
              </a:ext>
            </a:extLst>
          </p:cNvPr>
          <p:cNvSpPr/>
          <p:nvPr/>
        </p:nvSpPr>
        <p:spPr>
          <a:xfrm>
            <a:off x="6773917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Chuẩn hóa</a:t>
            </a:r>
          </a:p>
        </p:txBody>
      </p: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499D00A5-3133-58FB-A134-C4C70BFC7DD4}"/>
              </a:ext>
            </a:extLst>
          </p:cNvPr>
          <p:cNvSpPr/>
          <p:nvPr/>
        </p:nvSpPr>
        <p:spPr>
          <a:xfrm>
            <a:off x="483476" y="3639208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Phân cụm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7BD08632-E40F-0F64-556C-2EB3EADE0823}"/>
              </a:ext>
            </a:extLst>
          </p:cNvPr>
          <p:cNvSpPr/>
          <p:nvPr/>
        </p:nvSpPr>
        <p:spPr>
          <a:xfrm>
            <a:off x="1986457" y="5370843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600" dirty="0"/>
              <a:t>Gán nhãn cảm xúc cho từng cụm</a:t>
            </a:r>
          </a:p>
        </p:txBody>
      </p:sp>
      <p:sp>
        <p:nvSpPr>
          <p:cNvPr id="18" name="Hình chữ nhật 17">
            <a:extLst>
              <a:ext uri="{FF2B5EF4-FFF2-40B4-BE49-F238E27FC236}">
                <a16:creationId xmlns:a16="http://schemas.microsoft.com/office/drawing/2014/main" id="{30952715-E2D1-F4EA-82FB-2C012996B5DC}"/>
              </a:ext>
            </a:extLst>
          </p:cNvPr>
          <p:cNvSpPr/>
          <p:nvPr/>
        </p:nvSpPr>
        <p:spPr>
          <a:xfrm>
            <a:off x="5201306" y="5365560"/>
            <a:ext cx="1912883" cy="84088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2000" dirty="0"/>
              <a:t>Đánh giá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BFE6CB3F-7137-A7FC-E7F7-74ED4A3C62BF}"/>
              </a:ext>
            </a:extLst>
          </p:cNvPr>
          <p:cNvCxnSpPr>
            <a:stCxn id="3" idx="3"/>
            <a:endCxn id="8" idx="1"/>
          </p:cNvCxnSpPr>
          <p:nvPr/>
        </p:nvCxnSpPr>
        <p:spPr>
          <a:xfrm flipV="1">
            <a:off x="2396359" y="2312247"/>
            <a:ext cx="1232337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378FD608-11D0-406A-923F-CFB01B443951}"/>
              </a:ext>
            </a:extLst>
          </p:cNvPr>
          <p:cNvCxnSpPr>
            <a:stCxn id="8" idx="3"/>
            <a:endCxn id="9" idx="1"/>
          </p:cNvCxnSpPr>
          <p:nvPr/>
        </p:nvCxnSpPr>
        <p:spPr>
          <a:xfrm>
            <a:off x="5541579" y="2312247"/>
            <a:ext cx="1232338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E45B1D7E-1745-9226-AD9F-5B51C075D935}"/>
              </a:ext>
            </a:extLst>
          </p:cNvPr>
          <p:cNvCxnSpPr>
            <a:stCxn id="9" idx="2"/>
            <a:endCxn id="11" idx="0"/>
          </p:cNvCxnSpPr>
          <p:nvPr/>
        </p:nvCxnSpPr>
        <p:spPr>
          <a:xfrm>
            <a:off x="7730359" y="2732689"/>
            <a:ext cx="0" cy="9065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6F58548-1327-2AF5-CF57-E2B0A5A812AF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>
            <a:off x="5541579" y="4059650"/>
            <a:ext cx="12323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Đường kết nối Mũi tên Thẳng 27">
            <a:extLst>
              <a:ext uri="{FF2B5EF4-FFF2-40B4-BE49-F238E27FC236}">
                <a16:creationId xmlns:a16="http://schemas.microsoft.com/office/drawing/2014/main" id="{56BCB189-EE83-B6A7-CEB9-E30578D28048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2396359" y="4059649"/>
            <a:ext cx="1232337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Đường kết nối Mũi tên Thẳng 29">
            <a:extLst>
              <a:ext uri="{FF2B5EF4-FFF2-40B4-BE49-F238E27FC236}">
                <a16:creationId xmlns:a16="http://schemas.microsoft.com/office/drawing/2014/main" id="{CE80C51D-10F2-4207-0F8B-137366DC1F15}"/>
              </a:ext>
            </a:extLst>
          </p:cNvPr>
          <p:cNvCxnSpPr>
            <a:cxnSpLocks/>
            <a:stCxn id="12" idx="2"/>
            <a:endCxn id="13" idx="1"/>
          </p:cNvCxnSpPr>
          <p:nvPr/>
        </p:nvCxnSpPr>
        <p:spPr>
          <a:xfrm>
            <a:off x="1439918" y="4480091"/>
            <a:ext cx="546539" cy="13111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Đường kết nối Mũi tên Thẳng 32">
            <a:extLst>
              <a:ext uri="{FF2B5EF4-FFF2-40B4-BE49-F238E27FC236}">
                <a16:creationId xmlns:a16="http://schemas.microsoft.com/office/drawing/2014/main" id="{0A5420DA-D5D5-166E-AB3B-6BDEBB190BCE}"/>
              </a:ext>
            </a:extLst>
          </p:cNvPr>
          <p:cNvCxnSpPr>
            <a:cxnSpLocks/>
            <a:stCxn id="13" idx="3"/>
            <a:endCxn id="18" idx="1"/>
          </p:cNvCxnSpPr>
          <p:nvPr/>
        </p:nvCxnSpPr>
        <p:spPr>
          <a:xfrm flipV="1">
            <a:off x="3899340" y="5786002"/>
            <a:ext cx="1301966" cy="52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Hộp Văn bản 37">
            <a:extLst>
              <a:ext uri="{FF2B5EF4-FFF2-40B4-BE49-F238E27FC236}">
                <a16:creationId xmlns:a16="http://schemas.microsoft.com/office/drawing/2014/main" id="{FE0F759E-0617-DE07-1371-59B1A58CE726}"/>
              </a:ext>
            </a:extLst>
          </p:cNvPr>
          <p:cNvSpPr txBox="1"/>
          <p:nvPr/>
        </p:nvSpPr>
        <p:spPr>
          <a:xfrm>
            <a:off x="336330" y="1216242"/>
            <a:ext cx="37837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b="1" dirty="0"/>
              <a:t>Sơ đồ tổng quan</a:t>
            </a:r>
          </a:p>
        </p:txBody>
      </p:sp>
    </p:spTree>
    <p:extLst>
      <p:ext uri="{BB962C8B-B14F-4D97-AF65-F5344CB8AC3E}">
        <p14:creationId xmlns:p14="http://schemas.microsoft.com/office/powerpoint/2010/main" val="1287406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25812-603D-5E1C-9AC8-EE32D08FE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68BE4-81B5-2B1E-D2D5-C36FEDB5F0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91EA6B1-BCFA-7506-DF07-3D6617CD3E45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B2984BF-449E-35CA-3AE9-6B2D4EDD56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6330" y="1175522"/>
            <a:ext cx="5055477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Tiền xử lý + Trích chọn đặc trưng với HOG</a:t>
            </a:r>
            <a:r>
              <a:rPr kumimoji="0" lang="vi-VN" altLang="vi-VN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(</a:t>
            </a:r>
            <a:r>
              <a:rPr lang="vi-VN" sz="2400" dirty="0" err="1"/>
              <a:t>Histogram</a:t>
            </a:r>
            <a:r>
              <a:rPr lang="vi-VN" sz="2400" dirty="0"/>
              <a:t> </a:t>
            </a:r>
            <a:r>
              <a:rPr lang="vi-VN" sz="2400" dirty="0" err="1"/>
              <a:t>of</a:t>
            </a:r>
            <a:r>
              <a:rPr lang="vi-VN" sz="2400" dirty="0"/>
              <a:t> </a:t>
            </a:r>
            <a:r>
              <a:rPr lang="vi-VN" sz="2400" dirty="0" err="1"/>
              <a:t>Oriented</a:t>
            </a:r>
            <a:r>
              <a:rPr lang="vi-VN" sz="2400" dirty="0"/>
              <a:t> </a:t>
            </a:r>
            <a:r>
              <a:rPr lang="vi-VN" sz="2400" dirty="0" err="1"/>
              <a:t>Gradients</a:t>
            </a:r>
            <a:r>
              <a:rPr lang="vi-VN" sz="2400" dirty="0"/>
              <a:t>)</a:t>
            </a:r>
            <a:endParaRPr kumimoji="0" lang="vi-VN" altLang="vi-VN" sz="2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400" dirty="0"/>
              <a:t>- HOG là phương pháp mô tả đặc trưng dựa trên hướng biến thiên cục bộ của ảnh. </a:t>
            </a:r>
          </a:p>
        </p:txBody>
      </p:sp>
      <p:pic>
        <p:nvPicPr>
          <p:cNvPr id="1026" name="Picture 2" descr="Histogram of Oriented Gradients explained using OpenCV">
            <a:extLst>
              <a:ext uri="{FF2B5EF4-FFF2-40B4-BE49-F238E27FC236}">
                <a16:creationId xmlns:a16="http://schemas.microsoft.com/office/drawing/2014/main" id="{2D237175-CD0E-F020-8E8B-344CC774EF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248" y="3429000"/>
            <a:ext cx="5276193" cy="29678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E881066F-54B7-4BF6-0289-5400DCB444EC}"/>
              </a:ext>
            </a:extLst>
          </p:cNvPr>
          <p:cNvSpPr txBox="1"/>
          <p:nvPr/>
        </p:nvSpPr>
        <p:spPr>
          <a:xfrm>
            <a:off x="5743903" y="3615748"/>
            <a:ext cx="314784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/>
              <a:t>- Tập trung vào việc phân tích các cạnh và đường biên với </a:t>
            </a:r>
            <a:r>
              <a:rPr lang="vi-VN" sz="2400" dirty="0" err="1"/>
              <a:t>gradient</a:t>
            </a:r>
            <a:r>
              <a:rPr lang="vi-VN" sz="2400" dirty="0"/>
              <a:t>, =&gt; các mô tả gọn nhưng giàu thông tin về hình dạng. </a:t>
            </a:r>
          </a:p>
        </p:txBody>
      </p:sp>
      <p:pic>
        <p:nvPicPr>
          <p:cNvPr id="9" name="Picture 7">
            <a:extLst>
              <a:ext uri="{FF2B5EF4-FFF2-40B4-BE49-F238E27FC236}">
                <a16:creationId xmlns:a16="http://schemas.microsoft.com/office/drawing/2014/main" id="{FCAE5083-8DB5-71EA-B5F9-ECAF9527EE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8689" y="1297242"/>
            <a:ext cx="3613063" cy="1938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618794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6E144-6DAF-89D2-37D9-9857505F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541ACD-4A3A-F2B8-1FD4-DDAAB866AE5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8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6B4EAD61-A96F-FEE4-907B-92D848083B12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D19EC4F7-743E-4D5B-25BA-082D3CFBA5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08844"/>
            <a:ext cx="7036677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HOG</a:t>
            </a:r>
          </a:p>
        </p:txBody>
      </p:sp>
      <p:sp>
        <p:nvSpPr>
          <p:cNvPr id="8" name="Hình Bầu dục 7">
            <a:extLst>
              <a:ext uri="{FF2B5EF4-FFF2-40B4-BE49-F238E27FC236}">
                <a16:creationId xmlns:a16="http://schemas.microsoft.com/office/drawing/2014/main" id="{11A2BDBB-2D60-604B-6AD4-F5ACD9602E68}"/>
              </a:ext>
            </a:extLst>
          </p:cNvPr>
          <p:cNvSpPr/>
          <p:nvPr/>
        </p:nvSpPr>
        <p:spPr>
          <a:xfrm>
            <a:off x="1022131" y="1339676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cxnSp>
        <p:nvCxnSpPr>
          <p:cNvPr id="10" name="Đường kết nối Mũi tên Thẳng 9">
            <a:extLst>
              <a:ext uri="{FF2B5EF4-FFF2-40B4-BE49-F238E27FC236}">
                <a16:creationId xmlns:a16="http://schemas.microsoft.com/office/drawing/2014/main" id="{307F3567-2E34-5734-1291-D7100FC8A9A7}"/>
              </a:ext>
            </a:extLst>
          </p:cNvPr>
          <p:cNvCxnSpPr>
            <a:stCxn id="8" idx="4"/>
          </p:cNvCxnSpPr>
          <p:nvPr/>
        </p:nvCxnSpPr>
        <p:spPr>
          <a:xfrm>
            <a:off x="1749973" y="180134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Hình chữ nhật 11">
            <a:extLst>
              <a:ext uri="{FF2B5EF4-FFF2-40B4-BE49-F238E27FC236}">
                <a16:creationId xmlns:a16="http://schemas.microsoft.com/office/drawing/2014/main" id="{BE95518C-9538-58D6-8A96-45CB5747054B}"/>
              </a:ext>
            </a:extLst>
          </p:cNvPr>
          <p:cNvSpPr/>
          <p:nvPr/>
        </p:nvSpPr>
        <p:spPr>
          <a:xfrm>
            <a:off x="922283" y="2755814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Tiền xử lý</a:t>
            </a: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52074250-4E07-3826-484C-84B145387E3D}"/>
              </a:ext>
            </a:extLst>
          </p:cNvPr>
          <p:cNvSpPr/>
          <p:nvPr/>
        </p:nvSpPr>
        <p:spPr>
          <a:xfrm>
            <a:off x="922283" y="3452442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Tính độ lớn và hướng </a:t>
            </a:r>
            <a:r>
              <a:rPr lang="vi-VN" dirty="0" err="1"/>
              <a:t>Gradient</a:t>
            </a:r>
            <a:endParaRPr lang="vi-VN" dirty="0"/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AB72E43A-A669-9288-1A48-FF7F4E46C533}"/>
              </a:ext>
            </a:extLst>
          </p:cNvPr>
          <p:cNvSpPr/>
          <p:nvPr/>
        </p:nvSpPr>
        <p:spPr>
          <a:xfrm>
            <a:off x="915713" y="4149070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Chia ảnh </a:t>
            </a:r>
          </a:p>
          <a:p>
            <a:pPr algn="ctr"/>
            <a:r>
              <a:rPr lang="vi-VN" dirty="0"/>
              <a:t>thành </a:t>
            </a:r>
            <a:r>
              <a:rPr lang="vi-VN" dirty="0" err="1"/>
              <a:t>cell</a:t>
            </a:r>
            <a:endParaRPr lang="vi-VN" dirty="0"/>
          </a:p>
        </p:txBody>
      </p:sp>
      <p:sp>
        <p:nvSpPr>
          <p:cNvPr id="15" name="Hình chữ nhật 14">
            <a:extLst>
              <a:ext uri="{FF2B5EF4-FFF2-40B4-BE49-F238E27FC236}">
                <a16:creationId xmlns:a16="http://schemas.microsoft.com/office/drawing/2014/main" id="{4B92B320-CF15-AAB2-8756-0E0B446E496B}"/>
              </a:ext>
            </a:extLst>
          </p:cNvPr>
          <p:cNvSpPr/>
          <p:nvPr/>
        </p:nvSpPr>
        <p:spPr>
          <a:xfrm>
            <a:off x="915713" y="4845698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Chuẩn hóa </a:t>
            </a:r>
            <a:r>
              <a:rPr lang="vi-VN" dirty="0" err="1"/>
              <a:t>block</a:t>
            </a:r>
            <a:endParaRPr lang="vi-VN" dirty="0"/>
          </a:p>
        </p:txBody>
      </p:sp>
      <p:sp>
        <p:nvSpPr>
          <p:cNvPr id="16" name="Hình chữ nhật 15">
            <a:extLst>
              <a:ext uri="{FF2B5EF4-FFF2-40B4-BE49-F238E27FC236}">
                <a16:creationId xmlns:a16="http://schemas.microsoft.com/office/drawing/2014/main" id="{632B70AC-890D-03BC-8821-1385B09E91D5}"/>
              </a:ext>
            </a:extLst>
          </p:cNvPr>
          <p:cNvSpPr/>
          <p:nvPr/>
        </p:nvSpPr>
        <p:spPr>
          <a:xfrm>
            <a:off x="922283" y="5542326"/>
            <a:ext cx="1668518" cy="4616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Ghép </a:t>
            </a:r>
            <a:r>
              <a:rPr lang="vi-VN" dirty="0" err="1"/>
              <a:t>block</a:t>
            </a:r>
            <a:r>
              <a:rPr lang="vi-VN" dirty="0"/>
              <a:t> tạo </a:t>
            </a:r>
            <a:r>
              <a:rPr lang="vi-VN" dirty="0" err="1"/>
              <a:t>vector</a:t>
            </a:r>
            <a:r>
              <a:rPr lang="vi-VN" dirty="0"/>
              <a:t> HOG</a:t>
            </a:r>
          </a:p>
        </p:txBody>
      </p:sp>
      <p:sp>
        <p:nvSpPr>
          <p:cNvPr id="19" name="Hình Bầu dục 18">
            <a:extLst>
              <a:ext uri="{FF2B5EF4-FFF2-40B4-BE49-F238E27FC236}">
                <a16:creationId xmlns:a16="http://schemas.microsoft.com/office/drawing/2014/main" id="{6C0A9464-62F1-53DD-9E5D-9F4CAC8D440D}"/>
              </a:ext>
            </a:extLst>
          </p:cNvPr>
          <p:cNvSpPr/>
          <p:nvPr/>
        </p:nvSpPr>
        <p:spPr>
          <a:xfrm>
            <a:off x="1022130" y="6177227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DAB151F7-FE02-B5EF-9ABF-14A121343A27}"/>
              </a:ext>
            </a:extLst>
          </p:cNvPr>
          <p:cNvCxnSpPr/>
          <p:nvPr/>
        </p:nvCxnSpPr>
        <p:spPr>
          <a:xfrm>
            <a:off x="1747344" y="2491186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98AEEB6F-B277-5AD4-6931-B10E129A7072}"/>
              </a:ext>
            </a:extLst>
          </p:cNvPr>
          <p:cNvCxnSpPr/>
          <p:nvPr/>
        </p:nvCxnSpPr>
        <p:spPr>
          <a:xfrm>
            <a:off x="1744717" y="3206038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9A11236B-6B57-7223-0A3B-9BA00B367984}"/>
              </a:ext>
            </a:extLst>
          </p:cNvPr>
          <p:cNvCxnSpPr/>
          <p:nvPr/>
        </p:nvCxnSpPr>
        <p:spPr>
          <a:xfrm>
            <a:off x="1742090" y="389175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16FC99ED-C88A-25FC-CDDD-68B68068CE3C}"/>
              </a:ext>
            </a:extLst>
          </p:cNvPr>
          <p:cNvCxnSpPr/>
          <p:nvPr/>
        </p:nvCxnSpPr>
        <p:spPr>
          <a:xfrm>
            <a:off x="1739463" y="456843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Đường kết nối Mũi tên Thẳng 23">
            <a:extLst>
              <a:ext uri="{FF2B5EF4-FFF2-40B4-BE49-F238E27FC236}">
                <a16:creationId xmlns:a16="http://schemas.microsoft.com/office/drawing/2014/main" id="{CD69E889-1E0B-1CD8-44B6-54917EE9F464}"/>
              </a:ext>
            </a:extLst>
          </p:cNvPr>
          <p:cNvCxnSpPr/>
          <p:nvPr/>
        </p:nvCxnSpPr>
        <p:spPr>
          <a:xfrm>
            <a:off x="1752600" y="5260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6A7197F9-2A22-A5AB-F613-D61895F2B28F}"/>
              </a:ext>
            </a:extLst>
          </p:cNvPr>
          <p:cNvCxnSpPr/>
          <p:nvPr/>
        </p:nvCxnSpPr>
        <p:spPr>
          <a:xfrm>
            <a:off x="1752600" y="5919382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Lưu đồ: Dữ liệu 25">
            <a:extLst>
              <a:ext uri="{FF2B5EF4-FFF2-40B4-BE49-F238E27FC236}">
                <a16:creationId xmlns:a16="http://schemas.microsoft.com/office/drawing/2014/main" id="{1C59E1AF-8C59-70FC-71BC-41852F5C107B}"/>
              </a:ext>
            </a:extLst>
          </p:cNvPr>
          <p:cNvSpPr/>
          <p:nvPr/>
        </p:nvSpPr>
        <p:spPr>
          <a:xfrm>
            <a:off x="892722" y="2083037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38C194DE-25B5-8DB6-33DC-96D0A76AC8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5524" y="1133258"/>
            <a:ext cx="4956166" cy="1486850"/>
          </a:xfrm>
          <a:prstGeom prst="rect">
            <a:avLst/>
          </a:prstGeom>
        </p:spPr>
      </p:pic>
      <p:pic>
        <p:nvPicPr>
          <p:cNvPr id="9" name="Hình ảnh 8">
            <a:extLst>
              <a:ext uri="{FF2B5EF4-FFF2-40B4-BE49-F238E27FC236}">
                <a16:creationId xmlns:a16="http://schemas.microsoft.com/office/drawing/2014/main" id="{FC5EE650-9921-F7F4-3D84-9235946748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99600" y="2454619"/>
            <a:ext cx="2066737" cy="2066737"/>
          </a:xfrm>
          <a:prstGeom prst="rect">
            <a:avLst/>
          </a:prstGeom>
        </p:spPr>
      </p:pic>
      <p:pic>
        <p:nvPicPr>
          <p:cNvPr id="17" name="Hình ảnh 16">
            <a:extLst>
              <a:ext uri="{FF2B5EF4-FFF2-40B4-BE49-F238E27FC236}">
                <a16:creationId xmlns:a16="http://schemas.microsoft.com/office/drawing/2014/main" id="{20BC8D53-45C7-DFC7-711D-6C823DFBB9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2129" y="2474167"/>
            <a:ext cx="2094264" cy="2094264"/>
          </a:xfrm>
          <a:prstGeom prst="rect">
            <a:avLst/>
          </a:prstGeom>
        </p:spPr>
      </p:pic>
      <p:pic>
        <p:nvPicPr>
          <p:cNvPr id="29" name="Hình ảnh 28">
            <a:extLst>
              <a:ext uri="{FF2B5EF4-FFF2-40B4-BE49-F238E27FC236}">
                <a16:creationId xmlns:a16="http://schemas.microsoft.com/office/drawing/2014/main" id="{031F524E-1E0F-953E-50AA-FE9A26BEAD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999" y="2627730"/>
            <a:ext cx="1920001" cy="1908399"/>
          </a:xfrm>
          <a:prstGeom prst="rect">
            <a:avLst/>
          </a:prstGeom>
        </p:spPr>
      </p:pic>
      <p:pic>
        <p:nvPicPr>
          <p:cNvPr id="31" name="Hình ảnh 30">
            <a:extLst>
              <a:ext uri="{FF2B5EF4-FFF2-40B4-BE49-F238E27FC236}">
                <a16:creationId xmlns:a16="http://schemas.microsoft.com/office/drawing/2014/main" id="{CA9E845F-7415-DAC6-EA1A-F09EE89E89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29607" y="4522845"/>
            <a:ext cx="5276193" cy="1978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78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E022E-4893-67E0-7D75-E71A391DA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A9B4C-FE80-5DB6-64F6-1AB2CA098D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9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360D29-8D95-0924-AE6D-5917F8664CB7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CF1EBCD0-DCA8-C910-96C4-EAEC0AF0B8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1228" y="1150886"/>
            <a:ext cx="8565932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Giảm chiều dữ liệu với PCA(</a:t>
            </a:r>
            <a:r>
              <a:rPr lang="vi-VN" sz="2400" dirty="0" err="1"/>
              <a:t>Principal</a:t>
            </a:r>
            <a:r>
              <a:rPr lang="vi-VN" sz="2400" dirty="0"/>
              <a:t> </a:t>
            </a:r>
            <a:r>
              <a:rPr lang="vi-VN" sz="2400" dirty="0" err="1"/>
              <a:t>Component</a:t>
            </a:r>
            <a:r>
              <a:rPr lang="vi-VN" sz="2400" dirty="0"/>
              <a:t> </a:t>
            </a:r>
            <a:r>
              <a:rPr lang="vi-VN" sz="2400" dirty="0" err="1"/>
              <a:t>Analysis</a:t>
            </a:r>
            <a:r>
              <a:rPr kumimoji="0" lang="vi-VN" altLang="vi-VN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</p:txBody>
      </p:sp>
      <p:pic>
        <p:nvPicPr>
          <p:cNvPr id="1028" name="Picture 4" descr="Principal Component Analysis (PCA) Transformation | BioRender Science ...">
            <a:extLst>
              <a:ext uri="{FF2B5EF4-FFF2-40B4-BE49-F238E27FC236}">
                <a16:creationId xmlns:a16="http://schemas.microsoft.com/office/drawing/2014/main" id="{E741FE6F-599C-A72B-BB40-62DF92F61C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296" y="3429000"/>
            <a:ext cx="3605048" cy="2523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2D16BD1-90B6-483D-736E-91FEB98235DB}"/>
              </a:ext>
            </a:extLst>
          </p:cNvPr>
          <p:cNvSpPr txBox="1"/>
          <p:nvPr/>
        </p:nvSpPr>
        <p:spPr>
          <a:xfrm>
            <a:off x="704194" y="1864858"/>
            <a:ext cx="420150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000" dirty="0"/>
              <a:t>Là phương pháp giảm chiều dữ liệu bằng cách biến đổi tập đặc trưng ban đầu thành một hệ trục tọa độ mới gồm các thành phần chính</a:t>
            </a: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2D722B64-143A-FE33-A83B-FF38A0A0F7B7}"/>
              </a:ext>
            </a:extLst>
          </p:cNvPr>
          <p:cNvSpPr/>
          <p:nvPr/>
        </p:nvSpPr>
        <p:spPr>
          <a:xfrm>
            <a:off x="6248400" y="1864858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Tiến trình 10">
            <a:extLst>
              <a:ext uri="{FF2B5EF4-FFF2-40B4-BE49-F238E27FC236}">
                <a16:creationId xmlns:a16="http://schemas.microsoft.com/office/drawing/2014/main" id="{333697C1-1656-CADC-AB4F-63D756EF6EEE}"/>
              </a:ext>
            </a:extLst>
          </p:cNvPr>
          <p:cNvSpPr/>
          <p:nvPr/>
        </p:nvSpPr>
        <p:spPr>
          <a:xfrm>
            <a:off x="6248400" y="2453041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ma trận hiệp phương sai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CC42DF8F-61FD-77CF-31BA-43AD4D0C123E}"/>
              </a:ext>
            </a:extLst>
          </p:cNvPr>
          <p:cNvSpPr/>
          <p:nvPr/>
        </p:nvSpPr>
        <p:spPr>
          <a:xfrm>
            <a:off x="6248400" y="3093124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Tìm </a:t>
            </a:r>
            <a:r>
              <a:rPr lang="vi-VN" sz="1200" dirty="0" err="1"/>
              <a:t>vector</a:t>
            </a:r>
            <a:r>
              <a:rPr lang="vi-VN" sz="1200" dirty="0"/>
              <a:t> riêng, giá trị riêng</a:t>
            </a:r>
          </a:p>
        </p:txBody>
      </p:sp>
      <p:sp>
        <p:nvSpPr>
          <p:cNvPr id="14" name="Lưu đồ: Tiến trình 13">
            <a:extLst>
              <a:ext uri="{FF2B5EF4-FFF2-40B4-BE49-F238E27FC236}">
                <a16:creationId xmlns:a16="http://schemas.microsoft.com/office/drawing/2014/main" id="{2EE2767B-5ED2-E6F6-DC02-C60805090FAD}"/>
              </a:ext>
            </a:extLst>
          </p:cNvPr>
          <p:cNvSpPr/>
          <p:nvPr/>
        </p:nvSpPr>
        <p:spPr>
          <a:xfrm>
            <a:off x="6248400" y="3711834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Sắp xếp các thành phần chính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CF7CD0E3-994A-7287-9E01-8656BEEECB21}"/>
              </a:ext>
            </a:extLst>
          </p:cNvPr>
          <p:cNvSpPr/>
          <p:nvPr/>
        </p:nvSpPr>
        <p:spPr>
          <a:xfrm>
            <a:off x="6248400" y="4376680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Chọn K</a:t>
            </a:r>
          </a:p>
        </p:txBody>
      </p:sp>
      <p:sp>
        <p:nvSpPr>
          <p:cNvPr id="16" name="Lưu đồ: Tiến trình 15">
            <a:extLst>
              <a:ext uri="{FF2B5EF4-FFF2-40B4-BE49-F238E27FC236}">
                <a16:creationId xmlns:a16="http://schemas.microsoft.com/office/drawing/2014/main" id="{44708FA0-F25C-DDF4-9E83-F747843F7133}"/>
              </a:ext>
            </a:extLst>
          </p:cNvPr>
          <p:cNvSpPr/>
          <p:nvPr/>
        </p:nvSpPr>
        <p:spPr>
          <a:xfrm>
            <a:off x="6248399" y="5023040"/>
            <a:ext cx="1455683" cy="46166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100" dirty="0"/>
              <a:t>Chuyển đổi dữ liệu lên không gian mới</a:t>
            </a:r>
          </a:p>
        </p:txBody>
      </p:sp>
      <p:sp>
        <p:nvSpPr>
          <p:cNvPr id="17" name="Hình Bầu dục 16">
            <a:extLst>
              <a:ext uri="{FF2B5EF4-FFF2-40B4-BE49-F238E27FC236}">
                <a16:creationId xmlns:a16="http://schemas.microsoft.com/office/drawing/2014/main" id="{F775D5B7-E242-BD8F-547B-24278C8EC94B}"/>
              </a:ext>
            </a:extLst>
          </p:cNvPr>
          <p:cNvSpPr/>
          <p:nvPr/>
        </p:nvSpPr>
        <p:spPr>
          <a:xfrm>
            <a:off x="6211612" y="5663123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8" name="Đường kết nối Mũi tên Thẳng 17">
            <a:extLst>
              <a:ext uri="{FF2B5EF4-FFF2-40B4-BE49-F238E27FC236}">
                <a16:creationId xmlns:a16="http://schemas.microsoft.com/office/drawing/2014/main" id="{0CDBCBBB-254C-559B-483C-7DF67C07D19E}"/>
              </a:ext>
            </a:extLst>
          </p:cNvPr>
          <p:cNvCxnSpPr/>
          <p:nvPr/>
        </p:nvCxnSpPr>
        <p:spPr>
          <a:xfrm>
            <a:off x="6978764" y="220870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A2604618-5618-3265-70D3-0A710BBC1B68}"/>
              </a:ext>
            </a:extLst>
          </p:cNvPr>
          <p:cNvCxnSpPr>
            <a:cxnSpLocks/>
          </p:cNvCxnSpPr>
          <p:nvPr/>
        </p:nvCxnSpPr>
        <p:spPr>
          <a:xfrm>
            <a:off x="6981391" y="2854255"/>
            <a:ext cx="2629" cy="2469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0D5ECC86-75DD-3C40-373A-24270FA4FF47}"/>
              </a:ext>
            </a:extLst>
          </p:cNvPr>
          <p:cNvCxnSpPr/>
          <p:nvPr/>
        </p:nvCxnSpPr>
        <p:spPr>
          <a:xfrm>
            <a:off x="6968553" y="345639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Đường kết nối Mũi tên Thẳng 20">
            <a:extLst>
              <a:ext uri="{FF2B5EF4-FFF2-40B4-BE49-F238E27FC236}">
                <a16:creationId xmlns:a16="http://schemas.microsoft.com/office/drawing/2014/main" id="{20E032A0-6412-3FFC-BC57-1A1776089FBF}"/>
              </a:ext>
            </a:extLst>
          </p:cNvPr>
          <p:cNvCxnSpPr/>
          <p:nvPr/>
        </p:nvCxnSpPr>
        <p:spPr>
          <a:xfrm>
            <a:off x="6973613" y="4118835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Đường kết nối Mũi tên Thẳng 21">
            <a:extLst>
              <a:ext uri="{FF2B5EF4-FFF2-40B4-BE49-F238E27FC236}">
                <a16:creationId xmlns:a16="http://schemas.microsoft.com/office/drawing/2014/main" id="{0CD8F41C-D201-E335-4B86-71468B37E1DE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flipH="1">
            <a:off x="6976241" y="4838345"/>
            <a:ext cx="1" cy="1846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0E448566-D82E-E9AA-BBD5-7A7F0B5E4C88}"/>
              </a:ext>
            </a:extLst>
          </p:cNvPr>
          <p:cNvCxnSpPr>
            <a:cxnSpLocks/>
          </p:cNvCxnSpPr>
          <p:nvPr/>
        </p:nvCxnSpPr>
        <p:spPr>
          <a:xfrm>
            <a:off x="6974956" y="5405278"/>
            <a:ext cx="0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4496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AB0C-90C0-05B1-9DED-F6245B9DD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FC23F-278B-87C6-D3A2-73B73537F93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10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09E681F9-F9B1-C033-E637-066C609C596B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A53EBCF1-30DC-E8F3-152B-AEEA54B49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177" y="1267910"/>
            <a:ext cx="4909401" cy="23391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Phân cụm với 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K-</a:t>
            </a:r>
            <a:r>
              <a:rPr lang="vi-VN" sz="1800" dirty="0" err="1"/>
              <a:t>Means</a:t>
            </a:r>
            <a:r>
              <a:rPr lang="vi-VN" sz="1800" dirty="0"/>
              <a:t> là thuật toán phân cụm nhằm chia dữ liệu thành K nhóm sao cho các điểm trong cùng một nhóm có độ tương đồng cao.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1800" dirty="0"/>
              <a:t>- Thuật toán hoạt động bằng cách lặp hai bước chính: gán từng điểm dữ liệu vào cụm có tâm gần nhất và cập nhật lại tâm cụm bằng trung bình của các điểm đã được gán.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4E6A2E64-DC9D-B345-74CA-EB06222A0358}"/>
              </a:ext>
            </a:extLst>
          </p:cNvPr>
          <p:cNvSpPr txBox="1"/>
          <p:nvPr/>
        </p:nvSpPr>
        <p:spPr>
          <a:xfrm>
            <a:off x="5912070" y="4109581"/>
            <a:ext cx="2622331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 Quá trình này tiếp tục cho đến khi các tâm cụm hầu như không thay đổi nữa.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ClrTx/>
            </a:pPr>
            <a:r>
              <a:rPr lang="vi-VN" sz="2000" dirty="0"/>
              <a:t>- K-</a:t>
            </a:r>
            <a:r>
              <a:rPr lang="vi-VN" sz="2000" dirty="0" err="1"/>
              <a:t>Means</a:t>
            </a:r>
            <a:r>
              <a:rPr lang="vi-VN" sz="2000" dirty="0"/>
              <a:t> đơn giản, dễ triển khai</a:t>
            </a:r>
          </a:p>
          <a:p>
            <a:endParaRPr lang="vi-VN" sz="2000" dirty="0"/>
          </a:p>
        </p:txBody>
      </p:sp>
      <p:pic>
        <p:nvPicPr>
          <p:cNvPr id="3" name="Picture 2" descr="K-Means Clustering From Scratch in Python [Algorithm Explained] - AskPython">
            <a:extLst>
              <a:ext uri="{FF2B5EF4-FFF2-40B4-BE49-F238E27FC236}">
                <a16:creationId xmlns:a16="http://schemas.microsoft.com/office/drawing/2014/main" id="{E48E2EEB-EE75-796C-080C-5931E2A6DF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30" y="3560806"/>
            <a:ext cx="4988033" cy="2992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Machine Learning: Algorithm Classification Overview">
            <a:extLst>
              <a:ext uri="{FF2B5EF4-FFF2-40B4-BE49-F238E27FC236}">
                <a16:creationId xmlns:a16="http://schemas.microsoft.com/office/drawing/2014/main" id="{57F0117B-0BFF-AF0B-5909-71FBA68B8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0281" y="1267910"/>
            <a:ext cx="3652542" cy="2064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13358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8E0DC-5CC8-F724-A921-C13586845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EA2894-EBBE-BB74-D96D-27D5FE2A77B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11</a:t>
            </a:fld>
            <a:endParaRPr lang="en-US"/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74BCDDC0-FE3C-C86C-F8DF-F26A541173D0}"/>
              </a:ext>
            </a:extLst>
          </p:cNvPr>
          <p:cNvSpPr txBox="1"/>
          <p:nvPr/>
        </p:nvSpPr>
        <p:spPr>
          <a:xfrm>
            <a:off x="336330" y="252248"/>
            <a:ext cx="60644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A426C9D-9495-7C37-72CF-2ABCD4EE4B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119190"/>
            <a:ext cx="7036677" cy="40011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K-</a:t>
            </a:r>
            <a:r>
              <a:rPr kumimoji="0" lang="vi-VN" altLang="vi-VN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means</a:t>
            </a:r>
            <a:endParaRPr kumimoji="0" lang="vi-VN" altLang="vi-VN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Hình Bầu dục 9">
            <a:extLst>
              <a:ext uri="{FF2B5EF4-FFF2-40B4-BE49-F238E27FC236}">
                <a16:creationId xmlns:a16="http://schemas.microsoft.com/office/drawing/2014/main" id="{1FEE8A92-B279-11AC-E642-FA60A417C443}"/>
              </a:ext>
            </a:extLst>
          </p:cNvPr>
          <p:cNvSpPr/>
          <p:nvPr/>
        </p:nvSpPr>
        <p:spPr>
          <a:xfrm>
            <a:off x="1379481" y="1243280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Bắt đầu</a:t>
            </a:r>
          </a:p>
        </p:txBody>
      </p:sp>
      <p:sp>
        <p:nvSpPr>
          <p:cNvPr id="11" name="Lưu đồ: Dữ liệu 10">
            <a:extLst>
              <a:ext uri="{FF2B5EF4-FFF2-40B4-BE49-F238E27FC236}">
                <a16:creationId xmlns:a16="http://schemas.microsoft.com/office/drawing/2014/main" id="{D0A1A08D-890C-99A5-DDA2-980804E645D3}"/>
              </a:ext>
            </a:extLst>
          </p:cNvPr>
          <p:cNvSpPr/>
          <p:nvPr/>
        </p:nvSpPr>
        <p:spPr>
          <a:xfrm>
            <a:off x="1241860" y="1944351"/>
            <a:ext cx="1730923" cy="469825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Ảnh đầu vào</a:t>
            </a:r>
          </a:p>
        </p:txBody>
      </p:sp>
      <p:sp>
        <p:nvSpPr>
          <p:cNvPr id="12" name="Lưu đồ: Tiến trình 11">
            <a:extLst>
              <a:ext uri="{FF2B5EF4-FFF2-40B4-BE49-F238E27FC236}">
                <a16:creationId xmlns:a16="http://schemas.microsoft.com/office/drawing/2014/main" id="{AC298B8D-CFDD-9BA8-3F8D-295B9E39C18E}"/>
              </a:ext>
            </a:extLst>
          </p:cNvPr>
          <p:cNvSpPr/>
          <p:nvPr/>
        </p:nvSpPr>
        <p:spPr>
          <a:xfrm>
            <a:off x="1241862" y="265358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Khởi tạo tâm cụm</a:t>
            </a:r>
          </a:p>
        </p:txBody>
      </p:sp>
      <p:sp>
        <p:nvSpPr>
          <p:cNvPr id="13" name="Lưu đồ: Tiến trình 12">
            <a:extLst>
              <a:ext uri="{FF2B5EF4-FFF2-40B4-BE49-F238E27FC236}">
                <a16:creationId xmlns:a16="http://schemas.microsoft.com/office/drawing/2014/main" id="{9FBA03BD-DF93-FCA8-8D37-03A970A71510}"/>
              </a:ext>
            </a:extLst>
          </p:cNvPr>
          <p:cNvSpPr/>
          <p:nvPr/>
        </p:nvSpPr>
        <p:spPr>
          <a:xfrm>
            <a:off x="1241862" y="3347768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Tính khoảng cách, gán điểm vào cụm</a:t>
            </a:r>
          </a:p>
        </p:txBody>
      </p:sp>
      <p:sp>
        <p:nvSpPr>
          <p:cNvPr id="15" name="Lưu đồ: Tiến trình 14">
            <a:extLst>
              <a:ext uri="{FF2B5EF4-FFF2-40B4-BE49-F238E27FC236}">
                <a16:creationId xmlns:a16="http://schemas.microsoft.com/office/drawing/2014/main" id="{607435CD-A177-A655-6D5A-B2BB9FCE5922}"/>
              </a:ext>
            </a:extLst>
          </p:cNvPr>
          <p:cNvSpPr/>
          <p:nvPr/>
        </p:nvSpPr>
        <p:spPr>
          <a:xfrm>
            <a:off x="1241862" y="4041954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Cập nhật tâm cụm</a:t>
            </a:r>
          </a:p>
        </p:txBody>
      </p:sp>
      <p:sp>
        <p:nvSpPr>
          <p:cNvPr id="16" name="Lưu Đồ: Quyết Định 15">
            <a:extLst>
              <a:ext uri="{FF2B5EF4-FFF2-40B4-BE49-F238E27FC236}">
                <a16:creationId xmlns:a16="http://schemas.microsoft.com/office/drawing/2014/main" id="{4EC02AE8-FD5D-CCFB-DB36-DE3316D9E63B}"/>
              </a:ext>
            </a:extLst>
          </p:cNvPr>
          <p:cNvSpPr/>
          <p:nvPr/>
        </p:nvSpPr>
        <p:spPr>
          <a:xfrm>
            <a:off x="1104241" y="4736140"/>
            <a:ext cx="1868542" cy="739786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Kiểm tra hội tụ</a:t>
            </a:r>
          </a:p>
        </p:txBody>
      </p:sp>
      <p:sp>
        <p:nvSpPr>
          <p:cNvPr id="17" name="Lưu đồ: Tiến trình 16">
            <a:extLst>
              <a:ext uri="{FF2B5EF4-FFF2-40B4-BE49-F238E27FC236}">
                <a16:creationId xmlns:a16="http://schemas.microsoft.com/office/drawing/2014/main" id="{8DBD6366-D411-09CB-5FC4-FF2D083B80A3}"/>
              </a:ext>
            </a:extLst>
          </p:cNvPr>
          <p:cNvSpPr/>
          <p:nvPr/>
        </p:nvSpPr>
        <p:spPr>
          <a:xfrm>
            <a:off x="1241860" y="5642502"/>
            <a:ext cx="1593302" cy="469825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Xuất kết quả</a:t>
            </a:r>
          </a:p>
        </p:txBody>
      </p:sp>
      <p:sp>
        <p:nvSpPr>
          <p:cNvPr id="18" name="Hình Bầu dục 17">
            <a:extLst>
              <a:ext uri="{FF2B5EF4-FFF2-40B4-BE49-F238E27FC236}">
                <a16:creationId xmlns:a16="http://schemas.microsoft.com/office/drawing/2014/main" id="{C0978133-8CFB-006F-2F61-90C29246C573}"/>
              </a:ext>
            </a:extLst>
          </p:cNvPr>
          <p:cNvSpPr/>
          <p:nvPr/>
        </p:nvSpPr>
        <p:spPr>
          <a:xfrm>
            <a:off x="1310669" y="6308079"/>
            <a:ext cx="1455683" cy="461665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dirty="0"/>
              <a:t>Kết thúc</a:t>
            </a:r>
          </a:p>
        </p:txBody>
      </p:sp>
      <p:cxnSp>
        <p:nvCxnSpPr>
          <p:cNvPr id="19" name="Đường kết nối Mũi tên Thẳng 18">
            <a:extLst>
              <a:ext uri="{FF2B5EF4-FFF2-40B4-BE49-F238E27FC236}">
                <a16:creationId xmlns:a16="http://schemas.microsoft.com/office/drawing/2014/main" id="{DA3955FF-7C39-EDB6-89FB-EE96DACBFB86}"/>
              </a:ext>
            </a:extLst>
          </p:cNvPr>
          <p:cNvCxnSpPr>
            <a:cxnSpLocks/>
          </p:cNvCxnSpPr>
          <p:nvPr/>
        </p:nvCxnSpPr>
        <p:spPr>
          <a:xfrm flipH="1">
            <a:off x="2035882" y="1704945"/>
            <a:ext cx="1" cy="2394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Đường kết nối Mũi tên Thẳng 19">
            <a:extLst>
              <a:ext uri="{FF2B5EF4-FFF2-40B4-BE49-F238E27FC236}">
                <a16:creationId xmlns:a16="http://schemas.microsoft.com/office/drawing/2014/main" id="{4BA43E45-DA7B-48D4-F346-CEFB4665EC65}"/>
              </a:ext>
            </a:extLst>
          </p:cNvPr>
          <p:cNvCxnSpPr/>
          <p:nvPr/>
        </p:nvCxnSpPr>
        <p:spPr>
          <a:xfrm>
            <a:off x="2035883" y="2412479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Đường kết nối Mũi tên Thẳng 22">
            <a:extLst>
              <a:ext uri="{FF2B5EF4-FFF2-40B4-BE49-F238E27FC236}">
                <a16:creationId xmlns:a16="http://schemas.microsoft.com/office/drawing/2014/main" id="{CB0D5E44-AA3A-9FA4-7E2D-CD55B00403F2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2035883" y="3120970"/>
            <a:ext cx="2630" cy="2267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Đường kết nối Mũi tên Thẳng 24">
            <a:extLst>
              <a:ext uri="{FF2B5EF4-FFF2-40B4-BE49-F238E27FC236}">
                <a16:creationId xmlns:a16="http://schemas.microsoft.com/office/drawing/2014/main" id="{2FDE6CDB-ECF4-EA55-443D-733E2FEDE0BB}"/>
              </a:ext>
            </a:extLst>
          </p:cNvPr>
          <p:cNvCxnSpPr/>
          <p:nvPr/>
        </p:nvCxnSpPr>
        <p:spPr>
          <a:xfrm>
            <a:off x="2035882" y="3771913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Đường kết nối Mũi tên Thẳng 25">
            <a:extLst>
              <a:ext uri="{FF2B5EF4-FFF2-40B4-BE49-F238E27FC236}">
                <a16:creationId xmlns:a16="http://schemas.microsoft.com/office/drawing/2014/main" id="{713424FF-5535-1620-EB66-9963BA10882F}"/>
              </a:ext>
            </a:extLst>
          </p:cNvPr>
          <p:cNvCxnSpPr/>
          <p:nvPr/>
        </p:nvCxnSpPr>
        <p:spPr>
          <a:xfrm>
            <a:off x="2033255" y="4489781"/>
            <a:ext cx="2627" cy="257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Đường kết nối Mũi tên Thẳng 26">
            <a:extLst>
              <a:ext uri="{FF2B5EF4-FFF2-40B4-BE49-F238E27FC236}">
                <a16:creationId xmlns:a16="http://schemas.microsoft.com/office/drawing/2014/main" id="{6EA710A7-4CF2-34A8-B713-942D4679E831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592353" y="3582681"/>
            <a:ext cx="64950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Đường nối Thẳng 30">
            <a:extLst>
              <a:ext uri="{FF2B5EF4-FFF2-40B4-BE49-F238E27FC236}">
                <a16:creationId xmlns:a16="http://schemas.microsoft.com/office/drawing/2014/main" id="{843026D0-EE70-C5E7-8E07-05350D267235}"/>
              </a:ext>
            </a:extLst>
          </p:cNvPr>
          <p:cNvCxnSpPr/>
          <p:nvPr/>
        </p:nvCxnSpPr>
        <p:spPr>
          <a:xfrm>
            <a:off x="592353" y="3582681"/>
            <a:ext cx="0" cy="153224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Đường nối Thẳng 31">
            <a:extLst>
              <a:ext uri="{FF2B5EF4-FFF2-40B4-BE49-F238E27FC236}">
                <a16:creationId xmlns:a16="http://schemas.microsoft.com/office/drawing/2014/main" id="{496D296D-9257-794B-9D0E-701F89604CB2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592353" y="5106032"/>
            <a:ext cx="511888" cy="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Đường nối Thẳng 35">
            <a:extLst>
              <a:ext uri="{FF2B5EF4-FFF2-40B4-BE49-F238E27FC236}">
                <a16:creationId xmlns:a16="http://schemas.microsoft.com/office/drawing/2014/main" id="{88FE23BF-AC1B-C625-D96C-9FAAC8337D2D}"/>
              </a:ext>
            </a:extLst>
          </p:cNvPr>
          <p:cNvCxnSpPr>
            <a:cxnSpLocks/>
            <a:endCxn id="16" idx="3"/>
          </p:cNvCxnSpPr>
          <p:nvPr/>
        </p:nvCxnSpPr>
        <p:spPr>
          <a:xfrm flipH="1" flipV="1">
            <a:off x="2972783" y="5106033"/>
            <a:ext cx="547657" cy="88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Đường nối Thẳng 39">
            <a:extLst>
              <a:ext uri="{FF2B5EF4-FFF2-40B4-BE49-F238E27FC236}">
                <a16:creationId xmlns:a16="http://schemas.microsoft.com/office/drawing/2014/main" id="{A9477284-E2D7-EEA2-7588-7EFE8C948532}"/>
              </a:ext>
            </a:extLst>
          </p:cNvPr>
          <p:cNvCxnSpPr/>
          <p:nvPr/>
        </p:nvCxnSpPr>
        <p:spPr>
          <a:xfrm>
            <a:off x="3520440" y="5106032"/>
            <a:ext cx="0" cy="7766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Đường kết nối Mũi tên Thẳng 41">
            <a:extLst>
              <a:ext uri="{FF2B5EF4-FFF2-40B4-BE49-F238E27FC236}">
                <a16:creationId xmlns:a16="http://schemas.microsoft.com/office/drawing/2014/main" id="{0781190B-07AC-E409-1939-7C7D4F29E300}"/>
              </a:ext>
            </a:extLst>
          </p:cNvPr>
          <p:cNvCxnSpPr>
            <a:endCxn id="17" idx="3"/>
          </p:cNvCxnSpPr>
          <p:nvPr/>
        </p:nvCxnSpPr>
        <p:spPr>
          <a:xfrm flipH="1" flipV="1">
            <a:off x="2835162" y="5877415"/>
            <a:ext cx="685278" cy="5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Lưu đồ: Điểm Kết Thúc 42">
            <a:extLst>
              <a:ext uri="{FF2B5EF4-FFF2-40B4-BE49-F238E27FC236}">
                <a16:creationId xmlns:a16="http://schemas.microsoft.com/office/drawing/2014/main" id="{51440439-F856-917E-ADC7-DC4A0CB08ACF}"/>
              </a:ext>
            </a:extLst>
          </p:cNvPr>
          <p:cNvSpPr/>
          <p:nvPr/>
        </p:nvSpPr>
        <p:spPr>
          <a:xfrm>
            <a:off x="67430" y="5241018"/>
            <a:ext cx="1312051" cy="234907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/>
              <a:t>Chưa hội tụ</a:t>
            </a:r>
            <a:endParaRPr lang="vi-VN" dirty="0"/>
          </a:p>
        </p:txBody>
      </p:sp>
      <p:sp>
        <p:nvSpPr>
          <p:cNvPr id="46" name="Lưu đồ: Điểm Kết Thúc 45">
            <a:extLst>
              <a:ext uri="{FF2B5EF4-FFF2-40B4-BE49-F238E27FC236}">
                <a16:creationId xmlns:a16="http://schemas.microsoft.com/office/drawing/2014/main" id="{F59C6466-2C0C-BD1B-66FD-9209CD44254B}"/>
              </a:ext>
            </a:extLst>
          </p:cNvPr>
          <p:cNvSpPr/>
          <p:nvPr/>
        </p:nvSpPr>
        <p:spPr>
          <a:xfrm>
            <a:off x="2917275" y="4803633"/>
            <a:ext cx="900346" cy="240154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200" dirty="0"/>
              <a:t>Đã hội tụ</a:t>
            </a:r>
          </a:p>
        </p:txBody>
      </p:sp>
      <p:pic>
        <p:nvPicPr>
          <p:cNvPr id="48" name="Hình ảnh 47">
            <a:extLst>
              <a:ext uri="{FF2B5EF4-FFF2-40B4-BE49-F238E27FC236}">
                <a16:creationId xmlns:a16="http://schemas.microsoft.com/office/drawing/2014/main" id="{45C6A272-CC83-AD46-56FC-62D09212C8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344" y="1333263"/>
            <a:ext cx="4824909" cy="2260667"/>
          </a:xfrm>
          <a:prstGeom prst="rect">
            <a:avLst/>
          </a:prstGeom>
        </p:spPr>
      </p:pic>
      <p:pic>
        <p:nvPicPr>
          <p:cNvPr id="50" name="Hình ảnh 49">
            <a:extLst>
              <a:ext uri="{FF2B5EF4-FFF2-40B4-BE49-F238E27FC236}">
                <a16:creationId xmlns:a16="http://schemas.microsoft.com/office/drawing/2014/main" id="{11E12F5F-26BE-802C-AFE7-5BCC8B4A27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88344" y="3596705"/>
            <a:ext cx="4908829" cy="23018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503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B7805-BC0D-69D1-4A12-DFDAC3B5D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92E9A-15A3-E5E1-DCB4-177959511C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12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1156D56D-55D9-7AE9-1B8C-F6EA367A9CA2}"/>
              </a:ext>
            </a:extLst>
          </p:cNvPr>
          <p:cNvSpPr txBox="1"/>
          <p:nvPr/>
        </p:nvSpPr>
        <p:spPr>
          <a:xfrm>
            <a:off x="357353" y="210206"/>
            <a:ext cx="59488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b="1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Thuật toán và tập dữ liệu</a:t>
            </a:r>
          </a:p>
        </p:txBody>
      </p:sp>
      <p:sp>
        <p:nvSpPr>
          <p:cNvPr id="2" name="Hộp Văn bản 1">
            <a:extLst>
              <a:ext uri="{FF2B5EF4-FFF2-40B4-BE49-F238E27FC236}">
                <a16:creationId xmlns:a16="http://schemas.microsoft.com/office/drawing/2014/main" id="{2459C680-0D60-3A14-EEFB-01E596B1E828}"/>
              </a:ext>
            </a:extLst>
          </p:cNvPr>
          <p:cNvSpPr txBox="1"/>
          <p:nvPr/>
        </p:nvSpPr>
        <p:spPr>
          <a:xfrm>
            <a:off x="199697" y="1313792"/>
            <a:ext cx="484526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/>
              <a:t>Tập dữ liệu </a:t>
            </a:r>
            <a:r>
              <a:rPr lang="vi-VN" sz="2800" b="1" dirty="0"/>
              <a:t>FER2013</a:t>
            </a:r>
            <a:r>
              <a:rPr lang="vi-VN" sz="2800" dirty="0"/>
              <a:t>: 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Gồm 35.887 ảnh khuôn mặt căn đúng giữa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Ảnh mức xám, 48x48</a:t>
            </a:r>
          </a:p>
          <a:p>
            <a:pPr marL="457200" indent="-457200">
              <a:buFontTx/>
              <a:buChar char="-"/>
            </a:pPr>
            <a:r>
              <a:rPr lang="vi-VN" sz="2800" dirty="0"/>
              <a:t>Được phân ra thành 2 mục: </a:t>
            </a:r>
            <a:r>
              <a:rPr lang="vi-VN" sz="2800" dirty="0" err="1"/>
              <a:t>Training</a:t>
            </a:r>
            <a:r>
              <a:rPr lang="vi-VN" sz="2800" dirty="0"/>
              <a:t> và </a:t>
            </a:r>
            <a:r>
              <a:rPr lang="vi-VN" sz="2800" dirty="0" err="1"/>
              <a:t>Test</a:t>
            </a:r>
            <a:endParaRPr lang="vi-VN" sz="2800" dirty="0"/>
          </a:p>
          <a:p>
            <a:pPr marL="457200" indent="-457200">
              <a:buFontTx/>
              <a:buChar char="-"/>
            </a:pPr>
            <a:r>
              <a:rPr lang="vi-VN" sz="2800" dirty="0"/>
              <a:t>Theo 7 cảm xúc: </a:t>
            </a:r>
            <a:r>
              <a:rPr lang="en-US" sz="2800" dirty="0"/>
              <a:t>0. Angry, 1.Disgust, 2.Fear, 3.Happy, 4.Sad, 5.Surprise, 6.Neutral</a:t>
            </a:r>
            <a:endParaRPr lang="vi-VN" sz="2800" dirty="0"/>
          </a:p>
        </p:txBody>
      </p:sp>
      <p:pic>
        <p:nvPicPr>
          <p:cNvPr id="1028" name="Picture 4" descr="FER-2013 | Wolfram Data Repository">
            <a:extLst>
              <a:ext uri="{FF2B5EF4-FFF2-40B4-BE49-F238E27FC236}">
                <a16:creationId xmlns:a16="http://schemas.microsoft.com/office/drawing/2014/main" id="{3A116AD5-7C44-E515-C016-DE2813BF47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7153" y="1436024"/>
            <a:ext cx="4297149" cy="23582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89B5C975-FE0E-44C1-E3D8-311D759AA872}"/>
              </a:ext>
            </a:extLst>
          </p:cNvPr>
          <p:cNvSpPr txBox="1"/>
          <p:nvPr/>
        </p:nvSpPr>
        <p:spPr>
          <a:xfrm>
            <a:off x="5207876" y="4035972"/>
            <a:ext cx="357351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dirty="0"/>
              <a:t>- Lấy ra 300 ảnh từ mỗi thư mục cảm xúc để </a:t>
            </a:r>
            <a:r>
              <a:rPr lang="vi-VN" sz="2400" dirty="0" err="1"/>
              <a:t>training</a:t>
            </a:r>
            <a:r>
              <a:rPr lang="vi-VN" sz="2400" dirty="0"/>
              <a:t>, và 300 ảnh từ mỗi thư mục để </a:t>
            </a:r>
            <a:r>
              <a:rPr lang="vi-VN" sz="2400" dirty="0" err="1"/>
              <a:t>test</a:t>
            </a:r>
            <a:endParaRPr lang="vi-VN" sz="2400" dirty="0"/>
          </a:p>
        </p:txBody>
      </p:sp>
    </p:spTree>
    <p:extLst>
      <p:ext uri="{BB962C8B-B14F-4D97-AF65-F5344CB8AC3E}">
        <p14:creationId xmlns:p14="http://schemas.microsoft.com/office/powerpoint/2010/main" val="4111933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968B5D-42DB-CE92-6E3F-5A7E5721F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E7C5111-690B-C0F5-61DE-FC58C5995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47D200C2-F03D-ECE7-4241-9D627A21DF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13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4550766-A523-583A-0474-7975D30EAE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835" y="135580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DA1F43C7-45C1-2268-2250-26401EA6DDF1}"/>
              </a:ext>
            </a:extLst>
          </p:cNvPr>
          <p:cNvSpPr txBox="1"/>
          <p:nvPr/>
        </p:nvSpPr>
        <p:spPr>
          <a:xfrm>
            <a:off x="1103587" y="2648043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Angry</a:t>
            </a:r>
            <a:endParaRPr lang="vi-VN" b="1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71756C7-41C8-9436-1250-83909BFF36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135580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511D1419-034E-81F0-87ED-062A67459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5523" y="1355801"/>
            <a:ext cx="1079939" cy="1079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2A3074A9-32EB-3E50-16E6-440A78F8894E}"/>
              </a:ext>
            </a:extLst>
          </p:cNvPr>
          <p:cNvSpPr txBox="1"/>
          <p:nvPr/>
        </p:nvSpPr>
        <p:spPr>
          <a:xfrm>
            <a:off x="3655628" y="2640527"/>
            <a:ext cx="9163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Disgust</a:t>
            </a:r>
            <a:endParaRPr lang="vi-VN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7C904647-8B7A-1BCC-42B5-74CED4CA9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1867" y="1355801"/>
            <a:ext cx="1090448" cy="1090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B8DA9805-EFDF-C4C1-420C-87B22E439F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03" y="3121223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D2465CD9-A86C-B767-8B9E-AE5CDB31D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3121223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0" name="Picture 12">
            <a:extLst>
              <a:ext uri="{FF2B5EF4-FFF2-40B4-BE49-F238E27FC236}">
                <a16:creationId xmlns:a16="http://schemas.microsoft.com/office/drawing/2014/main" id="{E5ED9286-45D6-637F-5A06-EB378AB1E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5523" y="3153091"/>
            <a:ext cx="1079938" cy="1079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5B699B90-57BE-CB26-7F5D-C56951934C10}"/>
              </a:ext>
            </a:extLst>
          </p:cNvPr>
          <p:cNvSpPr txBox="1"/>
          <p:nvPr/>
        </p:nvSpPr>
        <p:spPr>
          <a:xfrm>
            <a:off x="1103587" y="4371650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b="1" dirty="0" err="1"/>
              <a:t>Fear</a:t>
            </a:r>
            <a:endParaRPr lang="vi-VN" b="1" dirty="0"/>
          </a:p>
        </p:txBody>
      </p:sp>
      <p:pic>
        <p:nvPicPr>
          <p:cNvPr id="2062" name="Picture 14">
            <a:extLst>
              <a:ext uri="{FF2B5EF4-FFF2-40B4-BE49-F238E27FC236}">
                <a16:creationId xmlns:a16="http://schemas.microsoft.com/office/drawing/2014/main" id="{98968E92-C7D3-7762-5333-4C6A2DAEAE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3399" y="3121223"/>
            <a:ext cx="1058916" cy="1058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4CC776FF-D03F-875C-95C3-0838ADBEE1B0}"/>
              </a:ext>
            </a:extLst>
          </p:cNvPr>
          <p:cNvSpPr txBox="1"/>
          <p:nvPr/>
        </p:nvSpPr>
        <p:spPr>
          <a:xfrm>
            <a:off x="3752193" y="4371650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 dirty="0" err="1"/>
              <a:t>Happy</a:t>
            </a:r>
            <a:endParaRPr lang="vi-VN" b="1" dirty="0"/>
          </a:p>
        </p:txBody>
      </p:sp>
      <p:pic>
        <p:nvPicPr>
          <p:cNvPr id="2064" name="Picture 16">
            <a:extLst>
              <a:ext uri="{FF2B5EF4-FFF2-40B4-BE49-F238E27FC236}">
                <a16:creationId xmlns:a16="http://schemas.microsoft.com/office/drawing/2014/main" id="{CDBC0CC8-4F5D-1FC2-9B74-1720A688EB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2712" y="138733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6" name="Picture 18">
            <a:extLst>
              <a:ext uri="{FF2B5EF4-FFF2-40B4-BE49-F238E27FC236}">
                <a16:creationId xmlns:a16="http://schemas.microsoft.com/office/drawing/2014/main" id="{F8F51C2D-87AF-9A3D-F603-AE314B51E2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954" y="137682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C3898183-82CC-E0A6-EAFB-E7CC9B78FE10}"/>
              </a:ext>
            </a:extLst>
          </p:cNvPr>
          <p:cNvSpPr txBox="1"/>
          <p:nvPr/>
        </p:nvSpPr>
        <p:spPr>
          <a:xfrm>
            <a:off x="6852744" y="2640526"/>
            <a:ext cx="11876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b="1" dirty="0" err="1"/>
              <a:t>Neutral</a:t>
            </a:r>
            <a:endParaRPr lang="vi-VN" b="1" dirty="0"/>
          </a:p>
        </p:txBody>
      </p:sp>
      <p:pic>
        <p:nvPicPr>
          <p:cNvPr id="2068" name="Picture 20">
            <a:extLst>
              <a:ext uri="{FF2B5EF4-FFF2-40B4-BE49-F238E27FC236}">
                <a16:creationId xmlns:a16="http://schemas.microsoft.com/office/drawing/2014/main" id="{996C035D-45CE-BFE1-77B8-1A6C9BA5E6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1179" y="3121223"/>
            <a:ext cx="1090448" cy="1090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70" name="Picture 22">
            <a:extLst>
              <a:ext uri="{FF2B5EF4-FFF2-40B4-BE49-F238E27FC236}">
                <a16:creationId xmlns:a16="http://schemas.microsoft.com/office/drawing/2014/main" id="{D83DEDB4-E3B3-BDFB-44EB-44AAEE905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0955" y="3121224"/>
            <a:ext cx="1058915" cy="10589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4F72B1ED-7D9D-A16B-8B2C-47FFC9A2BD6A}"/>
              </a:ext>
            </a:extLst>
          </p:cNvPr>
          <p:cNvSpPr txBox="1"/>
          <p:nvPr/>
        </p:nvSpPr>
        <p:spPr>
          <a:xfrm>
            <a:off x="7076745" y="4422549"/>
            <a:ext cx="739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/>
              <a:t>Sad</a:t>
            </a:r>
            <a:endParaRPr lang="vi-VN" b="1" dirty="0"/>
          </a:p>
        </p:txBody>
      </p:sp>
      <p:pic>
        <p:nvPicPr>
          <p:cNvPr id="2072" name="Picture 24">
            <a:extLst>
              <a:ext uri="{FF2B5EF4-FFF2-40B4-BE49-F238E27FC236}">
                <a16:creationId xmlns:a16="http://schemas.microsoft.com/office/drawing/2014/main" id="{EB538EC9-AE15-6B6D-323B-E8ACFBD63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03" y="4886645"/>
            <a:ext cx="1035270" cy="10352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Hộp Văn bản 12">
            <a:extLst>
              <a:ext uri="{FF2B5EF4-FFF2-40B4-BE49-F238E27FC236}">
                <a16:creationId xmlns:a16="http://schemas.microsoft.com/office/drawing/2014/main" id="{FDF8682C-8F83-DC18-9E16-B0BEFE55597C}"/>
              </a:ext>
            </a:extLst>
          </p:cNvPr>
          <p:cNvSpPr txBox="1"/>
          <p:nvPr/>
        </p:nvSpPr>
        <p:spPr>
          <a:xfrm>
            <a:off x="1072055" y="6129133"/>
            <a:ext cx="9301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/>
              <a:t>Surprise</a:t>
            </a:r>
            <a:endParaRPr lang="vi-VN" b="1" dirty="0"/>
          </a:p>
        </p:txBody>
      </p:sp>
      <p:pic>
        <p:nvPicPr>
          <p:cNvPr id="2074" name="Picture 26">
            <a:extLst>
              <a:ext uri="{FF2B5EF4-FFF2-40B4-BE49-F238E27FC236}">
                <a16:creationId xmlns:a16="http://schemas.microsoft.com/office/drawing/2014/main" id="{BA9660F5-323D-4737-E93B-824ABD386D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9179" y="4849916"/>
            <a:ext cx="1090447" cy="1090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Hộp Văn bản 13">
            <a:extLst>
              <a:ext uri="{FF2B5EF4-FFF2-40B4-BE49-F238E27FC236}">
                <a16:creationId xmlns:a16="http://schemas.microsoft.com/office/drawing/2014/main" id="{181BE7BB-B0D4-517E-9077-1E2A5CD79D98}"/>
              </a:ext>
            </a:extLst>
          </p:cNvPr>
          <p:cNvSpPr txBox="1"/>
          <p:nvPr/>
        </p:nvSpPr>
        <p:spPr>
          <a:xfrm>
            <a:off x="3538044" y="4886645"/>
            <a:ext cx="49017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xét:</a:t>
            </a:r>
            <a:r>
              <a:rPr lang="vi-VN" sz="2400" dirty="0"/>
              <a:t> </a:t>
            </a:r>
            <a:r>
              <a:rPr lang="vi-VN" sz="2400" dirty="0" err="1"/>
              <a:t>dataset</a:t>
            </a:r>
            <a:r>
              <a:rPr lang="vi-VN" sz="2400" dirty="0"/>
              <a:t> rất khó, nhiều nhiễu, các ảnh được phân loại rất giống nhau và không dễ gán nhãn</a:t>
            </a:r>
          </a:p>
        </p:txBody>
      </p:sp>
    </p:spTree>
    <p:extLst>
      <p:ext uri="{BB962C8B-B14F-4D97-AF65-F5344CB8AC3E}">
        <p14:creationId xmlns:p14="http://schemas.microsoft.com/office/powerpoint/2010/main" val="4990018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CBAD5-A6AC-4BD4-5601-AD403923A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AE95368-40BA-8609-6984-ADF3200C66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9DB168C-ECCF-8B7A-44B2-8917A8D9DD6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35256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3A80F-45FE-D6D1-B82D-CEB40E0E7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C55ADEC2-3317-C5B5-6BC3-1905F0302D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E17D3728-AD5B-70A8-27C7-4A5040E7786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15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CCC69F69-BCA7-2132-8245-15D44A9176D5}"/>
              </a:ext>
            </a:extLst>
          </p:cNvPr>
          <p:cNvSpPr txBox="1"/>
          <p:nvPr/>
        </p:nvSpPr>
        <p:spPr>
          <a:xfrm>
            <a:off x="402021" y="1984415"/>
            <a:ext cx="290873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0.50 -&gt; </a:t>
            </a:r>
            <a:r>
              <a:rPr lang="vi-VN" sz="1800" dirty="0" err="1"/>
              <a:t>Accuracy</a:t>
            </a:r>
            <a:r>
              <a:rPr lang="vi-VN" sz="1800" dirty="0"/>
              <a:t> TEST: 0.2025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0.60 -&gt; </a:t>
            </a:r>
            <a:r>
              <a:rPr lang="vi-VN" sz="1800" dirty="0" err="1"/>
              <a:t>Accuracy</a:t>
            </a:r>
            <a:r>
              <a:rPr lang="vi-VN" sz="1800" dirty="0"/>
              <a:t> TEST: 0.2156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0.70 -&gt; </a:t>
            </a:r>
            <a:r>
              <a:rPr lang="vi-VN" sz="1800" dirty="0" err="1"/>
              <a:t>Accuracy</a:t>
            </a:r>
            <a:r>
              <a:rPr lang="vi-VN" sz="1800" dirty="0"/>
              <a:t> TEST: 0.2025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0.80 -&gt; </a:t>
            </a:r>
            <a:r>
              <a:rPr lang="vi-VN" sz="1800" dirty="0" err="1"/>
              <a:t>Accuracy</a:t>
            </a:r>
            <a:r>
              <a:rPr lang="vi-VN" sz="1800" dirty="0"/>
              <a:t> TEST: 0.2051</a:t>
            </a:r>
          </a:p>
          <a:p>
            <a:r>
              <a:rPr lang="vi-VN" sz="1800" b="1" dirty="0"/>
              <a:t>PCA </a:t>
            </a:r>
            <a:r>
              <a:rPr lang="vi-VN" sz="1800" b="1" dirty="0" err="1"/>
              <a:t>yeu</a:t>
            </a:r>
            <a:r>
              <a:rPr lang="vi-VN" sz="1800" b="1" dirty="0"/>
              <a:t> cau 0.90 -&gt; </a:t>
            </a:r>
            <a:r>
              <a:rPr lang="vi-VN" sz="1800" b="1" dirty="0" err="1"/>
              <a:t>Accuracy</a:t>
            </a:r>
            <a:r>
              <a:rPr lang="vi-VN" sz="1800" b="1" dirty="0"/>
              <a:t> TEST: 0.2292</a:t>
            </a:r>
          </a:p>
          <a:p>
            <a:r>
              <a:rPr lang="vi-VN" sz="1800" dirty="0"/>
              <a:t>PCA </a:t>
            </a:r>
            <a:r>
              <a:rPr lang="vi-VN" sz="1800" dirty="0" err="1"/>
              <a:t>yeu</a:t>
            </a:r>
            <a:r>
              <a:rPr lang="vi-VN" sz="1800" dirty="0"/>
              <a:t> cau 0.95 -&gt; </a:t>
            </a:r>
            <a:r>
              <a:rPr lang="vi-VN" sz="1800" dirty="0" err="1"/>
              <a:t>Accuracy</a:t>
            </a:r>
            <a:r>
              <a:rPr lang="vi-VN" sz="1800" dirty="0"/>
              <a:t> TEST: 0.2114</a:t>
            </a:r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71B53EC-5499-FE69-CE12-7BE9BF04E94F}"/>
              </a:ext>
            </a:extLst>
          </p:cNvPr>
          <p:cNvSpPr txBox="1"/>
          <p:nvPr/>
        </p:nvSpPr>
        <p:spPr>
          <a:xfrm>
            <a:off x="4025462" y="1296702"/>
            <a:ext cx="57806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 err="1"/>
              <a:t>Accuracy</a:t>
            </a:r>
            <a:r>
              <a:rPr lang="vi-VN" sz="2000" b="1" dirty="0"/>
              <a:t> tốt nhất tại mức PCA = 0.90</a:t>
            </a:r>
          </a:p>
        </p:txBody>
      </p:sp>
      <p:pic>
        <p:nvPicPr>
          <p:cNvPr id="7" name="Hình ảnh 6">
            <a:extLst>
              <a:ext uri="{FF2B5EF4-FFF2-40B4-BE49-F238E27FC236}">
                <a16:creationId xmlns:a16="http://schemas.microsoft.com/office/drawing/2014/main" id="{03308121-AC7C-6439-911E-FB4AC55F2B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801" y="1722446"/>
            <a:ext cx="5228896" cy="3921672"/>
          </a:xfrm>
          <a:prstGeom prst="rect">
            <a:avLst/>
          </a:prstGeom>
        </p:spPr>
      </p:pic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D7178496-9A18-A3CA-3F8B-B0E6B36B32B1}"/>
              </a:ext>
            </a:extLst>
          </p:cNvPr>
          <p:cNvSpPr txBox="1"/>
          <p:nvPr/>
        </p:nvSpPr>
        <p:spPr>
          <a:xfrm>
            <a:off x="212835" y="1187669"/>
            <a:ext cx="57806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Khảo sát PCA</a:t>
            </a:r>
          </a:p>
        </p:txBody>
      </p:sp>
      <p:sp>
        <p:nvSpPr>
          <p:cNvPr id="10" name="Hộp Văn bản 9">
            <a:extLst>
              <a:ext uri="{FF2B5EF4-FFF2-40B4-BE49-F238E27FC236}">
                <a16:creationId xmlns:a16="http://schemas.microsoft.com/office/drawing/2014/main" id="{D3DC3FBA-B3CB-8BC2-E780-8E14F0143064}"/>
              </a:ext>
            </a:extLst>
          </p:cNvPr>
          <p:cNvSpPr txBox="1"/>
          <p:nvPr/>
        </p:nvSpPr>
        <p:spPr>
          <a:xfrm>
            <a:off x="402021" y="5670331"/>
            <a:ext cx="846871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/>
              <a:t>Nhận xét: 0.90 là mốc giảm nhiễu vừa đủ, giữ lại được các phần thông tin cần thiết, giúp K-</a:t>
            </a:r>
            <a:r>
              <a:rPr lang="vi-VN" sz="2000" b="1" dirty="0" err="1"/>
              <a:t>means</a:t>
            </a:r>
            <a:r>
              <a:rPr lang="vi-VN" sz="2000" b="1" dirty="0"/>
              <a:t> gom cụm ổn định hơn</a:t>
            </a:r>
          </a:p>
        </p:txBody>
      </p:sp>
    </p:spTree>
    <p:extLst>
      <p:ext uri="{BB962C8B-B14F-4D97-AF65-F5344CB8AC3E}">
        <p14:creationId xmlns:p14="http://schemas.microsoft.com/office/powerpoint/2010/main" val="32880066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3EEC1-7F47-FD6A-090C-818FF74D9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FCE9AFA4-D0FB-3FC5-5A5F-785903BCD1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B87FFA78-0291-A1E9-5303-5E5C864B47A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16</a:t>
            </a:fld>
            <a:endParaRPr lang="en-US"/>
          </a:p>
        </p:txBody>
      </p:sp>
      <p:pic>
        <p:nvPicPr>
          <p:cNvPr id="3" name="Hình ảnh 2">
            <a:extLst>
              <a:ext uri="{FF2B5EF4-FFF2-40B4-BE49-F238E27FC236}">
                <a16:creationId xmlns:a16="http://schemas.microsoft.com/office/drawing/2014/main" id="{88ED6F70-5686-5FC2-4A6D-CF0C0CEDAE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822" y="1302032"/>
            <a:ext cx="5228896" cy="3921672"/>
          </a:xfrm>
          <a:prstGeom prst="rect">
            <a:avLst/>
          </a:prstGeom>
        </p:spPr>
      </p:pic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6207D0A7-2504-C9C6-A3E1-550D74D0CB47}"/>
              </a:ext>
            </a:extLst>
          </p:cNvPr>
          <p:cNvSpPr txBox="1"/>
          <p:nvPr/>
        </p:nvSpPr>
        <p:spPr>
          <a:xfrm>
            <a:off x="212834" y="1302032"/>
            <a:ext cx="4359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 về: mức </a:t>
            </a:r>
            <a:r>
              <a:rPr lang="vi-VN" sz="2400" b="1" dirty="0" err="1"/>
              <a:t>Accuracy</a:t>
            </a:r>
            <a:r>
              <a:rPr lang="vi-VN" sz="2400" b="1" dirty="0"/>
              <a:t> </a:t>
            </a:r>
          </a:p>
        </p:txBody>
      </p:sp>
      <p:sp>
        <p:nvSpPr>
          <p:cNvPr id="8" name="Hộp Văn bản 7">
            <a:extLst>
              <a:ext uri="{FF2B5EF4-FFF2-40B4-BE49-F238E27FC236}">
                <a16:creationId xmlns:a16="http://schemas.microsoft.com/office/drawing/2014/main" id="{015E900D-328E-FF6E-042B-9A12477A2BF4}"/>
              </a:ext>
            </a:extLst>
          </p:cNvPr>
          <p:cNvSpPr txBox="1"/>
          <p:nvPr/>
        </p:nvSpPr>
        <p:spPr>
          <a:xfrm>
            <a:off x="325821" y="1902372"/>
            <a:ext cx="369964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vi-VN" sz="1800" dirty="0"/>
              <a:t>Thấp, do đây là phân cụm không giám sát, 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FER2013 là 1 </a:t>
            </a:r>
            <a:r>
              <a:rPr lang="vi-VN" sz="1800" dirty="0" err="1"/>
              <a:t>dataset</a:t>
            </a:r>
            <a:r>
              <a:rPr lang="vi-VN" sz="1800" dirty="0"/>
              <a:t> khó vì kích </a:t>
            </a:r>
            <a:r>
              <a:rPr lang="vi-VN" sz="1800" dirty="0" err="1"/>
              <a:t>thuớc</a:t>
            </a:r>
            <a:r>
              <a:rPr lang="vi-VN" sz="1800" dirty="0"/>
              <a:t> nhỏ (48x48) và nhiều nhiễu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Một số cảm xúc rất giống nhau như: </a:t>
            </a:r>
            <a:r>
              <a:rPr lang="vi-VN" sz="1800" b="1" dirty="0" err="1"/>
              <a:t>sad</a:t>
            </a:r>
            <a:r>
              <a:rPr lang="vi-VN" sz="1800" b="1" dirty="0"/>
              <a:t> và </a:t>
            </a:r>
            <a:r>
              <a:rPr lang="vi-VN" sz="1800" b="1" dirty="0" err="1"/>
              <a:t>neutral</a:t>
            </a:r>
            <a:r>
              <a:rPr lang="vi-VN" sz="1800" b="1" dirty="0"/>
              <a:t>, </a:t>
            </a:r>
            <a:r>
              <a:rPr lang="vi-VN" sz="1800" b="1" dirty="0" err="1"/>
              <a:t>fear</a:t>
            </a:r>
            <a:r>
              <a:rPr lang="vi-VN" sz="1800" b="1" dirty="0"/>
              <a:t> và </a:t>
            </a:r>
            <a:r>
              <a:rPr lang="vi-VN" sz="1800" b="1" dirty="0" err="1"/>
              <a:t>surprise</a:t>
            </a:r>
            <a:r>
              <a:rPr lang="vi-VN" sz="1800" b="1" dirty="0"/>
              <a:t>, </a:t>
            </a:r>
            <a:r>
              <a:rPr lang="vi-VN" sz="1800" b="1" dirty="0" err="1"/>
              <a:t>angry</a:t>
            </a:r>
            <a:r>
              <a:rPr lang="vi-VN" sz="1800" b="1" dirty="0"/>
              <a:t> và </a:t>
            </a:r>
            <a:r>
              <a:rPr lang="vi-VN" sz="1800" b="1" dirty="0" err="1"/>
              <a:t>disgust</a:t>
            </a:r>
            <a:endParaRPr lang="vi-VN" sz="1800" b="1" dirty="0"/>
          </a:p>
          <a:p>
            <a:pPr marL="285750" indent="-285750">
              <a:buFontTx/>
              <a:buChar char="-"/>
            </a:pPr>
            <a:r>
              <a:rPr lang="vi-VN" sz="1800" b="1" dirty="0"/>
              <a:t>Không sử dụng học sâu nên không trích chọn được những đặc trưng cao cấp (mắt, miệng, chân mày)</a:t>
            </a:r>
          </a:p>
          <a:p>
            <a:r>
              <a:rPr lang="vi-VN" sz="1800" dirty="0"/>
              <a:t>=&gt; Kết quả thấp là hoàn toàn bình thường</a:t>
            </a:r>
          </a:p>
        </p:txBody>
      </p:sp>
    </p:spTree>
    <p:extLst>
      <p:ext uri="{BB962C8B-B14F-4D97-AF65-F5344CB8AC3E}">
        <p14:creationId xmlns:p14="http://schemas.microsoft.com/office/powerpoint/2010/main" val="3403906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B2602-2827-B943-5C2C-413A6962A4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Hình ảnh 2">
            <a:extLst>
              <a:ext uri="{FF2B5EF4-FFF2-40B4-BE49-F238E27FC236}">
                <a16:creationId xmlns:a16="http://schemas.microsoft.com/office/drawing/2014/main" id="{FD66DD96-C029-E633-00A0-0C2D24CC8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3354" y="1922142"/>
            <a:ext cx="5060646" cy="3795485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7E19A998-55BF-D50A-ECDE-6B6001C9D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2835" y="256299"/>
            <a:ext cx="3812627" cy="605549"/>
          </a:xfrm>
        </p:spPr>
        <p:txBody>
          <a:bodyPr/>
          <a:lstStyle/>
          <a:p>
            <a:pPr marL="50800"/>
            <a:r>
              <a:rPr lang="vi-VN" sz="3200" dirty="0">
                <a:solidFill>
                  <a:schemeClr val="bg1"/>
                </a:solidFill>
              </a:rPr>
              <a:t>3. Khảo sát, đánh giá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F098137-B187-6134-A663-EA913187791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17</a:t>
            </a:fld>
            <a:endParaRPr lang="en-US"/>
          </a:p>
        </p:txBody>
      </p:sp>
      <p:sp>
        <p:nvSpPr>
          <p:cNvPr id="6" name="Hộp Văn bản 5">
            <a:extLst>
              <a:ext uri="{FF2B5EF4-FFF2-40B4-BE49-F238E27FC236}">
                <a16:creationId xmlns:a16="http://schemas.microsoft.com/office/drawing/2014/main" id="{3BF49E35-9C76-3D3E-C753-86FF9B5E9FF4}"/>
              </a:ext>
            </a:extLst>
          </p:cNvPr>
          <p:cNvSpPr txBox="1"/>
          <p:nvPr/>
        </p:nvSpPr>
        <p:spPr>
          <a:xfrm>
            <a:off x="212834" y="1302032"/>
            <a:ext cx="43591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b="1" dirty="0"/>
              <a:t>Nhận xét về: mức </a:t>
            </a:r>
            <a:r>
              <a:rPr lang="vi-VN" sz="2400" b="1" dirty="0" err="1"/>
              <a:t>Accuracy</a:t>
            </a:r>
            <a:r>
              <a:rPr lang="vi-VN" sz="2400" b="1" dirty="0"/>
              <a:t> 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2E46C42F-AA4D-BF7E-E140-A329E87BBF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2834" y="2041910"/>
            <a:ext cx="450768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Angry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  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Bị đoán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là nhiều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Disgust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lang="vi-VN" altLang="vi-VN" sz="1800" dirty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Phần lớn bị nhầm thành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disgust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chính nó, nhưng nhiều bị nhầm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vi-VN" altLang="vi-VN" sz="1800" b="1" dirty="0" err="1">
                <a:solidFill>
                  <a:schemeClr val="tx1"/>
                </a:solidFill>
                <a:latin typeface="Arial" panose="020B0604020202020204" pitchFamily="34" charset="0"/>
              </a:rPr>
              <a:t>Fear</a:t>
            </a:r>
            <a:r>
              <a:rPr lang="vi-VN" altLang="vi-VN" sz="1800" b="1" dirty="0">
                <a:solidFill>
                  <a:schemeClr val="tx1"/>
                </a:solidFill>
                <a:latin typeface="Arial" panose="020B0604020202020204" pitchFamily="34" charset="0"/>
              </a:rPr>
              <a:t>:     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Lẫn nhiều với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 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Chủ yếu bị dự đoán thành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hoặc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hoặc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Neutral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lang="vi-VN" altLang="vi-VN" sz="1800" dirty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Nhiều ảnh bị nhầm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Sad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      </a:t>
            </a:r>
            <a:r>
              <a:rPr lang="vi-VN" altLang="vi-VN" sz="1800" dirty="0">
                <a:solidFill>
                  <a:schemeClr val="tx1"/>
                </a:solidFill>
                <a:latin typeface="Arial" panose="020B0604020202020204" pitchFamily="34" charset="0"/>
              </a:rPr>
              <a:t> 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Nhiều ảnh bị nhầm sang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và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happy</a:t>
            </a:r>
            <a:endParaRPr kumimoji="0" lang="vi-VN" altLang="vi-V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vi-VN" altLang="vi-VN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Surprise</a:t>
            </a:r>
            <a:r>
              <a:rPr kumimoji="0" lang="vi-VN" altLang="vi-VN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Đây là </a:t>
            </a:r>
            <a:r>
              <a:rPr kumimoji="0" lang="vi-VN" altLang="vi-VN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</a:t>
            </a:r>
            <a:r>
              <a:rPr kumimoji="0" lang="vi-VN" altLang="vi-VN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dễ nhất và mô hình đoán đúng nhiều nhất</a:t>
            </a:r>
          </a:p>
        </p:txBody>
      </p:sp>
    </p:spTree>
    <p:extLst>
      <p:ext uri="{BB962C8B-B14F-4D97-AF65-F5344CB8AC3E}">
        <p14:creationId xmlns:p14="http://schemas.microsoft.com/office/powerpoint/2010/main" val="40400532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65890-B906-0763-3CF9-49DC1B513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B14A0EF6-249D-544A-15D0-35F035E8BF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4. So sánh, đối chiếu kết quả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9DC0992-2CFD-6130-9A95-7C3B883EEC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1975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39D17-BFE3-DF24-F7F1-E709B2EC4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Hình ảnh 6">
            <a:extLst>
              <a:ext uri="{FF2B5EF4-FFF2-40B4-BE49-F238E27FC236}">
                <a16:creationId xmlns:a16="http://schemas.microsoft.com/office/drawing/2014/main" id="{BF78874B-470D-CC17-ADE0-DF75452163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2248" y="1228506"/>
            <a:ext cx="4988911" cy="3741683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41F45901-380A-B5BE-9F58-E6AC96248E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503" y="1355835"/>
            <a:ext cx="4042541" cy="531977"/>
          </a:xfrm>
        </p:spPr>
        <p:txBody>
          <a:bodyPr/>
          <a:lstStyle/>
          <a:p>
            <a:pPr marL="50800"/>
            <a:r>
              <a:rPr lang="vi-VN" sz="2400" dirty="0"/>
              <a:t>So sánh với HOG + SVM + PCA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CEAAF158-668D-EAD4-C6A8-FBB5DC2A9B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19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4C05D052-EFFC-7349-F328-1318184B2655}"/>
              </a:ext>
            </a:extLst>
          </p:cNvPr>
          <p:cNvSpPr txBox="1"/>
          <p:nvPr/>
        </p:nvSpPr>
        <p:spPr>
          <a:xfrm>
            <a:off x="257503" y="32433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b="1" dirty="0">
                <a:solidFill>
                  <a:schemeClr val="bg1"/>
                </a:solidFill>
              </a:rPr>
              <a:t>4. So sánh, đối chiếu kết quả</a:t>
            </a:r>
          </a:p>
        </p:txBody>
      </p:sp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669D5A5C-9427-BDEA-AD53-11E5FECA9785}"/>
              </a:ext>
            </a:extLst>
          </p:cNvPr>
          <p:cNvSpPr txBox="1"/>
          <p:nvPr/>
        </p:nvSpPr>
        <p:spPr>
          <a:xfrm>
            <a:off x="257503" y="2015141"/>
            <a:ext cx="498891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600" dirty="0"/>
              <a:t>PCA 0.50 -&gt; </a:t>
            </a:r>
            <a:r>
              <a:rPr lang="vi-VN" sz="1600" dirty="0" err="1"/>
              <a:t>Accuracy</a:t>
            </a:r>
            <a:r>
              <a:rPr lang="vi-VN" sz="1600" dirty="0"/>
              <a:t> (SVM): 0.3815</a:t>
            </a:r>
          </a:p>
          <a:p>
            <a:r>
              <a:rPr lang="vi-VN" sz="1600" dirty="0"/>
              <a:t>PCA 0.60 -&gt; </a:t>
            </a:r>
            <a:r>
              <a:rPr lang="vi-VN" sz="1600" dirty="0" err="1"/>
              <a:t>Accuracy</a:t>
            </a:r>
            <a:r>
              <a:rPr lang="vi-VN" sz="1600" dirty="0"/>
              <a:t> (SVM): 0.3925</a:t>
            </a:r>
          </a:p>
          <a:p>
            <a:r>
              <a:rPr lang="vi-VN" sz="1600" dirty="0"/>
              <a:t>PCA 0.70 -&gt; </a:t>
            </a:r>
            <a:r>
              <a:rPr lang="vi-VN" sz="1600" dirty="0" err="1"/>
              <a:t>Accuracy</a:t>
            </a:r>
            <a:r>
              <a:rPr lang="vi-VN" sz="1600" dirty="0"/>
              <a:t> (SVM): 0.4024</a:t>
            </a:r>
          </a:p>
          <a:p>
            <a:r>
              <a:rPr lang="vi-VN" sz="1600" dirty="0"/>
              <a:t>PCA 0.80 -&gt; </a:t>
            </a:r>
            <a:r>
              <a:rPr lang="vi-VN" sz="1600" dirty="0" err="1"/>
              <a:t>Accuracy</a:t>
            </a:r>
            <a:r>
              <a:rPr lang="vi-VN" sz="1600" dirty="0"/>
              <a:t> (SVM): 0.4076</a:t>
            </a:r>
          </a:p>
          <a:p>
            <a:r>
              <a:rPr lang="vi-VN" sz="1600" b="1" dirty="0"/>
              <a:t>PCA 0.90 -&gt; </a:t>
            </a:r>
            <a:r>
              <a:rPr lang="vi-VN" sz="1600" b="1" dirty="0" err="1"/>
              <a:t>Accuracy</a:t>
            </a:r>
            <a:r>
              <a:rPr lang="vi-VN" sz="1600" b="1" dirty="0"/>
              <a:t> (SVM): 0.4113 (</a:t>
            </a:r>
            <a:r>
              <a:rPr lang="vi-VN" sz="1600" b="1" dirty="0" err="1"/>
              <a:t>best</a:t>
            </a:r>
            <a:r>
              <a:rPr lang="vi-VN" sz="1600" b="1" dirty="0"/>
              <a:t>)</a:t>
            </a:r>
          </a:p>
          <a:p>
            <a:r>
              <a:rPr lang="vi-VN" sz="1600" dirty="0"/>
              <a:t>PCA 0.95 -&gt; </a:t>
            </a:r>
            <a:r>
              <a:rPr lang="vi-VN" sz="1600" dirty="0" err="1"/>
              <a:t>Accuracy</a:t>
            </a:r>
            <a:r>
              <a:rPr lang="vi-VN" sz="1600" dirty="0"/>
              <a:t> (SVM): 0.4092</a:t>
            </a:r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D3B157A4-E50B-134E-52FE-115AA556F964}"/>
              </a:ext>
            </a:extLst>
          </p:cNvPr>
          <p:cNvSpPr txBox="1"/>
          <p:nvPr/>
        </p:nvSpPr>
        <p:spPr>
          <a:xfrm>
            <a:off x="257502" y="3787358"/>
            <a:ext cx="43144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800" b="1" dirty="0"/>
              <a:t>Nhận xét: </a:t>
            </a:r>
            <a:r>
              <a:rPr lang="vi-VN" sz="1800" dirty="0"/>
              <a:t>ma trận </a:t>
            </a:r>
            <a:r>
              <a:rPr lang="vi-VN" sz="1800" dirty="0" err="1"/>
              <a:t>Confusion</a:t>
            </a:r>
            <a:r>
              <a:rPr lang="vi-VN" sz="1800" dirty="0"/>
              <a:t> </a:t>
            </a:r>
            <a:r>
              <a:rPr lang="vi-VN" sz="1800" dirty="0" err="1"/>
              <a:t>Matrix</a:t>
            </a:r>
            <a:r>
              <a:rPr lang="vi-VN" sz="1800" dirty="0"/>
              <a:t> có đường chéo chính đậm, phân loại đúng hơn nhiều so với K-</a:t>
            </a:r>
            <a:r>
              <a:rPr lang="vi-VN" sz="1800" dirty="0" err="1"/>
              <a:t>means</a:t>
            </a:r>
            <a:r>
              <a:rPr lang="vi-VN" sz="1800" dirty="0"/>
              <a:t> trước đó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5 loại </a:t>
            </a:r>
            <a:r>
              <a:rPr lang="vi-VN" sz="1800" dirty="0" err="1"/>
              <a:t>angry</a:t>
            </a:r>
            <a:r>
              <a:rPr lang="vi-VN" sz="1800" dirty="0"/>
              <a:t>, </a:t>
            </a:r>
            <a:r>
              <a:rPr lang="vi-VN" sz="1800" dirty="0" err="1"/>
              <a:t>disgust</a:t>
            </a:r>
            <a:r>
              <a:rPr lang="vi-VN" sz="1800" dirty="0"/>
              <a:t>, </a:t>
            </a:r>
            <a:r>
              <a:rPr lang="vi-VN" sz="1800" dirty="0" err="1"/>
              <a:t>happy</a:t>
            </a:r>
            <a:r>
              <a:rPr lang="vi-VN" sz="1800" dirty="0"/>
              <a:t>, </a:t>
            </a:r>
            <a:r>
              <a:rPr lang="vi-VN" sz="1800" dirty="0" err="1"/>
              <a:t>neutral</a:t>
            </a:r>
            <a:r>
              <a:rPr lang="vi-VN" sz="1800" dirty="0"/>
              <a:t>, </a:t>
            </a:r>
            <a:r>
              <a:rPr lang="vi-VN" sz="1800" dirty="0" err="1"/>
              <a:t>surprise</a:t>
            </a:r>
            <a:r>
              <a:rPr lang="vi-VN" sz="1800" dirty="0"/>
              <a:t> có lượng đoán đúng nhiều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2 loại </a:t>
            </a:r>
            <a:r>
              <a:rPr lang="vi-VN" sz="1800" dirty="0" err="1"/>
              <a:t>fear</a:t>
            </a:r>
            <a:r>
              <a:rPr lang="vi-VN" sz="1800" dirty="0"/>
              <a:t> và </a:t>
            </a:r>
            <a:r>
              <a:rPr lang="vi-VN" sz="1800" dirty="0" err="1"/>
              <a:t>sad</a:t>
            </a:r>
            <a:r>
              <a:rPr lang="vi-VN" sz="1800" dirty="0"/>
              <a:t> vẫn là 2 lớp khó </a:t>
            </a:r>
          </a:p>
          <a:p>
            <a:r>
              <a:rPr lang="vi-VN" sz="1800" dirty="0"/>
              <a:t>=&gt; SVM tận dụng tốt đặc trưng của HOG + PCA</a:t>
            </a:r>
          </a:p>
        </p:txBody>
      </p:sp>
    </p:spTree>
    <p:extLst>
      <p:ext uri="{BB962C8B-B14F-4D97-AF65-F5344CB8AC3E}">
        <p14:creationId xmlns:p14="http://schemas.microsoft.com/office/powerpoint/2010/main" val="2722128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6651A-3914-D8C6-CA04-1FD44BB51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Hình ảnh 5">
            <a:extLst>
              <a:ext uri="{FF2B5EF4-FFF2-40B4-BE49-F238E27FC236}">
                <a16:creationId xmlns:a16="http://schemas.microsoft.com/office/drawing/2014/main" id="{A829CEC6-8522-C321-C195-872F2FA74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5972" y="1155131"/>
            <a:ext cx="5108028" cy="3831021"/>
          </a:xfrm>
          <a:prstGeom prst="rect">
            <a:avLst/>
          </a:prstGeom>
        </p:spPr>
      </p:pic>
      <p:sp>
        <p:nvSpPr>
          <p:cNvPr id="2" name="Tiêu đề 1">
            <a:extLst>
              <a:ext uri="{FF2B5EF4-FFF2-40B4-BE49-F238E27FC236}">
                <a16:creationId xmlns:a16="http://schemas.microsoft.com/office/drawing/2014/main" id="{12B1E61C-3E1F-27C4-50CF-54761CAACD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503" y="1286985"/>
            <a:ext cx="2381906" cy="531977"/>
          </a:xfrm>
        </p:spPr>
        <p:txBody>
          <a:bodyPr/>
          <a:lstStyle/>
          <a:p>
            <a:pPr marL="50800"/>
            <a:r>
              <a:rPr lang="vi-VN" sz="2400" dirty="0"/>
              <a:t>So sánh với CNN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71CEA620-2A1E-6A28-6981-31873878C9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20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F1F76389-6C11-FCF8-E3EC-16F1FFA3DE9E}"/>
              </a:ext>
            </a:extLst>
          </p:cNvPr>
          <p:cNvSpPr txBox="1"/>
          <p:nvPr/>
        </p:nvSpPr>
        <p:spPr>
          <a:xfrm>
            <a:off x="257503" y="32433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b="1" dirty="0">
                <a:solidFill>
                  <a:schemeClr val="bg1"/>
                </a:solidFill>
              </a:rPr>
              <a:t>4. So sánh, đối chiếu kết quả</a:t>
            </a:r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20CFC3CE-7500-B1D3-8632-729015CF997D}"/>
              </a:ext>
            </a:extLst>
          </p:cNvPr>
          <p:cNvSpPr txBox="1"/>
          <p:nvPr/>
        </p:nvSpPr>
        <p:spPr>
          <a:xfrm>
            <a:off x="257503" y="2661865"/>
            <a:ext cx="431449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800" b="1" dirty="0"/>
              <a:t>Nhận xét: </a:t>
            </a:r>
            <a:r>
              <a:rPr lang="vi-VN" sz="1800" dirty="0"/>
              <a:t>ma trận </a:t>
            </a:r>
            <a:r>
              <a:rPr lang="vi-VN" sz="1800" dirty="0" err="1"/>
              <a:t>Confusion</a:t>
            </a:r>
            <a:r>
              <a:rPr lang="vi-VN" sz="1800" dirty="0"/>
              <a:t> </a:t>
            </a:r>
            <a:r>
              <a:rPr lang="vi-VN" sz="1800" dirty="0" err="1"/>
              <a:t>Matrix</a:t>
            </a:r>
            <a:r>
              <a:rPr lang="vi-VN" sz="1800" dirty="0"/>
              <a:t> phản ánh CNN học được đặc trưng tốt hơn </a:t>
            </a:r>
            <a:r>
              <a:rPr lang="vi-VN" sz="1800" dirty="0" err="1"/>
              <a:t>Kmeans</a:t>
            </a:r>
            <a:r>
              <a:rPr lang="vi-VN" sz="1800" dirty="0"/>
              <a:t>, nhưng vẫn gặp những vấn đề với những lớp ảnh quá giống nhau  </a:t>
            </a:r>
          </a:p>
          <a:p>
            <a:pPr marL="285750" indent="-285750">
              <a:buFontTx/>
              <a:buChar char="-"/>
            </a:pPr>
            <a:r>
              <a:rPr lang="vi-VN" sz="1800" dirty="0"/>
              <a:t>Các cảm xúc mô hình nhận diện tốt:</a:t>
            </a:r>
          </a:p>
          <a:p>
            <a:pPr lvl="4"/>
            <a:r>
              <a:rPr lang="vi-VN" sz="1800" dirty="0" err="1"/>
              <a:t>Surprise</a:t>
            </a:r>
            <a:r>
              <a:rPr lang="vi-VN" sz="1800" dirty="0"/>
              <a:t>, </a:t>
            </a:r>
            <a:r>
              <a:rPr lang="vi-VN" sz="1800" dirty="0" err="1"/>
              <a:t>Neutral</a:t>
            </a:r>
            <a:r>
              <a:rPr lang="vi-VN" sz="1800" dirty="0"/>
              <a:t>, </a:t>
            </a:r>
            <a:r>
              <a:rPr lang="vi-VN" sz="1800" dirty="0" err="1"/>
              <a:t>Happy</a:t>
            </a:r>
            <a:endParaRPr lang="vi-VN" sz="1800" dirty="0"/>
          </a:p>
          <a:p>
            <a:pPr marL="285750" indent="-285750">
              <a:buFontTx/>
              <a:buChar char="-"/>
            </a:pPr>
            <a:r>
              <a:rPr lang="vi-VN" sz="1800" dirty="0"/>
              <a:t>Ở mức trung bình: </a:t>
            </a:r>
            <a:r>
              <a:rPr lang="vi-VN" sz="1800" dirty="0" err="1"/>
              <a:t>Sad</a:t>
            </a:r>
            <a:r>
              <a:rPr lang="vi-VN" sz="1800" dirty="0"/>
              <a:t> và </a:t>
            </a:r>
            <a:r>
              <a:rPr lang="vi-VN" sz="1800" dirty="0" err="1"/>
              <a:t>Angry</a:t>
            </a:r>
            <a:endParaRPr lang="vi-VN" sz="1800" dirty="0"/>
          </a:p>
          <a:p>
            <a:pPr marL="285750" indent="-285750">
              <a:buFontTx/>
              <a:buChar char="-"/>
            </a:pPr>
            <a:r>
              <a:rPr lang="vi-VN" sz="1800" dirty="0"/>
              <a:t>Kém: </a:t>
            </a:r>
            <a:r>
              <a:rPr lang="vi-VN" sz="1800" dirty="0" err="1"/>
              <a:t>Disgust</a:t>
            </a:r>
            <a:r>
              <a:rPr lang="vi-VN" sz="1800" dirty="0"/>
              <a:t>, </a:t>
            </a:r>
            <a:r>
              <a:rPr lang="vi-VN" sz="1800" dirty="0" err="1"/>
              <a:t>Fear</a:t>
            </a:r>
            <a:endParaRPr lang="vi-VN" sz="1800" dirty="0"/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3D19D20E-237E-DD23-9D0C-532837CC8A8F}"/>
              </a:ext>
            </a:extLst>
          </p:cNvPr>
          <p:cNvSpPr txBox="1"/>
          <p:nvPr/>
        </p:nvSpPr>
        <p:spPr>
          <a:xfrm>
            <a:off x="541283" y="1950063"/>
            <a:ext cx="22019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800" b="1" dirty="0" err="1"/>
              <a:t>Accuracy</a:t>
            </a:r>
            <a:r>
              <a:rPr lang="vi-VN" sz="1800" b="1" dirty="0"/>
              <a:t>: 0.3417</a:t>
            </a:r>
          </a:p>
        </p:txBody>
      </p:sp>
    </p:spTree>
    <p:extLst>
      <p:ext uri="{BB962C8B-B14F-4D97-AF65-F5344CB8AC3E}">
        <p14:creationId xmlns:p14="http://schemas.microsoft.com/office/powerpoint/2010/main" val="1950223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E88DE-1E14-BB66-B5C6-6C9152186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0720730B-A928-122C-9531-232F6A9127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7502" y="1286985"/>
            <a:ext cx="2958663" cy="531977"/>
          </a:xfrm>
        </p:spPr>
        <p:txBody>
          <a:bodyPr/>
          <a:lstStyle/>
          <a:p>
            <a:pPr marL="50800"/>
            <a:r>
              <a:rPr lang="vi-VN" sz="2400" dirty="0"/>
              <a:t>So sánh </a:t>
            </a:r>
            <a:r>
              <a:rPr lang="vi-VN" sz="2400"/>
              <a:t>với VGG FER</a:t>
            </a:r>
            <a:endParaRPr lang="vi-VN" sz="2400" dirty="0"/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FD451BBE-41FC-F0BF-6560-8D33B7A3CFF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21</a:t>
            </a:fld>
            <a:endParaRPr lang="en-US"/>
          </a:p>
        </p:txBody>
      </p:sp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87DA5626-6E40-49DC-520D-C25E4CC56A70}"/>
              </a:ext>
            </a:extLst>
          </p:cNvPr>
          <p:cNvSpPr txBox="1"/>
          <p:nvPr/>
        </p:nvSpPr>
        <p:spPr>
          <a:xfrm>
            <a:off x="257503" y="324332"/>
            <a:ext cx="457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b="1" dirty="0">
                <a:solidFill>
                  <a:schemeClr val="bg1"/>
                </a:solidFill>
              </a:rPr>
              <a:t>4. So sánh, đối chiếu kết quả</a:t>
            </a:r>
          </a:p>
        </p:txBody>
      </p:sp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59D89FA0-1223-7D26-F982-26A4B2AD921A}"/>
              </a:ext>
            </a:extLst>
          </p:cNvPr>
          <p:cNvSpPr txBox="1"/>
          <p:nvPr/>
        </p:nvSpPr>
        <p:spPr>
          <a:xfrm>
            <a:off x="257503" y="2661865"/>
            <a:ext cx="431449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800" b="1" dirty="0"/>
              <a:t>Nhận xét: </a:t>
            </a:r>
            <a:r>
              <a:rPr lang="vi-VN" sz="1800" dirty="0"/>
              <a:t>Mô hình này hoạt động rất tốt, rất phù hợp với bài toán này.</a:t>
            </a:r>
          </a:p>
          <a:p>
            <a:r>
              <a:rPr lang="vi-VN" sz="1800" dirty="0"/>
              <a:t>- Đặc biệt là để phân lớp các lớp như </a:t>
            </a:r>
            <a:r>
              <a:rPr lang="vi-VN" sz="1800" dirty="0" err="1"/>
              <a:t>Happy</a:t>
            </a:r>
            <a:r>
              <a:rPr lang="vi-VN" sz="1800" dirty="0"/>
              <a:t>, </a:t>
            </a:r>
            <a:r>
              <a:rPr lang="vi-VN" sz="1800" dirty="0" err="1"/>
              <a:t>Surprise</a:t>
            </a:r>
            <a:r>
              <a:rPr lang="vi-VN" sz="1800" dirty="0"/>
              <a:t> vì chúng có tỉ lệ nhận dạng cao.</a:t>
            </a:r>
          </a:p>
          <a:p>
            <a:r>
              <a:rPr lang="vi-VN" sz="1800" dirty="0"/>
              <a:t>- Tuy vậy, các cảm xúc như </a:t>
            </a:r>
            <a:r>
              <a:rPr lang="vi-VN" sz="1800" dirty="0" err="1"/>
              <a:t>fear</a:t>
            </a:r>
            <a:r>
              <a:rPr lang="vi-VN" sz="1800" dirty="0"/>
              <a:t>, </a:t>
            </a:r>
            <a:r>
              <a:rPr lang="vi-VN" sz="1800" dirty="0" err="1"/>
              <a:t>sad</a:t>
            </a:r>
            <a:r>
              <a:rPr lang="vi-VN" sz="1800" dirty="0"/>
              <a:t> vẫn chưa quá cao</a:t>
            </a: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CF903F55-1103-B772-9349-F960BEDCB8AB}"/>
              </a:ext>
            </a:extLst>
          </p:cNvPr>
          <p:cNvSpPr txBox="1"/>
          <p:nvPr/>
        </p:nvSpPr>
        <p:spPr>
          <a:xfrm>
            <a:off x="541283" y="1950063"/>
            <a:ext cx="2201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000" b="1" dirty="0" err="1"/>
              <a:t>Accuracy</a:t>
            </a:r>
            <a:r>
              <a:rPr lang="vi-VN" sz="2000" b="1" dirty="0"/>
              <a:t>: 0.696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2160D2D-8112-0CDF-7E0F-2FAE3F09B0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1103" y="1388807"/>
            <a:ext cx="4572001" cy="3660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9997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F64DB-E67B-78E1-F66D-4E772F64C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67FE64F0-44BC-74CE-2588-F1A67B1485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5. Hướng phát triển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0A057780-0F8E-BE14-C4EE-6E42AF1D354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331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1D08C-0483-3321-9042-43D5EA5A0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êu đề 1">
            <a:extLst>
              <a:ext uri="{FF2B5EF4-FFF2-40B4-BE49-F238E27FC236}">
                <a16:creationId xmlns:a16="http://schemas.microsoft.com/office/drawing/2014/main" id="{162389CD-4FE5-F8BD-1E0E-CC552A36B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1718" y="2253265"/>
            <a:ext cx="8085082" cy="1887811"/>
          </a:xfrm>
        </p:spPr>
        <p:txBody>
          <a:bodyPr/>
          <a:lstStyle/>
          <a:p>
            <a:pPr marL="50800"/>
            <a:r>
              <a:rPr lang="vi-VN" dirty="0"/>
              <a:t>Xin chân thành cảm ơn</a:t>
            </a:r>
          </a:p>
        </p:txBody>
      </p:sp>
      <p:sp>
        <p:nvSpPr>
          <p:cNvPr id="4" name="Chỗ dành sẵn cho Số hiệu Bản chiếu 3">
            <a:extLst>
              <a:ext uri="{FF2B5EF4-FFF2-40B4-BE49-F238E27FC236}">
                <a16:creationId xmlns:a16="http://schemas.microsoft.com/office/drawing/2014/main" id="{3F29B9F0-F439-2CB5-EE2C-368E5D7448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9170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01ba1225-54d8-4fa6-934e-3020034412e0" xsi:nil="true"/>
    <lcf76f155ced4ddcb4097134ff3c332f xmlns="fd63efce-8fbd-4040-94f1-ea540616c8b8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0811C320DB09146B949355C1F67BBAE" ma:contentTypeVersion="11" ma:contentTypeDescription="Create a new document." ma:contentTypeScope="" ma:versionID="e125e36597350e941243b6b7c330b3de">
  <xsd:schema xmlns:xsd="http://www.w3.org/2001/XMLSchema" xmlns:xs="http://www.w3.org/2001/XMLSchema" xmlns:p="http://schemas.microsoft.com/office/2006/metadata/properties" xmlns:ns2="fd63efce-8fbd-4040-94f1-ea540616c8b8" xmlns:ns3="01ba1225-54d8-4fa6-934e-3020034412e0" targetNamespace="http://schemas.microsoft.com/office/2006/metadata/properties" ma:root="true" ma:fieldsID="bf6c9742e715e8ac6a70cfbe0fed6375" ns2:_="" ns3:_="">
    <xsd:import namespace="fd63efce-8fbd-4040-94f1-ea540616c8b8"/>
    <xsd:import namespace="01ba1225-54d8-4fa6-934e-3020034412e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d63efce-8fbd-4040-94f1-ea540616c8b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158d9f12-b085-4db2-abbf-1ae4638ef84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1ba1225-54d8-4fa6-934e-3020034412e0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88a6236b-00cc-4cc2-9700-853704174dc2}" ma:internalName="TaxCatchAll" ma:showField="CatchAllData" ma:web="01ba1225-54d8-4fa6-934e-3020034412e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E169F43-67A6-4593-ADD7-B0CBCAF4936E}">
  <ds:schemaRefs>
    <ds:schemaRef ds:uri="http://schemas.microsoft.com/office/2006/metadata/properties"/>
    <ds:schemaRef ds:uri="http://schemas.microsoft.com/office/infopath/2007/PartnerControls"/>
    <ds:schemaRef ds:uri="01ba1225-54d8-4fa6-934e-3020034412e0"/>
    <ds:schemaRef ds:uri="fd63efce-8fbd-4040-94f1-ea540616c8b8"/>
  </ds:schemaRefs>
</ds:datastoreItem>
</file>

<file path=customXml/itemProps2.xml><?xml version="1.0" encoding="utf-8"?>
<ds:datastoreItem xmlns:ds="http://schemas.openxmlformats.org/officeDocument/2006/customXml" ds:itemID="{BFDA69C8-DB4E-44EE-98E1-D5D5369288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248721-A551-41C9-A070-D7A8AB8FA78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d63efce-8fbd-4040-94f1-ea540616c8b8"/>
    <ds:schemaRef ds:uri="01ba1225-54d8-4fa6-934e-3020034412e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2728</TotalTime>
  <Words>2783</Words>
  <Application>Microsoft Office PowerPoint</Application>
  <PresentationFormat>Trình chiếu Trên màn hình (4:3)</PresentationFormat>
  <Paragraphs>266</Paragraphs>
  <Slides>23</Slides>
  <Notes>12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3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23</vt:i4>
      </vt:variant>
    </vt:vector>
  </HeadingPairs>
  <TitlesOfParts>
    <vt:vector size="27" baseType="lpstr">
      <vt:lpstr>Arial</vt:lpstr>
      <vt:lpstr>Calibri</vt:lpstr>
      <vt:lpstr>Noto Sans Symbols</vt:lpstr>
      <vt:lpstr>Office Theme</vt:lpstr>
      <vt:lpstr>Bản trình bày PowerPoint</vt:lpstr>
      <vt:lpstr>Mục lục</vt:lpstr>
      <vt:lpstr>1. Giới thiệu về bài toán </vt:lpstr>
      <vt:lpstr>1. Giới thiệu về bài toán</vt:lpstr>
      <vt:lpstr>2. Thuật toán và tập dữ liệu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3. Khảo sát, đánh giá</vt:lpstr>
      <vt:lpstr>3. Khảo sát, đánh giá</vt:lpstr>
      <vt:lpstr>3. Khảo sát, đánh giá</vt:lpstr>
      <vt:lpstr>3. Khảo sát, đánh giá</vt:lpstr>
      <vt:lpstr>3. Khảo sát, đánh giá</vt:lpstr>
      <vt:lpstr>4. So sánh, đối chiếu kết quả</vt:lpstr>
      <vt:lpstr>So sánh với HOG + SVM + PCA</vt:lpstr>
      <vt:lpstr>So sánh với CNN</vt:lpstr>
      <vt:lpstr>So sánh với VGG FER</vt:lpstr>
      <vt:lpstr>5. Hướng phát triển</vt:lpstr>
      <vt:lpstr>Xin chân thành cảm ơn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Bản trình bày PowerPoint</dc:title>
  <dc:creator>Datdatnguyen</dc:creator>
  <cp:lastModifiedBy>Dat Nguyen</cp:lastModifiedBy>
  <cp:revision>116</cp:revision>
  <dcterms:created xsi:type="dcterms:W3CDTF">2017-10-17T01:43:35Z</dcterms:created>
  <dcterms:modified xsi:type="dcterms:W3CDTF">2025-11-30T04:27:42Z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0x01010060811C320DB09146B949355C1F67BBAE</vt:lpwstr>
  </property>
</Properties>
</file>