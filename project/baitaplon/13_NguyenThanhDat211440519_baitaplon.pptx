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4"/>
  </p:sldMasterIdLst>
  <p:notesMasterIdLst>
    <p:notesMasterId r:id="rId23"/>
  </p:notesMasterIdLst>
  <p:sldIdLst>
    <p:sldId id="256" r:id="rId5"/>
    <p:sldId id="300" r:id="rId6"/>
    <p:sldId id="301" r:id="rId7"/>
    <p:sldId id="302" r:id="rId8"/>
    <p:sldId id="309" r:id="rId9"/>
    <p:sldId id="303" r:id="rId10"/>
    <p:sldId id="311" r:id="rId11"/>
    <p:sldId id="291" r:id="rId12"/>
    <p:sldId id="310" r:id="rId13"/>
    <p:sldId id="312" r:id="rId14"/>
    <p:sldId id="297" r:id="rId15"/>
    <p:sldId id="298" r:id="rId16"/>
    <p:sldId id="294" r:id="rId17"/>
    <p:sldId id="296" r:id="rId18"/>
    <p:sldId id="304" r:id="rId19"/>
    <p:sldId id="305" r:id="rId20"/>
    <p:sldId id="307" r:id="rId21"/>
    <p:sldId id="306" r:id="rId22"/>
  </p:sldIdLst>
  <p:sldSz cx="9144000" cy="6858000" type="screen4x3"/>
  <p:notesSz cx="6735763" cy="9866313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3" roundtripDataSignature="AMtx7mig7uoUar2FONQYJwEy87gUzpUQYQ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MAI VŨ DŨNG" initials="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F3F3"/>
    <a:srgbClr val="F4F4F4"/>
    <a:srgbClr val="4F81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320BE63-4007-4B99-8653-B8915922B5FC}">
  <a:tblStyle styleId="{E320BE63-4007-4B99-8653-B8915922B5FC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>
          <a:top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bottom>
        </a:tcBdr>
      </a:tcStyle>
    </a:band1H>
    <a:band2H>
      <a:tcTxStyle/>
      <a:tcStyle>
        <a:tcBdr/>
      </a:tcStyle>
    </a:band2H>
    <a:band1V>
      <a:tcTxStyle/>
      <a:tcStyle>
        <a:tcBdr>
          <a:left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right>
        </a:tcBdr>
      </a:tcStyle>
    </a:band1V>
    <a:band2V>
      <a:tcTxStyle/>
      <a:tcStyle>
        <a:tcBdr>
          <a:left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right>
        </a:tcBdr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508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top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C6307D7D-2257-42CE-8DAA-5773DBCB34A1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2647" autoAdjust="0"/>
  </p:normalViewPr>
  <p:slideViewPr>
    <p:cSldViewPr snapToGrid="0">
      <p:cViewPr varScale="1">
        <p:scale>
          <a:sx n="91" d="100"/>
          <a:sy n="91" d="100"/>
        </p:scale>
        <p:origin x="2184" y="9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commentAuthors" Target="comment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33" Type="http://customschemas.google.com/relationships/presentationmetadata" Target="metadata"/><Relationship Id="rId38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37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36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35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19413" cy="493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50" tIns="45375" rIns="90750" bIns="453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14763" y="0"/>
            <a:ext cx="2919412" cy="493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50" tIns="45375" rIns="90750" bIns="4537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901700" y="739775"/>
            <a:ext cx="4932363" cy="370046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73100" y="4686300"/>
            <a:ext cx="5389563" cy="4440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50" tIns="45375" rIns="90750" bIns="45375" anchor="t" anchorCtr="0">
            <a:noAutofit/>
          </a:bodyPr>
          <a:lstStyle>
            <a:lvl1pPr marL="457200" marR="0" lvl="0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371013"/>
            <a:ext cx="2919413" cy="493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50" tIns="45375" rIns="90750" bIns="4537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14763" y="9371013"/>
            <a:ext cx="2919412" cy="493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50" tIns="45375" rIns="90750" bIns="453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901700" y="739775"/>
            <a:ext cx="4932363" cy="370046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7" name="Google Shape;87;p1:notes"/>
          <p:cNvSpPr txBox="1">
            <a:spLocks noGrp="1"/>
          </p:cNvSpPr>
          <p:nvPr>
            <p:ph type="body" idx="1"/>
          </p:nvPr>
        </p:nvSpPr>
        <p:spPr>
          <a:xfrm>
            <a:off x="673100" y="4686300"/>
            <a:ext cx="5389563" cy="4440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50" tIns="45375" rIns="90750" bIns="4537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8" name="Google Shape;88;p1:notes"/>
          <p:cNvSpPr txBox="1">
            <a:spLocks noGrp="1"/>
          </p:cNvSpPr>
          <p:nvPr>
            <p:ph type="sldNum" idx="12"/>
          </p:nvPr>
        </p:nvSpPr>
        <p:spPr>
          <a:xfrm>
            <a:off x="3814763" y="9371013"/>
            <a:ext cx="2919412" cy="493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50" tIns="45375" rIns="90750" bIns="4537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FA72E-7B1E-570C-7ECE-2A9D411BA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C60326-EB59-B819-A73C-E27F9C4CF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89B345-0F92-275E-2445-440A549DD4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950146-888F-0CF0-540C-087B0B1DAA9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7299752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51B80C-F1E7-8E6C-6A46-5E1B30C2E4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27300A-7843-1F27-EC97-D6F7A5B8A8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70DFD0-E65F-EF19-B888-307A0FA657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1F46F3-A5EF-C9BC-83F9-F0E510B335B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846330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FECEBA-3058-4028-80C1-D9276C267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7EC2F8-DE83-CE37-FDDC-40A016968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D6D95A-C684-AFE9-31D4-D3DC6D04D3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A4D6C3-B742-2758-798B-E85B976BD02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8655485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751CE-55BD-995D-BA14-1A615D3DAD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40C985-B4B7-9716-394E-401BCBE008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027B66-DC2F-2562-01F8-D3D7F33C9C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347BBA-F2FD-D66F-4ACF-002375ADF05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829517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8D122-AC42-75E0-513F-A82D7F5AA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1E1282-2461-3682-9A95-8ECE116718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EDEABB-CC24-3C99-99F7-0A344F9052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1FDF4F-5713-19AA-629E-93BB09FD2E4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11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3590886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118713-824C-8B3D-F72F-64C4B4549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919FF8-5171-7534-B16B-12C407251F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AF4860-F55D-008E-B0EF-C247BD7E7D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B2F48F-79A3-5B43-7738-A2C07F6F50D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12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8588175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6409E-06CA-6544-D9CE-95C802EE2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ECAB04-CA79-F775-85FE-EB1E7EF4A1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53F66C-4521-03A7-8337-61442E3013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37FCAE-8EAC-0572-CA86-06EA9030ACA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13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63274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248A6D-AE33-460A-BFA1-F65753FC4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F5E34E-2EF7-2100-360A-29E9C61DC3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3F404F-3B6D-A347-7870-928DDA68C1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49CCBD-7C39-5EC0-CB39-17CC4F08D7F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14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112195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7"/>
          <p:cNvSpPr txBox="1">
            <a:spLocks noGrp="1"/>
          </p:cNvSpPr>
          <p:nvPr>
            <p:ph type="title"/>
          </p:nvPr>
        </p:nvSpPr>
        <p:spPr>
          <a:xfrm>
            <a:off x="457200" y="76200"/>
            <a:ext cx="746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30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7"/>
          <p:cNvSpPr txBox="1">
            <a:spLocks noGrp="1"/>
          </p:cNvSpPr>
          <p:nvPr>
            <p:ph type="body" idx="1"/>
          </p:nvPr>
        </p:nvSpPr>
        <p:spPr>
          <a:xfrm>
            <a:off x="457200" y="1323105"/>
            <a:ext cx="8229600" cy="46783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93700" algn="l">
              <a:spcBef>
                <a:spcPts val="100"/>
              </a:spcBef>
              <a:spcAft>
                <a:spcPts val="0"/>
              </a:spcAft>
              <a:buClr>
                <a:srgbClr val="0C0C0C"/>
              </a:buClr>
              <a:buSzPts val="2600"/>
              <a:buFont typeface="Noto Sans Symbols"/>
              <a:buChar char="❑"/>
              <a:defRPr sz="2600" b="1">
                <a:solidFill>
                  <a:srgbClr val="0C0C0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81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>
                <a:solidFill>
                  <a:schemeClr val="dk1"/>
                </a:solidFill>
              </a:defRPr>
            </a:lvl2pPr>
            <a:lvl3pPr marL="1371600" lvl="2" indent="-381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>
                <a:solidFill>
                  <a:schemeClr val="dk1"/>
                </a:solidFill>
              </a:defRPr>
            </a:lvl3pPr>
            <a:lvl4pPr marL="1828800" lvl="3" indent="-381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>
                <a:solidFill>
                  <a:schemeClr val="dk1"/>
                </a:solidFill>
              </a:defRPr>
            </a:lvl4pPr>
            <a:lvl5pPr marL="2286000" lvl="4" indent="-355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>
                <a:solidFill>
                  <a:schemeClr val="dk1"/>
                </a:solidFill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" name="Google Shape;18;p2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8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2060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28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10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4" name="Google Shape;24;p2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2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oogle Shape;28;p29"/>
          <p:cNvPicPr preferRelativeResize="0"/>
          <p:nvPr/>
        </p:nvPicPr>
        <p:blipFill rotWithShape="1">
          <a:blip r:embed="rId2">
            <a:alphaModFix/>
          </a:blip>
          <a:srcRect t="8081" b="8861"/>
          <a:stretch/>
        </p:blipFill>
        <p:spPr>
          <a:xfrm>
            <a:off x="0" y="1131888"/>
            <a:ext cx="9144000" cy="5370512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Google Shape;29;p29"/>
          <p:cNvSpPr txBox="1">
            <a:spLocks noGrp="1"/>
          </p:cNvSpPr>
          <p:nvPr>
            <p:ph type="title"/>
          </p:nvPr>
        </p:nvSpPr>
        <p:spPr>
          <a:xfrm>
            <a:off x="0" y="2057400"/>
            <a:ext cx="9144000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4000" b="1" cap="non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29"/>
          <p:cNvSpPr txBox="1">
            <a:spLocks noGrp="1"/>
          </p:cNvSpPr>
          <p:nvPr>
            <p:ph type="body" idx="1"/>
          </p:nvPr>
        </p:nvSpPr>
        <p:spPr>
          <a:xfrm>
            <a:off x="457200" y="76200"/>
            <a:ext cx="72390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l">
              <a:spcBef>
                <a:spcPts val="100"/>
              </a:spcBef>
              <a:spcAft>
                <a:spcPts val="0"/>
              </a:spcAft>
              <a:buClr>
                <a:srgbClr val="FFFF00"/>
              </a:buClr>
              <a:buSzPts val="3000"/>
              <a:buNone/>
              <a:defRPr sz="30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1" name="Google Shape;31;p2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2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2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30"/>
          <p:cNvSpPr txBox="1">
            <a:spLocks noGrp="1"/>
          </p:cNvSpPr>
          <p:nvPr>
            <p:ph type="title"/>
          </p:nvPr>
        </p:nvSpPr>
        <p:spPr>
          <a:xfrm>
            <a:off x="457200" y="152400"/>
            <a:ext cx="74676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30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937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2600"/>
              <a:buChar char="•"/>
              <a:defRPr sz="2600">
                <a:solidFill>
                  <a:schemeClr val="dk1"/>
                </a:solidFill>
              </a:defRPr>
            </a:lvl1pPr>
            <a:lvl2pPr marL="914400" lvl="1" indent="-381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>
                <a:solidFill>
                  <a:schemeClr val="dk1"/>
                </a:solidFill>
              </a:defRPr>
            </a:lvl2pPr>
            <a:lvl3pPr marL="1371600" lvl="2" indent="-355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>
                <a:solidFill>
                  <a:schemeClr val="dk1"/>
                </a:solidFill>
              </a:defRPr>
            </a:lvl3pPr>
            <a:lvl4pPr marL="1828800" lvl="3" indent="-3429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>
                <a:solidFill>
                  <a:schemeClr val="dk1"/>
                </a:solidFill>
              </a:defRPr>
            </a:lvl4pPr>
            <a:lvl5pPr marL="2286000" lvl="4" indent="-3429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>
                <a:solidFill>
                  <a:schemeClr val="dk1"/>
                </a:solidFill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30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937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2600"/>
              <a:buChar char="•"/>
              <a:defRPr sz="2600">
                <a:solidFill>
                  <a:schemeClr val="dk1"/>
                </a:solidFill>
              </a:defRPr>
            </a:lvl1pPr>
            <a:lvl2pPr marL="914400" lvl="1" indent="-381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>
                <a:solidFill>
                  <a:schemeClr val="dk1"/>
                </a:solidFill>
              </a:defRPr>
            </a:lvl2pPr>
            <a:lvl3pPr marL="1371600" lvl="2" indent="-355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>
                <a:solidFill>
                  <a:schemeClr val="dk1"/>
                </a:solidFill>
              </a:defRPr>
            </a:lvl3pPr>
            <a:lvl4pPr marL="1828800" lvl="3" indent="-3429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>
                <a:solidFill>
                  <a:schemeClr val="dk1"/>
                </a:solidFill>
              </a:defRPr>
            </a:lvl4pPr>
            <a:lvl5pPr marL="2286000" lvl="4" indent="-3429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>
                <a:solidFill>
                  <a:schemeClr val="dk1"/>
                </a:solidFill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8" name="Google Shape;38;p3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3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3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31"/>
          <p:cNvSpPr txBox="1">
            <a:spLocks noGrp="1"/>
          </p:cNvSpPr>
          <p:nvPr>
            <p:ph type="title"/>
          </p:nvPr>
        </p:nvSpPr>
        <p:spPr>
          <a:xfrm>
            <a:off x="457200" y="152400"/>
            <a:ext cx="74676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31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4" name="Google Shape;44;p31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5" name="Google Shape;45;p31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6" name="Google Shape;46;p31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7" name="Google Shape;47;p3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3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3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32"/>
          <p:cNvSpPr txBox="1">
            <a:spLocks noGrp="1"/>
          </p:cNvSpPr>
          <p:nvPr>
            <p:ph type="title"/>
          </p:nvPr>
        </p:nvSpPr>
        <p:spPr>
          <a:xfrm>
            <a:off x="457200" y="152400"/>
            <a:ext cx="74676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3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3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3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3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3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3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34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34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318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2" name="Google Shape;62;p34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3" name="Google Shape;63;p3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3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3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35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35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35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70" name="Google Shape;70;p3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3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3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36"/>
          <p:cNvSpPr txBox="1">
            <a:spLocks noGrp="1"/>
          </p:cNvSpPr>
          <p:nvPr>
            <p:ph type="title"/>
          </p:nvPr>
        </p:nvSpPr>
        <p:spPr>
          <a:xfrm>
            <a:off x="457200" y="152400"/>
            <a:ext cx="74676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36"/>
          <p:cNvSpPr txBox="1">
            <a:spLocks noGrp="1"/>
          </p:cNvSpPr>
          <p:nvPr>
            <p:ph type="body" idx="1"/>
          </p:nvPr>
        </p:nvSpPr>
        <p:spPr>
          <a:xfrm rot="5400000">
            <a:off x="2194719" y="-365918"/>
            <a:ext cx="47545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3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3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3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37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37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3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3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3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3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6"/>
          <p:cNvSpPr txBox="1">
            <a:spLocks noGrp="1"/>
          </p:cNvSpPr>
          <p:nvPr>
            <p:ph type="title"/>
          </p:nvPr>
        </p:nvSpPr>
        <p:spPr>
          <a:xfrm>
            <a:off x="457200" y="152400"/>
            <a:ext cx="74676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1" i="0" u="none" strike="noStrike" cap="non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1" i="0" u="none" strike="noStrike" cap="non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1" i="0" u="none" strike="noStrike" cap="non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1" i="0" u="none" strike="noStrike" cap="non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1" i="0" u="none" strike="noStrike" cap="non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26"/>
          <p:cNvSpPr txBox="1">
            <a:spLocks noGrp="1"/>
          </p:cNvSpPr>
          <p:nvPr>
            <p:ph type="body" idx="1"/>
          </p:nvPr>
        </p:nvSpPr>
        <p:spPr>
          <a:xfrm>
            <a:off x="457200" y="1371600"/>
            <a:ext cx="8229600" cy="4754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2800"/>
              <a:buFont typeface="Arial"/>
              <a:buChar char="•"/>
              <a:defRPr sz="2800" b="1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400"/>
              <a:buFont typeface="Arial"/>
              <a:buChar char="–"/>
              <a:defRPr sz="24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55600" algn="l" rtl="0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55600" algn="l" rtl="0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2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2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2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"/>
          <p:cNvSpPr txBox="1"/>
          <p:nvPr/>
        </p:nvSpPr>
        <p:spPr>
          <a:xfrm>
            <a:off x="307428" y="1572588"/>
            <a:ext cx="8027277" cy="21236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just">
              <a:buClr>
                <a:srgbClr val="212529"/>
              </a:buClr>
              <a:buSzPts val="2400"/>
            </a:pPr>
            <a:r>
              <a:rPr lang="vi-VN" sz="4400" b="1" i="0" u="none" strike="noStrike" cap="none">
                <a:solidFill>
                  <a:srgbClr val="212529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Nhận dạng cảm xúc trên tập cơ sở dữ liệu FER2013 sử dụng thuật toán K-</a:t>
            </a:r>
            <a:r>
              <a:rPr lang="vi-VN" sz="4400" b="1" i="0" u="none" strike="noStrike" cap="none" dirty="0" err="1">
                <a:solidFill>
                  <a:srgbClr val="212529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means</a:t>
            </a:r>
            <a:endParaRPr lang="vi-VN" sz="4400" b="1" i="0" u="none" strike="noStrike" cap="none" dirty="0">
              <a:solidFill>
                <a:srgbClr val="212529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381000" y="3920820"/>
            <a:ext cx="7620000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2400" b="0" i="0" u="none" strike="noStrike" cap="none" dirty="0">
                <a:solidFill>
                  <a:srgbClr val="0C0C0C"/>
                </a:solidFill>
                <a:latin typeface="Calibri"/>
                <a:ea typeface="Calibri"/>
                <a:cs typeface="Calibri"/>
                <a:sym typeface="Calibri"/>
              </a:rPr>
              <a:t>GVHD: TS. Nguyễn Thúy Bình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2400" b="0" i="0" u="none" strike="noStrike" cap="none" dirty="0">
                <a:solidFill>
                  <a:srgbClr val="0C0C0C"/>
                </a:solidFill>
                <a:latin typeface="Calibri"/>
                <a:ea typeface="Calibri"/>
                <a:cs typeface="Calibri"/>
                <a:sym typeface="Calibri"/>
              </a:rPr>
              <a:t>Nguyễn Thành Đạt </a:t>
            </a:r>
            <a:r>
              <a:rPr lang="en-US" sz="2400" dirty="0">
                <a:solidFill>
                  <a:srgbClr val="0C0C0C"/>
                </a:solidFill>
                <a:latin typeface="Calibri"/>
                <a:ea typeface="Calibri"/>
                <a:cs typeface="Calibri"/>
                <a:sym typeface="Calibri"/>
              </a:rPr>
              <a:t>-</a:t>
            </a:r>
            <a:r>
              <a:rPr lang="en-US" sz="2400" b="0" i="0" u="none" strike="noStrike" cap="none" dirty="0">
                <a:solidFill>
                  <a:srgbClr val="0C0C0C"/>
                </a:solidFill>
                <a:latin typeface="Calibri"/>
                <a:ea typeface="Calibri"/>
                <a:cs typeface="Calibri"/>
                <a:sym typeface="Calibri"/>
              </a:rPr>
              <a:t> 211440519 – KTDT-THCN1-K62</a:t>
            </a:r>
            <a:endParaRPr sz="2400" b="0" i="0" u="none" strike="noStrike" cap="none" dirty="0">
              <a:solidFill>
                <a:srgbClr val="0C0C0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116E839-D721-14A3-6ED0-70234A9F9C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" y="1"/>
            <a:ext cx="2425700" cy="1219200"/>
          </a:xfrm>
        </p:spPr>
        <p:txBody>
          <a:bodyPr/>
          <a:lstStyle/>
          <a:p>
            <a:r>
              <a:rPr lang="vi-VN" dirty="0">
                <a:solidFill>
                  <a:schemeClr val="bg1"/>
                </a:solidFill>
              </a:rPr>
              <a:t>Mục lục</a:t>
            </a:r>
          </a:p>
        </p:txBody>
      </p:sp>
      <p:sp>
        <p:nvSpPr>
          <p:cNvPr id="3" name="Tiêu đề phụ 2">
            <a:extLst>
              <a:ext uri="{FF2B5EF4-FFF2-40B4-BE49-F238E27FC236}">
                <a16:creationId xmlns:a16="http://schemas.microsoft.com/office/drawing/2014/main" id="{6FD4E566-6E04-8BF4-4DBF-D6E2A0E194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2003" y="1629541"/>
            <a:ext cx="5551652" cy="2458984"/>
          </a:xfrm>
        </p:spPr>
        <p:txBody>
          <a:bodyPr/>
          <a:lstStyle/>
          <a:p>
            <a:pPr marL="565150" indent="-514350" algn="l">
              <a:buAutoNum type="arabicPeriod"/>
            </a:pPr>
            <a:r>
              <a:rPr lang="vi-VN" dirty="0">
                <a:solidFill>
                  <a:schemeClr val="tx1"/>
                </a:solidFill>
              </a:rPr>
              <a:t>Giới thiệu về bài toán</a:t>
            </a:r>
          </a:p>
          <a:p>
            <a:pPr marL="565150" indent="-514350" algn="l">
              <a:buAutoNum type="arabicPeriod"/>
            </a:pPr>
            <a:r>
              <a:rPr lang="vi-VN" dirty="0">
                <a:solidFill>
                  <a:schemeClr val="tx1"/>
                </a:solidFill>
              </a:rPr>
              <a:t>Thuật toán và tập dữ liệu</a:t>
            </a:r>
          </a:p>
          <a:p>
            <a:pPr marL="565150" indent="-514350" algn="l">
              <a:buAutoNum type="arabicPeriod"/>
            </a:pPr>
            <a:r>
              <a:rPr lang="vi-VN" dirty="0">
                <a:solidFill>
                  <a:schemeClr val="tx1"/>
                </a:solidFill>
              </a:rPr>
              <a:t>Khảo sát, đánh giá</a:t>
            </a:r>
          </a:p>
          <a:p>
            <a:pPr marL="565150" indent="-514350" algn="l">
              <a:buAutoNum type="arabicPeriod"/>
            </a:pPr>
            <a:r>
              <a:rPr lang="vi-VN" dirty="0">
                <a:solidFill>
                  <a:schemeClr val="tx1"/>
                </a:solidFill>
              </a:rPr>
              <a:t>So sánh, đối chiếu kết quả</a:t>
            </a:r>
          </a:p>
          <a:p>
            <a:pPr marL="565150" indent="-514350" algn="l">
              <a:buAutoNum type="arabicPeriod"/>
            </a:pPr>
            <a:r>
              <a:rPr lang="vi-VN" dirty="0">
                <a:solidFill>
                  <a:schemeClr val="tx1"/>
                </a:solidFill>
              </a:rPr>
              <a:t>Hướng phát triển</a:t>
            </a:r>
          </a:p>
          <a:p>
            <a:pPr marL="565150" indent="-514350" algn="l">
              <a:buAutoNum type="arabicPeriod"/>
            </a:pPr>
            <a:endParaRPr lang="vi-VN" dirty="0">
              <a:solidFill>
                <a:schemeClr val="tx1"/>
              </a:solidFill>
            </a:endParaRP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4D617F7E-2E3A-6A3A-0AEE-2754B0BD2AF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01836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080D5620-B959-6CC1-6C49-6012D41DCE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1718" y="2253265"/>
            <a:ext cx="8085082" cy="1887811"/>
          </a:xfrm>
        </p:spPr>
        <p:txBody>
          <a:bodyPr/>
          <a:lstStyle/>
          <a:p>
            <a:r>
              <a:rPr lang="vi-VN" dirty="0"/>
              <a:t>1. Giới thiệu về bài toán</a:t>
            </a:r>
            <a:br>
              <a:rPr lang="vi-VN" dirty="0"/>
            </a:br>
            <a:endParaRPr lang="vi-VN" dirty="0"/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76E85DE9-03AF-B46B-A71F-CF98467CDFD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7117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D726C0EA-B636-B755-FB83-5CA3666C00F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4</a:t>
            </a:fld>
            <a:endParaRPr lang="en-US"/>
          </a:p>
        </p:txBody>
      </p:sp>
      <p:sp>
        <p:nvSpPr>
          <p:cNvPr id="5" name="Tiêu đề 1">
            <a:extLst>
              <a:ext uri="{FF2B5EF4-FFF2-40B4-BE49-F238E27FC236}">
                <a16:creationId xmlns:a16="http://schemas.microsoft.com/office/drawing/2014/main" id="{8BAAE06C-939C-47DB-C167-EBC7214182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6634" y="346732"/>
            <a:ext cx="5276193" cy="431033"/>
          </a:xfrm>
        </p:spPr>
        <p:txBody>
          <a:bodyPr/>
          <a:lstStyle/>
          <a:p>
            <a:r>
              <a:rPr lang="vi-VN" dirty="0">
                <a:solidFill>
                  <a:schemeClr val="bg1"/>
                </a:solidFill>
              </a:rPr>
              <a:t>1. Giới thiệu về bài toán</a:t>
            </a: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E783A09B-3AB1-8FD8-B481-ACB2351473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6537" y="1670545"/>
            <a:ext cx="7462346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vi-VN" altLang="vi-V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 Nhận dạng cảm xúc</a:t>
            </a:r>
            <a:r>
              <a:rPr lang="vi-VN" altLang="vi-VN" sz="2400" dirty="0">
                <a:solidFill>
                  <a:schemeClr val="tx1"/>
                </a:solidFill>
                <a:latin typeface="Arial" panose="020B0604020202020204" pitchFamily="34" charset="0"/>
              </a:rPr>
              <a:t> với </a:t>
            </a:r>
            <a:r>
              <a:rPr kumimoji="0" lang="vi-VN" altLang="vi-V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FER2013 là bộ dữ liệu chuẩn gồm nhiều ảnh khuôn mặt với các cảm xúc khác nhau.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vi-VN" altLang="vi-V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 Thuật toán K-</a:t>
            </a:r>
            <a:r>
              <a:rPr kumimoji="0" lang="vi-VN" altLang="vi-VN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means</a:t>
            </a:r>
            <a:r>
              <a:rPr kumimoji="0" lang="vi-VN" altLang="vi-V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được dùng để phân cụm ảnh sau khi tiền xử lý và trích xuất đặc trưng với HOG và giảm chiều dữ liệu với PCA.</a:t>
            </a:r>
          </a:p>
        </p:txBody>
      </p:sp>
    </p:spTree>
    <p:extLst>
      <p:ext uri="{BB962C8B-B14F-4D97-AF65-F5344CB8AC3E}">
        <p14:creationId xmlns:p14="http://schemas.microsoft.com/office/powerpoint/2010/main" val="39408401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F6CE7E-E3D7-97E1-2892-C9657AAA1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CE9D59FF-F3A7-4865-FDBC-BE637094506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5</a:t>
            </a:fld>
            <a:endParaRPr lang="en-US"/>
          </a:p>
        </p:txBody>
      </p:sp>
      <p:sp>
        <p:nvSpPr>
          <p:cNvPr id="5" name="Tiêu đề 1">
            <a:extLst>
              <a:ext uri="{FF2B5EF4-FFF2-40B4-BE49-F238E27FC236}">
                <a16:creationId xmlns:a16="http://schemas.microsoft.com/office/drawing/2014/main" id="{2EA496C5-6FA8-1FF0-B32F-BB6F1092ED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6634" y="346732"/>
            <a:ext cx="5276193" cy="431033"/>
          </a:xfrm>
        </p:spPr>
        <p:txBody>
          <a:bodyPr/>
          <a:lstStyle/>
          <a:p>
            <a:r>
              <a:rPr lang="vi-VN" dirty="0">
                <a:solidFill>
                  <a:schemeClr val="bg1"/>
                </a:solidFill>
              </a:rPr>
              <a:t>1. Giới thiệu về bài toán</a:t>
            </a:r>
          </a:p>
        </p:txBody>
      </p:sp>
    </p:spTree>
    <p:extLst>
      <p:ext uri="{BB962C8B-B14F-4D97-AF65-F5344CB8AC3E}">
        <p14:creationId xmlns:p14="http://schemas.microsoft.com/office/powerpoint/2010/main" val="35386713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62B81-75AA-C2B1-35A9-79D8995A9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AE72686B-B4D5-3F3D-BB56-93444474E4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1718" y="2253265"/>
            <a:ext cx="8085082" cy="1887811"/>
          </a:xfrm>
        </p:spPr>
        <p:txBody>
          <a:bodyPr/>
          <a:lstStyle/>
          <a:p>
            <a:pPr marL="50800"/>
            <a:r>
              <a:rPr lang="vi-VN" dirty="0"/>
              <a:t>2. Thuật toán và tập dữ liệu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5AAF4BD4-1995-45FA-6F87-95655EF489F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0821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DA040-AACF-49F2-48C9-86A731538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E95F03-CF5E-ED2C-CA10-008F4C1EEF5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7</a:t>
            </a:fld>
            <a:endParaRPr lang="en-US"/>
          </a:p>
        </p:txBody>
      </p:sp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B1B08C7F-FABD-EA11-9358-FBCB8BA0B35C}"/>
              </a:ext>
            </a:extLst>
          </p:cNvPr>
          <p:cNvSpPr txBox="1"/>
          <p:nvPr/>
        </p:nvSpPr>
        <p:spPr>
          <a:xfrm>
            <a:off x="336330" y="252248"/>
            <a:ext cx="606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Thuật toán và tập dữ liệu</a:t>
            </a:r>
          </a:p>
        </p:txBody>
      </p:sp>
      <p:sp>
        <p:nvSpPr>
          <p:cNvPr id="3" name="Hình chữ nhật 2">
            <a:extLst>
              <a:ext uri="{FF2B5EF4-FFF2-40B4-BE49-F238E27FC236}">
                <a16:creationId xmlns:a16="http://schemas.microsoft.com/office/drawing/2014/main" id="{0ECF1DFA-DC91-6BCE-8D88-A35617239E9E}"/>
              </a:ext>
            </a:extLst>
          </p:cNvPr>
          <p:cNvSpPr/>
          <p:nvPr/>
        </p:nvSpPr>
        <p:spPr>
          <a:xfrm>
            <a:off x="483476" y="1891807"/>
            <a:ext cx="1912883" cy="8408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2000" dirty="0"/>
              <a:t>Nhập ảnh </a:t>
            </a:r>
          </a:p>
          <a:p>
            <a:pPr algn="ctr"/>
            <a:r>
              <a:rPr lang="vi-VN" sz="2000" dirty="0"/>
              <a:t>đầu vào</a:t>
            </a:r>
          </a:p>
        </p:txBody>
      </p:sp>
      <p:sp>
        <p:nvSpPr>
          <p:cNvPr id="8" name="Hình chữ nhật 7">
            <a:extLst>
              <a:ext uri="{FF2B5EF4-FFF2-40B4-BE49-F238E27FC236}">
                <a16:creationId xmlns:a16="http://schemas.microsoft.com/office/drawing/2014/main" id="{492EF051-B0E1-7005-61AE-6F692618399D}"/>
              </a:ext>
            </a:extLst>
          </p:cNvPr>
          <p:cNvSpPr/>
          <p:nvPr/>
        </p:nvSpPr>
        <p:spPr>
          <a:xfrm>
            <a:off x="3628696" y="1891805"/>
            <a:ext cx="1912883" cy="8408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2000" dirty="0"/>
              <a:t>Tiền xử lý</a:t>
            </a:r>
          </a:p>
        </p:txBody>
      </p:sp>
      <p:sp>
        <p:nvSpPr>
          <p:cNvPr id="9" name="Hình chữ nhật 8">
            <a:extLst>
              <a:ext uri="{FF2B5EF4-FFF2-40B4-BE49-F238E27FC236}">
                <a16:creationId xmlns:a16="http://schemas.microsoft.com/office/drawing/2014/main" id="{417ED55F-C876-120E-CAC4-C04453E1FF91}"/>
              </a:ext>
            </a:extLst>
          </p:cNvPr>
          <p:cNvSpPr/>
          <p:nvPr/>
        </p:nvSpPr>
        <p:spPr>
          <a:xfrm>
            <a:off x="6773917" y="1891806"/>
            <a:ext cx="1912883" cy="8408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2000" dirty="0"/>
              <a:t>Trích chọn đặc trưng</a:t>
            </a:r>
          </a:p>
        </p:txBody>
      </p:sp>
      <p:sp>
        <p:nvSpPr>
          <p:cNvPr id="10" name="Hình chữ nhật 9">
            <a:extLst>
              <a:ext uri="{FF2B5EF4-FFF2-40B4-BE49-F238E27FC236}">
                <a16:creationId xmlns:a16="http://schemas.microsoft.com/office/drawing/2014/main" id="{76E5A664-007F-56A5-D2D1-3DAB93983032}"/>
              </a:ext>
            </a:extLst>
          </p:cNvPr>
          <p:cNvSpPr/>
          <p:nvPr/>
        </p:nvSpPr>
        <p:spPr>
          <a:xfrm>
            <a:off x="3628696" y="3639208"/>
            <a:ext cx="1912883" cy="8408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2000" dirty="0"/>
              <a:t>Giảm chiều dữ liệu</a:t>
            </a:r>
          </a:p>
        </p:txBody>
      </p:sp>
      <p:sp>
        <p:nvSpPr>
          <p:cNvPr id="11" name="Hình chữ nhật 10">
            <a:extLst>
              <a:ext uri="{FF2B5EF4-FFF2-40B4-BE49-F238E27FC236}">
                <a16:creationId xmlns:a16="http://schemas.microsoft.com/office/drawing/2014/main" id="{F9E41102-4885-BCE8-D8C7-D335636F22E4}"/>
              </a:ext>
            </a:extLst>
          </p:cNvPr>
          <p:cNvSpPr/>
          <p:nvPr/>
        </p:nvSpPr>
        <p:spPr>
          <a:xfrm>
            <a:off x="6773917" y="3639208"/>
            <a:ext cx="1912883" cy="8408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2000" dirty="0"/>
              <a:t>Chuẩn hóa</a:t>
            </a:r>
          </a:p>
        </p:txBody>
      </p:sp>
      <p:sp>
        <p:nvSpPr>
          <p:cNvPr id="12" name="Hình chữ nhật 11">
            <a:extLst>
              <a:ext uri="{FF2B5EF4-FFF2-40B4-BE49-F238E27FC236}">
                <a16:creationId xmlns:a16="http://schemas.microsoft.com/office/drawing/2014/main" id="{499D00A5-3133-58FB-A134-C4C70BFC7DD4}"/>
              </a:ext>
            </a:extLst>
          </p:cNvPr>
          <p:cNvSpPr/>
          <p:nvPr/>
        </p:nvSpPr>
        <p:spPr>
          <a:xfrm>
            <a:off x="483476" y="3639208"/>
            <a:ext cx="1912883" cy="8408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2000" dirty="0"/>
              <a:t>Phân cụm</a:t>
            </a:r>
          </a:p>
        </p:txBody>
      </p:sp>
      <p:sp>
        <p:nvSpPr>
          <p:cNvPr id="13" name="Hình chữ nhật 12">
            <a:extLst>
              <a:ext uri="{FF2B5EF4-FFF2-40B4-BE49-F238E27FC236}">
                <a16:creationId xmlns:a16="http://schemas.microsoft.com/office/drawing/2014/main" id="{7BD08632-E40F-0F64-556C-2EB3EADE0823}"/>
              </a:ext>
            </a:extLst>
          </p:cNvPr>
          <p:cNvSpPr/>
          <p:nvPr/>
        </p:nvSpPr>
        <p:spPr>
          <a:xfrm>
            <a:off x="1986457" y="5370843"/>
            <a:ext cx="1912883" cy="8408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 dirty="0"/>
              <a:t>Gán nhãn cảm xúc cho từng cụm</a:t>
            </a:r>
          </a:p>
        </p:txBody>
      </p:sp>
      <p:sp>
        <p:nvSpPr>
          <p:cNvPr id="18" name="Hình chữ nhật 17">
            <a:extLst>
              <a:ext uri="{FF2B5EF4-FFF2-40B4-BE49-F238E27FC236}">
                <a16:creationId xmlns:a16="http://schemas.microsoft.com/office/drawing/2014/main" id="{30952715-E2D1-F4EA-82FB-2C012996B5DC}"/>
              </a:ext>
            </a:extLst>
          </p:cNvPr>
          <p:cNvSpPr/>
          <p:nvPr/>
        </p:nvSpPr>
        <p:spPr>
          <a:xfrm>
            <a:off x="5201306" y="5365560"/>
            <a:ext cx="1912883" cy="8408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2000" dirty="0"/>
              <a:t>Đánh giá</a:t>
            </a:r>
          </a:p>
        </p:txBody>
      </p:sp>
      <p:cxnSp>
        <p:nvCxnSpPr>
          <p:cNvPr id="20" name="Đường kết nối Mũi tên Thẳng 19">
            <a:extLst>
              <a:ext uri="{FF2B5EF4-FFF2-40B4-BE49-F238E27FC236}">
                <a16:creationId xmlns:a16="http://schemas.microsoft.com/office/drawing/2014/main" id="{BFE6CB3F-7137-A7FC-E7F7-74ED4A3C62BF}"/>
              </a:ext>
            </a:extLst>
          </p:cNvPr>
          <p:cNvCxnSpPr>
            <a:stCxn id="3" idx="3"/>
            <a:endCxn id="8" idx="1"/>
          </p:cNvCxnSpPr>
          <p:nvPr/>
        </p:nvCxnSpPr>
        <p:spPr>
          <a:xfrm flipV="1">
            <a:off x="2396359" y="2312247"/>
            <a:ext cx="1232337" cy="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Đường kết nối Mũi tên Thẳng 21">
            <a:extLst>
              <a:ext uri="{FF2B5EF4-FFF2-40B4-BE49-F238E27FC236}">
                <a16:creationId xmlns:a16="http://schemas.microsoft.com/office/drawing/2014/main" id="{378FD608-11D0-406A-923F-CFB01B443951}"/>
              </a:ext>
            </a:extLst>
          </p:cNvPr>
          <p:cNvCxnSpPr>
            <a:stCxn id="8" idx="3"/>
            <a:endCxn id="9" idx="1"/>
          </p:cNvCxnSpPr>
          <p:nvPr/>
        </p:nvCxnSpPr>
        <p:spPr>
          <a:xfrm>
            <a:off x="5541579" y="2312247"/>
            <a:ext cx="1232338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Đường kết nối Mũi tên Thẳng 23">
            <a:extLst>
              <a:ext uri="{FF2B5EF4-FFF2-40B4-BE49-F238E27FC236}">
                <a16:creationId xmlns:a16="http://schemas.microsoft.com/office/drawing/2014/main" id="{E45B1D7E-1745-9226-AD9F-5B51C075D935}"/>
              </a:ext>
            </a:extLst>
          </p:cNvPr>
          <p:cNvCxnSpPr>
            <a:stCxn id="9" idx="2"/>
            <a:endCxn id="11" idx="0"/>
          </p:cNvCxnSpPr>
          <p:nvPr/>
        </p:nvCxnSpPr>
        <p:spPr>
          <a:xfrm>
            <a:off x="7730359" y="2732689"/>
            <a:ext cx="0" cy="9065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26F58548-1327-2AF5-CF57-E2B0A5A812AF}"/>
              </a:ext>
            </a:extLst>
          </p:cNvPr>
          <p:cNvCxnSpPr>
            <a:cxnSpLocks/>
            <a:stCxn id="11" idx="1"/>
            <a:endCxn id="10" idx="3"/>
          </p:cNvCxnSpPr>
          <p:nvPr/>
        </p:nvCxnSpPr>
        <p:spPr>
          <a:xfrm flipH="1">
            <a:off x="5541579" y="4059650"/>
            <a:ext cx="12323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Đường kết nối Mũi tên Thẳng 27">
            <a:extLst>
              <a:ext uri="{FF2B5EF4-FFF2-40B4-BE49-F238E27FC236}">
                <a16:creationId xmlns:a16="http://schemas.microsoft.com/office/drawing/2014/main" id="{56BCB189-EE83-B6A7-CEB9-E30578D28048}"/>
              </a:ext>
            </a:extLst>
          </p:cNvPr>
          <p:cNvCxnSpPr>
            <a:cxnSpLocks/>
            <a:stCxn id="10" idx="1"/>
          </p:cNvCxnSpPr>
          <p:nvPr/>
        </p:nvCxnSpPr>
        <p:spPr>
          <a:xfrm flipH="1" flipV="1">
            <a:off x="2396359" y="4059649"/>
            <a:ext cx="1232337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Đường kết nối Mũi tên Thẳng 29">
            <a:extLst>
              <a:ext uri="{FF2B5EF4-FFF2-40B4-BE49-F238E27FC236}">
                <a16:creationId xmlns:a16="http://schemas.microsoft.com/office/drawing/2014/main" id="{CE80C51D-10F2-4207-0F8B-137366DC1F15}"/>
              </a:ext>
            </a:extLst>
          </p:cNvPr>
          <p:cNvCxnSpPr>
            <a:cxnSpLocks/>
            <a:stCxn id="12" idx="2"/>
            <a:endCxn id="13" idx="1"/>
          </p:cNvCxnSpPr>
          <p:nvPr/>
        </p:nvCxnSpPr>
        <p:spPr>
          <a:xfrm>
            <a:off x="1439918" y="4480091"/>
            <a:ext cx="546539" cy="13111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Đường kết nối Mũi tên Thẳng 32">
            <a:extLst>
              <a:ext uri="{FF2B5EF4-FFF2-40B4-BE49-F238E27FC236}">
                <a16:creationId xmlns:a16="http://schemas.microsoft.com/office/drawing/2014/main" id="{0A5420DA-D5D5-166E-AB3B-6BDEBB190BCE}"/>
              </a:ext>
            </a:extLst>
          </p:cNvPr>
          <p:cNvCxnSpPr>
            <a:cxnSpLocks/>
            <a:stCxn id="13" idx="3"/>
            <a:endCxn id="18" idx="1"/>
          </p:cNvCxnSpPr>
          <p:nvPr/>
        </p:nvCxnSpPr>
        <p:spPr>
          <a:xfrm flipV="1">
            <a:off x="3899340" y="5786002"/>
            <a:ext cx="1301966" cy="52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Hộp Văn bản 37">
            <a:extLst>
              <a:ext uri="{FF2B5EF4-FFF2-40B4-BE49-F238E27FC236}">
                <a16:creationId xmlns:a16="http://schemas.microsoft.com/office/drawing/2014/main" id="{FE0F759E-0617-DE07-1371-59B1A58CE726}"/>
              </a:ext>
            </a:extLst>
          </p:cNvPr>
          <p:cNvSpPr txBox="1"/>
          <p:nvPr/>
        </p:nvSpPr>
        <p:spPr>
          <a:xfrm>
            <a:off x="336330" y="1216242"/>
            <a:ext cx="37837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800" b="1" dirty="0"/>
              <a:t>Sơ đồ tổng quan</a:t>
            </a:r>
          </a:p>
        </p:txBody>
      </p:sp>
    </p:spTree>
    <p:extLst>
      <p:ext uri="{BB962C8B-B14F-4D97-AF65-F5344CB8AC3E}">
        <p14:creationId xmlns:p14="http://schemas.microsoft.com/office/powerpoint/2010/main" val="12874065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25812-603D-5E1C-9AC8-EE32D08FE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F68BE4-81B5-2B1E-D2D5-C36FEDB5F0A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8</a:t>
            </a:fld>
            <a:endParaRPr lang="en-US"/>
          </a:p>
        </p:txBody>
      </p:sp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291EA6B1-BCFA-7506-DF07-3D6617CD3E45}"/>
              </a:ext>
            </a:extLst>
          </p:cNvPr>
          <p:cNvSpPr txBox="1"/>
          <p:nvPr/>
        </p:nvSpPr>
        <p:spPr>
          <a:xfrm>
            <a:off x="336330" y="252248"/>
            <a:ext cx="606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Thuật toán và tập dữ liệu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9B2984BF-449E-35CA-3AE9-6B2D4EDD56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6330" y="1175522"/>
            <a:ext cx="5055477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kumimoji="0" lang="vi-VN" altLang="vi-VN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Trích chọn đặc trưng với HOG</a:t>
            </a:r>
            <a:r>
              <a:rPr kumimoji="0" lang="vi-VN" altLang="vi-VN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</a:t>
            </a:r>
            <a:r>
              <a:rPr lang="vi-VN" sz="2400" dirty="0" err="1"/>
              <a:t>Histogram</a:t>
            </a:r>
            <a:r>
              <a:rPr lang="vi-VN" sz="2400" dirty="0"/>
              <a:t> </a:t>
            </a:r>
            <a:r>
              <a:rPr lang="vi-VN" sz="2400" dirty="0" err="1"/>
              <a:t>of</a:t>
            </a:r>
            <a:r>
              <a:rPr lang="vi-VN" sz="2400" dirty="0"/>
              <a:t> </a:t>
            </a:r>
            <a:r>
              <a:rPr lang="vi-VN" sz="2400" dirty="0" err="1"/>
              <a:t>Oriented</a:t>
            </a:r>
            <a:r>
              <a:rPr lang="vi-VN" sz="2400" dirty="0"/>
              <a:t> </a:t>
            </a:r>
            <a:r>
              <a:rPr lang="vi-VN" sz="2400" dirty="0" err="1"/>
              <a:t>Gradients</a:t>
            </a:r>
            <a:r>
              <a:rPr lang="vi-VN" sz="2400" dirty="0"/>
              <a:t>)</a:t>
            </a:r>
            <a:endParaRPr kumimoji="0" lang="vi-VN" altLang="vi-VN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vi-VN" sz="2400" dirty="0"/>
              <a:t>- HOG là phương pháp mô tả đặc trưng dựa trên hướng biến thiên cục bộ của ảnh. </a:t>
            </a:r>
          </a:p>
        </p:txBody>
      </p:sp>
      <p:pic>
        <p:nvPicPr>
          <p:cNvPr id="1026" name="Picture 2" descr="Histogram of Oriented Gradients explained using OpenCV">
            <a:extLst>
              <a:ext uri="{FF2B5EF4-FFF2-40B4-BE49-F238E27FC236}">
                <a16:creationId xmlns:a16="http://schemas.microsoft.com/office/drawing/2014/main" id="{2D237175-CD0E-F020-8E8B-344CC774EF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248" y="3429000"/>
            <a:ext cx="5276193" cy="29678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Hộp Văn bản 7">
            <a:extLst>
              <a:ext uri="{FF2B5EF4-FFF2-40B4-BE49-F238E27FC236}">
                <a16:creationId xmlns:a16="http://schemas.microsoft.com/office/drawing/2014/main" id="{E881066F-54B7-4BF6-0289-5400DCB444EC}"/>
              </a:ext>
            </a:extLst>
          </p:cNvPr>
          <p:cNvSpPr txBox="1"/>
          <p:nvPr/>
        </p:nvSpPr>
        <p:spPr>
          <a:xfrm>
            <a:off x="5743903" y="3615748"/>
            <a:ext cx="3147849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2400" dirty="0"/>
              <a:t>- Tập trung vào việc phân tích các cạnh và đường biên với </a:t>
            </a:r>
            <a:r>
              <a:rPr lang="vi-VN" sz="2400" dirty="0" err="1"/>
              <a:t>gradient</a:t>
            </a:r>
            <a:r>
              <a:rPr lang="vi-VN" sz="2400" dirty="0"/>
              <a:t>, =&gt; các mô tả gọn nhưng giàu thông tin về hình dạng. </a:t>
            </a:r>
          </a:p>
        </p:txBody>
      </p:sp>
      <p:pic>
        <p:nvPicPr>
          <p:cNvPr id="9" name="Picture 7">
            <a:extLst>
              <a:ext uri="{FF2B5EF4-FFF2-40B4-BE49-F238E27FC236}">
                <a16:creationId xmlns:a16="http://schemas.microsoft.com/office/drawing/2014/main" id="{FCAE5083-8DB5-71EA-B5F9-ECAF9527EE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78689" y="1297242"/>
            <a:ext cx="3613063" cy="1938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618794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6E144-6DAF-89D2-37D9-9857505F3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541ACD-4A3A-F2B8-1FD4-DDAAB866AE5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9</a:t>
            </a:fld>
            <a:endParaRPr lang="en-US"/>
          </a:p>
        </p:txBody>
      </p:sp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6B4EAD61-A96F-FEE4-907B-92D848083B12}"/>
              </a:ext>
            </a:extLst>
          </p:cNvPr>
          <p:cNvSpPr txBox="1"/>
          <p:nvPr/>
        </p:nvSpPr>
        <p:spPr>
          <a:xfrm>
            <a:off x="336330" y="252248"/>
            <a:ext cx="606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Thuật toán và tập dữ liệu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D19EC4F7-743E-4D5B-25BA-082D3CFBA5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5155" y="1357075"/>
            <a:ext cx="7036677" cy="26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vi-VN" altLang="vi-VN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Tính HOG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vi-VN" altLang="vi-V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Tính </a:t>
            </a:r>
            <a:r>
              <a:rPr kumimoji="0" lang="vi-VN" altLang="vi-VN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gradient</a:t>
            </a:r>
            <a:r>
              <a:rPr kumimoji="0" lang="vi-VN" altLang="vi-V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vi-VN" altLang="vi-VN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gx</a:t>
            </a:r>
            <a:r>
              <a:rPr kumimoji="0" lang="vi-VN" altLang="vi-V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vi-VN" altLang="vi-VN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gy</a:t>
            </a:r>
            <a:r>
              <a:rPr kumimoji="0" lang="vi-VN" altLang="vi-V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bằng </a:t>
            </a:r>
            <a:r>
              <a:rPr kumimoji="0" lang="vi-VN" altLang="vi-VN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Sobel</a:t>
            </a:r>
            <a:r>
              <a:rPr kumimoji="0" lang="vi-VN" altLang="vi-V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vi-VN" altLang="vi-V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Tính độ lớn và góc </a:t>
            </a:r>
            <a:r>
              <a:rPr kumimoji="0" lang="vi-VN" altLang="vi-VN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gradient</a:t>
            </a:r>
            <a:r>
              <a:rPr kumimoji="0" lang="vi-VN" altLang="vi-V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vi-VN" altLang="vi-V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Chia ảnh thành các </a:t>
            </a:r>
            <a:r>
              <a:rPr kumimoji="0" lang="vi-VN" altLang="vi-VN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cell</a:t>
            </a:r>
            <a:r>
              <a:rPr kumimoji="0" lang="vi-VN" altLang="vi-V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8x8 và tính </a:t>
            </a:r>
            <a:r>
              <a:rPr kumimoji="0" lang="vi-VN" altLang="vi-VN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histogram</a:t>
            </a:r>
            <a:r>
              <a:rPr kumimoji="0" lang="vi-VN" altLang="vi-V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hướng.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vi-VN" altLang="vi-V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Gộp 4 </a:t>
            </a:r>
            <a:r>
              <a:rPr kumimoji="0" lang="vi-VN" altLang="vi-VN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cell</a:t>
            </a:r>
            <a:r>
              <a:rPr kumimoji="0" lang="vi-VN" altLang="vi-V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trong </a:t>
            </a:r>
            <a:r>
              <a:rPr kumimoji="0" lang="vi-VN" altLang="vi-VN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block</a:t>
            </a:r>
            <a:r>
              <a:rPr kumimoji="0" lang="vi-VN" altLang="vi-V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2x2 và chuẩn hóa L2.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vi-VN" altLang="vi-V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Nối tất cả </a:t>
            </a:r>
            <a:r>
              <a:rPr kumimoji="0" lang="vi-VN" altLang="vi-VN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block</a:t>
            </a:r>
            <a:r>
              <a:rPr kumimoji="0" lang="vi-VN" altLang="vi-V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thành </a:t>
            </a:r>
            <a:r>
              <a:rPr kumimoji="0" lang="vi-VN" altLang="vi-VN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vector</a:t>
            </a:r>
            <a:r>
              <a:rPr kumimoji="0" lang="vi-VN" altLang="vi-V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HOG.</a:t>
            </a:r>
          </a:p>
        </p:txBody>
      </p:sp>
    </p:spTree>
    <p:extLst>
      <p:ext uri="{BB962C8B-B14F-4D97-AF65-F5344CB8AC3E}">
        <p14:creationId xmlns:p14="http://schemas.microsoft.com/office/powerpoint/2010/main" val="27573785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BAB0C-90C0-05B1-9DED-F6245B9DD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DFC23F-278B-87C6-D3A2-73B73537F93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10</a:t>
            </a:fld>
            <a:endParaRPr lang="en-US"/>
          </a:p>
        </p:txBody>
      </p:sp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09E681F9-F9B1-C033-E637-066C609C596B}"/>
              </a:ext>
            </a:extLst>
          </p:cNvPr>
          <p:cNvSpPr txBox="1"/>
          <p:nvPr/>
        </p:nvSpPr>
        <p:spPr>
          <a:xfrm>
            <a:off x="336330" y="252248"/>
            <a:ext cx="606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Thuật toán và tập dữ liệu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A53EBCF1-30DC-E8F3-152B-AEEA54B498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1177" y="1267910"/>
            <a:ext cx="4909401" cy="23391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kumimoji="0" lang="vi-VN" altLang="vi-VN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Phân cụm với K-</a:t>
            </a:r>
            <a:r>
              <a:rPr kumimoji="0" lang="vi-VN" altLang="vi-VN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means</a:t>
            </a:r>
            <a:endParaRPr kumimoji="0" lang="vi-VN" altLang="vi-VN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vi-VN" sz="1800" dirty="0"/>
              <a:t>- K-</a:t>
            </a:r>
            <a:r>
              <a:rPr lang="vi-VN" sz="1800" dirty="0" err="1"/>
              <a:t>Means</a:t>
            </a:r>
            <a:r>
              <a:rPr lang="vi-VN" sz="1800" dirty="0"/>
              <a:t> là thuật toán phân cụm nhằm chia dữ liệu thành K nhóm sao cho các điểm trong cùng một nhóm có độ tương đồng cao.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vi-VN" sz="1800" dirty="0"/>
              <a:t>- Thuật toán hoạt động bằng cách lặp hai bước chính: gán từng điểm dữ liệu vào cụm có tâm gần nhất và cập nhật lại tâm cụm bằng trung bình của các điểm đã được gán. </a:t>
            </a:r>
          </a:p>
        </p:txBody>
      </p:sp>
      <p:sp>
        <p:nvSpPr>
          <p:cNvPr id="8" name="Hộp Văn bản 7">
            <a:extLst>
              <a:ext uri="{FF2B5EF4-FFF2-40B4-BE49-F238E27FC236}">
                <a16:creationId xmlns:a16="http://schemas.microsoft.com/office/drawing/2014/main" id="{4E6A2E64-DC9D-B345-74CA-EB06222A0358}"/>
              </a:ext>
            </a:extLst>
          </p:cNvPr>
          <p:cNvSpPr txBox="1"/>
          <p:nvPr/>
        </p:nvSpPr>
        <p:spPr>
          <a:xfrm>
            <a:off x="5912070" y="4109581"/>
            <a:ext cx="2622331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vi-VN" sz="2000" dirty="0"/>
              <a:t>-  Quá trình này tiếp tục cho đến khi các tâm cụm hầu như không thay đổi nữa.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vi-VN" sz="2000" dirty="0"/>
              <a:t>- K-</a:t>
            </a:r>
            <a:r>
              <a:rPr lang="vi-VN" sz="2000" dirty="0" err="1"/>
              <a:t>Means</a:t>
            </a:r>
            <a:r>
              <a:rPr lang="vi-VN" sz="2000" dirty="0"/>
              <a:t> đơn giản, dễ triển khai</a:t>
            </a:r>
          </a:p>
          <a:p>
            <a:endParaRPr lang="vi-VN" sz="2000" dirty="0"/>
          </a:p>
        </p:txBody>
      </p:sp>
      <p:pic>
        <p:nvPicPr>
          <p:cNvPr id="3" name="Picture 2" descr="K-Means Clustering From Scratch in Python [Algorithm Explained] - AskPython">
            <a:extLst>
              <a:ext uri="{FF2B5EF4-FFF2-40B4-BE49-F238E27FC236}">
                <a16:creationId xmlns:a16="http://schemas.microsoft.com/office/drawing/2014/main" id="{E48E2EEB-EE75-796C-080C-5931E2A6DF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6330" y="3560806"/>
            <a:ext cx="4988033" cy="2992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achine Learning: Algorithm Classification Overview">
            <a:extLst>
              <a:ext uri="{FF2B5EF4-FFF2-40B4-BE49-F238E27FC236}">
                <a16:creationId xmlns:a16="http://schemas.microsoft.com/office/drawing/2014/main" id="{57F0117B-0BFF-AF0B-5909-71FBA68B80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281" y="1267910"/>
            <a:ext cx="3652542" cy="2064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113358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C36C1-6C80-CAC7-7040-5ED196989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9A0065-1C06-7579-6127-BF6B31A00E2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11</a:t>
            </a:fld>
            <a:endParaRPr lang="en-US"/>
          </a:p>
        </p:txBody>
      </p:sp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3E9536A5-921A-1E46-AF71-047366184092}"/>
              </a:ext>
            </a:extLst>
          </p:cNvPr>
          <p:cNvSpPr txBox="1"/>
          <p:nvPr/>
        </p:nvSpPr>
        <p:spPr>
          <a:xfrm>
            <a:off x="336330" y="252248"/>
            <a:ext cx="62168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Thuật toán và tập dữ liệu</a:t>
            </a:r>
          </a:p>
        </p:txBody>
      </p:sp>
      <p:sp>
        <p:nvSpPr>
          <p:cNvPr id="6" name="Hộp Văn bản 5">
            <a:extLst>
              <a:ext uri="{FF2B5EF4-FFF2-40B4-BE49-F238E27FC236}">
                <a16:creationId xmlns:a16="http://schemas.microsoft.com/office/drawing/2014/main" id="{13F6D1A8-DF6E-A74F-9397-8B851449C196}"/>
              </a:ext>
            </a:extLst>
          </p:cNvPr>
          <p:cNvSpPr txBox="1"/>
          <p:nvPr/>
        </p:nvSpPr>
        <p:spPr>
          <a:xfrm>
            <a:off x="126124" y="1303282"/>
            <a:ext cx="889175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800" dirty="0"/>
              <a:t>- PCA và SVM xử lý bằng thư viện</a:t>
            </a:r>
          </a:p>
          <a:p>
            <a:r>
              <a:rPr lang="vi-VN" sz="2800" dirty="0"/>
              <a:t>- HOG được xử lý với 2 hàm: </a:t>
            </a:r>
          </a:p>
          <a:p>
            <a:r>
              <a:rPr lang="vi-VN" sz="2800" dirty="0"/>
              <a:t>- Hàm 1: tiền xử lý ảnh, trích HOG &amp; Hàm 2: tính HOG</a:t>
            </a:r>
          </a:p>
          <a:p>
            <a:r>
              <a:rPr lang="vi-VN" sz="2800" dirty="0"/>
              <a:t>- PCA sẽ giữ lại 95% phương sai, SVM tuyến tính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7B771931-AC28-3237-CE5D-4F87AE33AB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45475" y="3429000"/>
            <a:ext cx="7325711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vi-VN" altLang="vi-VN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Các bước tiền xử lý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vi-VN" altLang="vi-V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1.Đọc ảnh </a:t>
            </a:r>
            <a:r>
              <a:rPr kumimoji="0" lang="vi-VN" altLang="vi-VN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grayscale</a:t>
            </a:r>
            <a:r>
              <a:rPr kumimoji="0" lang="vi-VN" altLang="vi-V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trong thư mục </a:t>
            </a:r>
            <a:r>
              <a:rPr kumimoji="0" lang="vi-VN" altLang="vi-VN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pos</a:t>
            </a:r>
            <a:r>
              <a:rPr kumimoji="0" lang="vi-VN" altLang="vi-V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và </a:t>
            </a:r>
            <a:r>
              <a:rPr kumimoji="0" lang="vi-VN" altLang="vi-VN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neg</a:t>
            </a:r>
            <a:r>
              <a:rPr kumimoji="0" lang="vi-VN" altLang="vi-V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vi-VN" altLang="vi-V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2.Resize về 160x96.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vi-VN" altLang="vi-V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3.Tính đặc trưng HOG cho từng ảnh.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vi-VN" altLang="vi-V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4.Tạo mảng X chứa HOG và y chứa nhãn 0 hoặc 1.</a:t>
            </a:r>
          </a:p>
        </p:txBody>
      </p:sp>
    </p:spTree>
    <p:extLst>
      <p:ext uri="{BB962C8B-B14F-4D97-AF65-F5344CB8AC3E}">
        <p14:creationId xmlns:p14="http://schemas.microsoft.com/office/powerpoint/2010/main" val="25075897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9734ED-404F-4AAA-9655-CB422BD907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F5112B-9362-7A66-E448-8D547CB13E4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12</a:t>
            </a:fld>
            <a:endParaRPr lang="en-US"/>
          </a:p>
        </p:txBody>
      </p:sp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26C03618-54D1-84A1-5EDE-37C39D80E3B7}"/>
              </a:ext>
            </a:extLst>
          </p:cNvPr>
          <p:cNvSpPr txBox="1"/>
          <p:nvPr/>
        </p:nvSpPr>
        <p:spPr>
          <a:xfrm>
            <a:off x="336331" y="252248"/>
            <a:ext cx="56650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Thuật toán và tập dữ liệu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79230D5D-6E16-8908-CD4C-500764C647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0205" y="1219719"/>
            <a:ext cx="8350469" cy="27392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vi-VN" altLang="vi-VN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Hàm </a:t>
            </a:r>
            <a:r>
              <a:rPr kumimoji="0" lang="vi-VN" altLang="vi-VN" sz="2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main</a:t>
            </a:r>
            <a:endParaRPr kumimoji="0" lang="vi-VN" altLang="vi-VN" sz="2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vi-VN" altLang="vi-V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Gọi hàm </a:t>
            </a:r>
            <a:r>
              <a:rPr kumimoji="0" lang="vi-VN" altLang="vi-VN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load</a:t>
            </a:r>
            <a:r>
              <a:rPr kumimoji="0" lang="vi-VN" altLang="vi-V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để lấy X và y.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vi-VN" altLang="vi-V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Chia </a:t>
            </a:r>
            <a:r>
              <a:rPr kumimoji="0" lang="vi-VN" altLang="vi-VN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train</a:t>
            </a:r>
            <a:r>
              <a:rPr kumimoji="0" lang="vi-VN" altLang="vi-V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vi-VN" altLang="vi-VN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test</a:t>
            </a:r>
            <a:r>
              <a:rPr kumimoji="0" lang="vi-VN" altLang="vi-V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80 20.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vi-VN" altLang="vi-V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Chuẩn hóa dữ liệu bằng </a:t>
            </a:r>
            <a:r>
              <a:rPr kumimoji="0" lang="vi-VN" altLang="vi-VN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StandardScaler</a:t>
            </a:r>
            <a:r>
              <a:rPr kumimoji="0" lang="vi-VN" altLang="vi-V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vi-VN" altLang="vi-V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Giảm chiều bằng PCA giữ 95% phương sai.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vi-VN" altLang="vi-VN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Train</a:t>
            </a:r>
            <a:r>
              <a:rPr kumimoji="0" lang="vi-VN" altLang="vi-V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mô hình SVM tuyến tính.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vi-VN" altLang="vi-V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Dự đoán và in độ chính xác cùng báo cáo phân loại.</a:t>
            </a:r>
          </a:p>
        </p:txBody>
      </p:sp>
    </p:spTree>
    <p:extLst>
      <p:ext uri="{BB962C8B-B14F-4D97-AF65-F5344CB8AC3E}">
        <p14:creationId xmlns:p14="http://schemas.microsoft.com/office/powerpoint/2010/main" val="40546270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B7805-BC0D-69D1-4A12-DFDAC3B5D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492E9A-15A3-E5E1-DCB4-177959511C5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13</a:t>
            </a:fld>
            <a:endParaRPr lang="en-US"/>
          </a:p>
        </p:txBody>
      </p:sp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1156D56D-55D9-7AE9-1B8C-F6EA367A9CA2}"/>
              </a:ext>
            </a:extLst>
          </p:cNvPr>
          <p:cNvSpPr txBox="1"/>
          <p:nvPr/>
        </p:nvSpPr>
        <p:spPr>
          <a:xfrm>
            <a:off x="357353" y="210206"/>
            <a:ext cx="59488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Thuật toán và tập dữ liệu</a:t>
            </a:r>
          </a:p>
        </p:txBody>
      </p:sp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2459C680-0D60-3A14-EEFB-01E596B1E828}"/>
              </a:ext>
            </a:extLst>
          </p:cNvPr>
          <p:cNvSpPr txBox="1"/>
          <p:nvPr/>
        </p:nvSpPr>
        <p:spPr>
          <a:xfrm>
            <a:off x="199697" y="1313792"/>
            <a:ext cx="4845269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800" dirty="0"/>
              <a:t>Tập dữ liệu </a:t>
            </a:r>
            <a:r>
              <a:rPr lang="vi-VN" sz="2800" b="1" dirty="0"/>
              <a:t>FER2013</a:t>
            </a:r>
            <a:r>
              <a:rPr lang="vi-VN" sz="2800" dirty="0"/>
              <a:t>: </a:t>
            </a:r>
          </a:p>
          <a:p>
            <a:pPr marL="457200" indent="-457200">
              <a:buFontTx/>
              <a:buChar char="-"/>
            </a:pPr>
            <a:r>
              <a:rPr lang="vi-VN" sz="2800" dirty="0"/>
              <a:t>Gồm 35.887 ảnh khuôn mặt căn đúng giữa</a:t>
            </a:r>
          </a:p>
          <a:p>
            <a:pPr marL="457200" indent="-457200">
              <a:buFontTx/>
              <a:buChar char="-"/>
            </a:pPr>
            <a:r>
              <a:rPr lang="vi-VN" sz="2800" dirty="0"/>
              <a:t>Ảnh mức xám, 48x48</a:t>
            </a:r>
          </a:p>
          <a:p>
            <a:pPr marL="457200" indent="-457200">
              <a:buFontTx/>
              <a:buChar char="-"/>
            </a:pPr>
            <a:r>
              <a:rPr lang="vi-VN" sz="2800" dirty="0"/>
              <a:t>Được phân ra thành 2 mục: </a:t>
            </a:r>
            <a:r>
              <a:rPr lang="vi-VN" sz="2800" dirty="0" err="1"/>
              <a:t>Training</a:t>
            </a:r>
            <a:r>
              <a:rPr lang="vi-VN" sz="2800" dirty="0"/>
              <a:t> và </a:t>
            </a:r>
            <a:r>
              <a:rPr lang="vi-VN" sz="2800" dirty="0" err="1"/>
              <a:t>Test</a:t>
            </a:r>
            <a:endParaRPr lang="vi-VN" sz="2800" dirty="0"/>
          </a:p>
          <a:p>
            <a:pPr marL="457200" indent="-457200">
              <a:buFontTx/>
              <a:buChar char="-"/>
            </a:pPr>
            <a:r>
              <a:rPr lang="vi-VN" sz="2800" dirty="0"/>
              <a:t>Theo 7 cảm xúc: </a:t>
            </a:r>
            <a:r>
              <a:rPr lang="en-US" sz="2800" dirty="0"/>
              <a:t>0. Angry, 1.Disgust, 2.Fear, 3.Happy, 4.Sad, 5.Surprise, 6.Neutral</a:t>
            </a:r>
            <a:endParaRPr lang="vi-VN" sz="2800" dirty="0"/>
          </a:p>
        </p:txBody>
      </p:sp>
      <p:pic>
        <p:nvPicPr>
          <p:cNvPr id="1028" name="Picture 4" descr="FER-2013 | Wolfram Data Repository">
            <a:extLst>
              <a:ext uri="{FF2B5EF4-FFF2-40B4-BE49-F238E27FC236}">
                <a16:creationId xmlns:a16="http://schemas.microsoft.com/office/drawing/2014/main" id="{3A116AD5-7C44-E515-C016-DE2813BF47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7153" y="1436024"/>
            <a:ext cx="4297149" cy="23582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119339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ABA5DC-4525-0744-C089-CC1516413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6ECABE-4935-47F0-88EE-A27C003DFD2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14</a:t>
            </a:fld>
            <a:endParaRPr lang="en-US"/>
          </a:p>
        </p:txBody>
      </p:sp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8303DD75-C04B-A695-F492-054250A10E74}"/>
              </a:ext>
            </a:extLst>
          </p:cNvPr>
          <p:cNvSpPr txBox="1"/>
          <p:nvPr/>
        </p:nvSpPr>
        <p:spPr>
          <a:xfrm>
            <a:off x="310056" y="210207"/>
            <a:ext cx="5749153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Thuật toán và tập dữ liệu</a:t>
            </a:r>
          </a:p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0753964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CBAD5-A6AC-4BD4-5601-AD403923A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6AE95368-40BA-8609-6984-ADF3200C66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1718" y="2253265"/>
            <a:ext cx="8085082" cy="1887811"/>
          </a:xfrm>
        </p:spPr>
        <p:txBody>
          <a:bodyPr/>
          <a:lstStyle/>
          <a:p>
            <a:pPr marL="50800"/>
            <a:r>
              <a:rPr lang="vi-VN" dirty="0"/>
              <a:t>3. Khảo sát, đánh giá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39DB168C-ECCF-8B7A-44B2-8917A8D9DD6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35256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965890-B906-0763-3CF9-49DC1B513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B14A0EF6-249D-544A-15D0-35F035E8BF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1718" y="2253265"/>
            <a:ext cx="8085082" cy="1887811"/>
          </a:xfrm>
        </p:spPr>
        <p:txBody>
          <a:bodyPr/>
          <a:lstStyle/>
          <a:p>
            <a:pPr marL="50800"/>
            <a:r>
              <a:rPr lang="vi-VN" dirty="0"/>
              <a:t>4. So sánh, đối chiếu kết quả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09DC0992-2CFD-6130-9A95-7C3B883EEC7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1975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3F64DB-E67B-78E1-F66D-4E772F64C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67FE64F0-44BC-74CE-2588-F1A67B1485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1718" y="2253265"/>
            <a:ext cx="8085082" cy="1887811"/>
          </a:xfrm>
        </p:spPr>
        <p:txBody>
          <a:bodyPr/>
          <a:lstStyle/>
          <a:p>
            <a:pPr marL="50800"/>
            <a:r>
              <a:rPr lang="vi-VN" dirty="0"/>
              <a:t>5. Hướng phát triển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0A057780-0F8E-BE14-C4EE-6E42AF1D354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45331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1D08C-0483-3321-9042-43D5EA5A0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162389CD-4FE5-F8BD-1E0E-CC552A36B5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1718" y="2253265"/>
            <a:ext cx="8085082" cy="1887811"/>
          </a:xfrm>
        </p:spPr>
        <p:txBody>
          <a:bodyPr/>
          <a:lstStyle/>
          <a:p>
            <a:pPr marL="50800"/>
            <a:r>
              <a:rPr lang="vi-VN" dirty="0"/>
              <a:t>Xin chân thành cảm ơn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3F29B9F0-F439-2CB5-EE2C-368E5D74481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91703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01ba1225-54d8-4fa6-934e-3020034412e0" xsi:nil="true"/>
    <lcf76f155ced4ddcb4097134ff3c332f xmlns="fd63efce-8fbd-4040-94f1-ea540616c8b8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0811C320DB09146B949355C1F67BBAE" ma:contentTypeVersion="11" ma:contentTypeDescription="Create a new document." ma:contentTypeScope="" ma:versionID="e125e36597350e941243b6b7c330b3de">
  <xsd:schema xmlns:xsd="http://www.w3.org/2001/XMLSchema" xmlns:xs="http://www.w3.org/2001/XMLSchema" xmlns:p="http://schemas.microsoft.com/office/2006/metadata/properties" xmlns:ns2="fd63efce-8fbd-4040-94f1-ea540616c8b8" xmlns:ns3="01ba1225-54d8-4fa6-934e-3020034412e0" targetNamespace="http://schemas.microsoft.com/office/2006/metadata/properties" ma:root="true" ma:fieldsID="bf6c9742e715e8ac6a70cfbe0fed6375" ns2:_="" ns3:_="">
    <xsd:import namespace="fd63efce-8fbd-4040-94f1-ea540616c8b8"/>
    <xsd:import namespace="01ba1225-54d8-4fa6-934e-3020034412e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d63efce-8fbd-4040-94f1-ea540616c8b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158d9f12-b085-4db2-abbf-1ae4638ef84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1ba1225-54d8-4fa6-934e-3020034412e0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88a6236b-00cc-4cc2-9700-853704174dc2}" ma:internalName="TaxCatchAll" ma:showField="CatchAllData" ma:web="01ba1225-54d8-4fa6-934e-3020034412e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FDA69C8-DB4E-44EE-98E1-D5D53692887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E169F43-67A6-4593-ADD7-B0CBCAF4936E}">
  <ds:schemaRefs>
    <ds:schemaRef ds:uri="http://schemas.microsoft.com/office/2006/metadata/properties"/>
    <ds:schemaRef ds:uri="http://schemas.microsoft.com/office/infopath/2007/PartnerControls"/>
    <ds:schemaRef ds:uri="01ba1225-54d8-4fa6-934e-3020034412e0"/>
    <ds:schemaRef ds:uri="fd63efce-8fbd-4040-94f1-ea540616c8b8"/>
  </ds:schemaRefs>
</ds:datastoreItem>
</file>

<file path=customXml/itemProps3.xml><?xml version="1.0" encoding="utf-8"?>
<ds:datastoreItem xmlns:ds="http://schemas.openxmlformats.org/officeDocument/2006/customXml" ds:itemID="{EF248721-A551-41C9-A070-D7A8AB8FA78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d63efce-8fbd-4040-94f1-ea540616c8b8"/>
    <ds:schemaRef ds:uri="01ba1225-54d8-4fa6-934e-3020034412e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2407</TotalTime>
  <Words>703</Words>
  <Application>Microsoft Office PowerPoint</Application>
  <PresentationFormat>Trình chiếu Trên màn hình (4:3)</PresentationFormat>
  <Paragraphs>98</Paragraphs>
  <Slides>18</Slides>
  <Notes>9</Notes>
  <HiddenSlides>0</HiddenSlides>
  <MMClips>0</MMClips>
  <ScaleCrop>false</ScaleCrop>
  <HeadingPairs>
    <vt:vector size="6" baseType="variant">
      <vt:variant>
        <vt:lpstr>Phông được Dùng</vt:lpstr>
      </vt:variant>
      <vt:variant>
        <vt:i4>3</vt:i4>
      </vt:variant>
      <vt:variant>
        <vt:lpstr>Chủ đề</vt:lpstr>
      </vt:variant>
      <vt:variant>
        <vt:i4>1</vt:i4>
      </vt:variant>
      <vt:variant>
        <vt:lpstr>Tiêu đề Bản chiếu</vt:lpstr>
      </vt:variant>
      <vt:variant>
        <vt:i4>18</vt:i4>
      </vt:variant>
    </vt:vector>
  </HeadingPairs>
  <TitlesOfParts>
    <vt:vector size="22" baseType="lpstr">
      <vt:lpstr>Arial</vt:lpstr>
      <vt:lpstr>Calibri</vt:lpstr>
      <vt:lpstr>Noto Sans Symbols</vt:lpstr>
      <vt:lpstr>Office Theme</vt:lpstr>
      <vt:lpstr>Bản trình bày PowerPoint</vt:lpstr>
      <vt:lpstr>Mục lục</vt:lpstr>
      <vt:lpstr>1. Giới thiệu về bài toán </vt:lpstr>
      <vt:lpstr>1. Giới thiệu về bài toán</vt:lpstr>
      <vt:lpstr>1. Giới thiệu về bài toán</vt:lpstr>
      <vt:lpstr>2. Thuật toán và tập dữ liệu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3. Khảo sát, đánh giá</vt:lpstr>
      <vt:lpstr>4. So sánh, đối chiếu kết quả</vt:lpstr>
      <vt:lpstr>5. Hướng phát triển</vt:lpstr>
      <vt:lpstr>Xin chân thành cảm ơn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Bản trình bày PowerPoint</dc:title>
  <dc:creator>Datdatnguyen</dc:creator>
  <cp:lastModifiedBy>Dat Nguyen</cp:lastModifiedBy>
  <cp:revision>100</cp:revision>
  <dcterms:created xsi:type="dcterms:W3CDTF">2017-10-17T01:43:35Z</dcterms:created>
  <dcterms:modified xsi:type="dcterms:W3CDTF">2025-11-28T15:04:58Z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0x01010060811C320DB09146B949355C1F67BBAE</vt:lpwstr>
  </property>
</Properties>
</file>