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300" r:id="rId6"/>
    <p:sldId id="301" r:id="rId7"/>
    <p:sldId id="302" r:id="rId8"/>
    <p:sldId id="303" r:id="rId9"/>
    <p:sldId id="311" r:id="rId10"/>
    <p:sldId id="291" r:id="rId11"/>
    <p:sldId id="310" r:id="rId12"/>
    <p:sldId id="314" r:id="rId13"/>
    <p:sldId id="312" r:id="rId14"/>
    <p:sldId id="313" r:id="rId15"/>
    <p:sldId id="294" r:id="rId16"/>
    <p:sldId id="317" r:id="rId17"/>
    <p:sldId id="304" r:id="rId18"/>
    <p:sldId id="315" r:id="rId19"/>
    <p:sldId id="316" r:id="rId20"/>
    <p:sldId id="305" r:id="rId21"/>
    <p:sldId id="307" r:id="rId22"/>
    <p:sldId id="306" r:id="rId23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381C-6CCA-18C5-7D54-104F81D3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14F99-14D9-0725-71B7-F10DBAEB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1DDDA-D7FC-028E-CBBB-C07E1C207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3E497-378F-E5B2-9CCB-63AAFC2D08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63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485F-AF48-14D7-0EFE-AB237514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4E7B3-A194-0BAE-5B79-5C00F25AA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2E567F-F966-2FFE-C282-719F5CE32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A78D-4782-A872-59B5-AEA912EAA4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820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7.jpe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26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11" Type="http://schemas.openxmlformats.org/officeDocument/2006/relationships/image" Target="../media/image25.jpeg"/><Relationship Id="rId5" Type="http://schemas.openxmlformats.org/officeDocument/2006/relationships/image" Target="../media/image19.jpeg"/><Relationship Id="rId15" Type="http://schemas.openxmlformats.org/officeDocument/2006/relationships/image" Target="../media/image29.jpeg"/><Relationship Id="rId10" Type="http://schemas.openxmlformats.org/officeDocument/2006/relationships/image" Target="../media/image24.jpeg"/><Relationship Id="rId4" Type="http://schemas.openxmlformats.org/officeDocument/2006/relationships/image" Target="../media/image18.jpeg"/><Relationship Id="rId9" Type="http://schemas.openxmlformats.org/officeDocument/2006/relationships/image" Target="../media/image23.jpeg"/><Relationship Id="rId14" Type="http://schemas.openxmlformats.org/officeDocument/2006/relationships/image" Target="../media/image28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Giới thiệu về bài toán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Giới thiệu về bài toán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4" y="346732"/>
            <a:ext cx="5276193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1. Giới thiệu về bài toán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Tiền xử lý + 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8844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</a:t>
            </a:r>
          </a:p>
        </p:txBody>
      </p:sp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11A2BDBB-2D60-604B-6AD4-F5ACD9602E68}"/>
              </a:ext>
            </a:extLst>
          </p:cNvPr>
          <p:cNvSpPr/>
          <p:nvPr/>
        </p:nvSpPr>
        <p:spPr>
          <a:xfrm>
            <a:off x="1022131" y="1339676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307F3567-2E34-5734-1291-D7100FC8A9A7}"/>
              </a:ext>
            </a:extLst>
          </p:cNvPr>
          <p:cNvCxnSpPr>
            <a:stCxn id="8" idx="4"/>
          </p:cNvCxnSpPr>
          <p:nvPr/>
        </p:nvCxnSpPr>
        <p:spPr>
          <a:xfrm>
            <a:off x="1749973" y="180134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BE95518C-9538-58D6-8A96-45CB5747054B}"/>
              </a:ext>
            </a:extLst>
          </p:cNvPr>
          <p:cNvSpPr/>
          <p:nvPr/>
        </p:nvSpPr>
        <p:spPr>
          <a:xfrm>
            <a:off x="922283" y="2755814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Tiền xử lý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2074250-4E07-3826-484C-84B145387E3D}"/>
              </a:ext>
            </a:extLst>
          </p:cNvPr>
          <p:cNvSpPr/>
          <p:nvPr/>
        </p:nvSpPr>
        <p:spPr>
          <a:xfrm>
            <a:off x="922283" y="3452442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độ lớn và hướng </a:t>
            </a:r>
            <a:r>
              <a:rPr lang="vi-VN" dirty="0" err="1"/>
              <a:t>Gradient</a:t>
            </a:r>
            <a:endParaRPr lang="vi-VN" dirty="0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B72E43A-A669-9288-1A48-FF7F4E46C533}"/>
              </a:ext>
            </a:extLst>
          </p:cNvPr>
          <p:cNvSpPr/>
          <p:nvPr/>
        </p:nvSpPr>
        <p:spPr>
          <a:xfrm>
            <a:off x="915713" y="4149070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Chia ảnh </a:t>
            </a:r>
          </a:p>
          <a:p>
            <a:pPr algn="ctr"/>
            <a:r>
              <a:rPr lang="vi-VN" dirty="0"/>
              <a:t>thành </a:t>
            </a:r>
            <a:r>
              <a:rPr lang="vi-VN" dirty="0" err="1"/>
              <a:t>cell</a:t>
            </a:r>
            <a:endParaRPr lang="vi-VN" dirty="0"/>
          </a:p>
        </p:txBody>
      </p:sp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4B92B320-CF15-AAB2-8756-0E0B446E496B}"/>
              </a:ext>
            </a:extLst>
          </p:cNvPr>
          <p:cNvSpPr/>
          <p:nvPr/>
        </p:nvSpPr>
        <p:spPr>
          <a:xfrm>
            <a:off x="915713" y="4845698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Chuẩn hóa </a:t>
            </a:r>
            <a:r>
              <a:rPr lang="vi-VN" dirty="0" err="1"/>
              <a:t>block</a:t>
            </a:r>
            <a:endParaRPr lang="vi-VN" dirty="0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632B70AC-890D-03BC-8821-1385B09E91D5}"/>
              </a:ext>
            </a:extLst>
          </p:cNvPr>
          <p:cNvSpPr/>
          <p:nvPr/>
        </p:nvSpPr>
        <p:spPr>
          <a:xfrm>
            <a:off x="922283" y="5542326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Ghép </a:t>
            </a:r>
            <a:r>
              <a:rPr lang="vi-VN" dirty="0" err="1"/>
              <a:t>block</a:t>
            </a:r>
            <a:r>
              <a:rPr lang="vi-VN" dirty="0"/>
              <a:t> tạo </a:t>
            </a:r>
            <a:r>
              <a:rPr lang="vi-VN" dirty="0" err="1"/>
              <a:t>vector</a:t>
            </a:r>
            <a:r>
              <a:rPr lang="vi-VN" dirty="0"/>
              <a:t> HOG</a:t>
            </a:r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6C0A9464-62F1-53DD-9E5D-9F4CAC8D440D}"/>
              </a:ext>
            </a:extLst>
          </p:cNvPr>
          <p:cNvSpPr/>
          <p:nvPr/>
        </p:nvSpPr>
        <p:spPr>
          <a:xfrm>
            <a:off x="1022130" y="6177227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DAB151F7-FE02-B5EF-9ABF-14A121343A27}"/>
              </a:ext>
            </a:extLst>
          </p:cNvPr>
          <p:cNvCxnSpPr/>
          <p:nvPr/>
        </p:nvCxnSpPr>
        <p:spPr>
          <a:xfrm>
            <a:off x="1747344" y="2491186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98AEEB6F-B277-5AD4-6931-B10E129A7072}"/>
              </a:ext>
            </a:extLst>
          </p:cNvPr>
          <p:cNvCxnSpPr/>
          <p:nvPr/>
        </p:nvCxnSpPr>
        <p:spPr>
          <a:xfrm>
            <a:off x="1744717" y="3206038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9A11236B-6B57-7223-0A3B-9BA00B367984}"/>
              </a:ext>
            </a:extLst>
          </p:cNvPr>
          <p:cNvCxnSpPr/>
          <p:nvPr/>
        </p:nvCxnSpPr>
        <p:spPr>
          <a:xfrm>
            <a:off x="1742090" y="389175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16FC99ED-C88A-25FC-CDDD-68B68068CE3C}"/>
              </a:ext>
            </a:extLst>
          </p:cNvPr>
          <p:cNvCxnSpPr/>
          <p:nvPr/>
        </p:nvCxnSpPr>
        <p:spPr>
          <a:xfrm>
            <a:off x="1739463" y="456843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CD69E889-1E0B-1CD8-44B6-54917EE9F464}"/>
              </a:ext>
            </a:extLst>
          </p:cNvPr>
          <p:cNvCxnSpPr/>
          <p:nvPr/>
        </p:nvCxnSpPr>
        <p:spPr>
          <a:xfrm>
            <a:off x="1752600" y="5260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6A7197F9-2A22-A5AB-F613-D61895F2B28F}"/>
              </a:ext>
            </a:extLst>
          </p:cNvPr>
          <p:cNvCxnSpPr/>
          <p:nvPr/>
        </p:nvCxnSpPr>
        <p:spPr>
          <a:xfrm>
            <a:off x="1752600" y="591938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Lưu đồ: Dữ liệu 25">
            <a:extLst>
              <a:ext uri="{FF2B5EF4-FFF2-40B4-BE49-F238E27FC236}">
                <a16:creationId xmlns:a16="http://schemas.microsoft.com/office/drawing/2014/main" id="{1C59E1AF-8C59-70FC-71BC-41852F5C107B}"/>
              </a:ext>
            </a:extLst>
          </p:cNvPr>
          <p:cNvSpPr/>
          <p:nvPr/>
        </p:nvSpPr>
        <p:spPr>
          <a:xfrm>
            <a:off x="892722" y="2083037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C194DE-25B5-8DB6-33DC-96D0A76AC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24" y="1133258"/>
            <a:ext cx="4956166" cy="1486850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FC5EE650-9921-F7F4-3D84-923594674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600" y="2454619"/>
            <a:ext cx="2066737" cy="2066737"/>
          </a:xfrm>
          <a:prstGeom prst="rect">
            <a:avLst/>
          </a:prstGeom>
        </p:spPr>
      </p:pic>
      <p:pic>
        <p:nvPicPr>
          <p:cNvPr id="17" name="Hình ảnh 16">
            <a:extLst>
              <a:ext uri="{FF2B5EF4-FFF2-40B4-BE49-F238E27FC236}">
                <a16:creationId xmlns:a16="http://schemas.microsoft.com/office/drawing/2014/main" id="{20BC8D53-45C7-DFC7-711D-6C823DFBB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129" y="2474167"/>
            <a:ext cx="2094264" cy="2094264"/>
          </a:xfrm>
          <a:prstGeom prst="rect">
            <a:avLst/>
          </a:prstGeom>
        </p:spPr>
      </p:pic>
      <p:pic>
        <p:nvPicPr>
          <p:cNvPr id="29" name="Hình ảnh 28">
            <a:extLst>
              <a:ext uri="{FF2B5EF4-FFF2-40B4-BE49-F238E27FC236}">
                <a16:creationId xmlns:a16="http://schemas.microsoft.com/office/drawing/2014/main" id="{031F524E-1E0F-953E-50AA-FE9A26BEA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999" y="2627730"/>
            <a:ext cx="1920001" cy="1908399"/>
          </a:xfrm>
          <a:prstGeom prst="rect">
            <a:avLst/>
          </a:prstGeom>
        </p:spPr>
      </p:pic>
      <p:pic>
        <p:nvPicPr>
          <p:cNvPr id="31" name="Hình ảnh 30">
            <a:extLst>
              <a:ext uri="{FF2B5EF4-FFF2-40B4-BE49-F238E27FC236}">
                <a16:creationId xmlns:a16="http://schemas.microsoft.com/office/drawing/2014/main" id="{CA9E845F-7415-DAC6-EA1A-F09EE89E89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9607" y="4522845"/>
            <a:ext cx="5276193" cy="197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022E-4893-67E0-7D75-E71A391D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A9B4C-FE80-5DB6-64F6-1AB2CA098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360D29-8D95-0924-AE6D-5917F8664CB7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F1EBCD0-DCA8-C910-96C4-EAEC0AF0B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28" y="1150886"/>
            <a:ext cx="85659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dữ liệu với PCA(</a:t>
            </a:r>
            <a:r>
              <a:rPr lang="vi-VN" sz="2400" dirty="0" err="1"/>
              <a:t>Principal</a:t>
            </a:r>
            <a:r>
              <a:rPr lang="vi-VN" sz="2400" dirty="0"/>
              <a:t> </a:t>
            </a:r>
            <a:r>
              <a:rPr lang="vi-VN" sz="2400" dirty="0" err="1"/>
              <a:t>Component</a:t>
            </a:r>
            <a:r>
              <a:rPr lang="vi-VN" sz="2400" dirty="0"/>
              <a:t> </a:t>
            </a:r>
            <a:r>
              <a:rPr lang="vi-VN" sz="2400" dirty="0" err="1"/>
              <a:t>Analysis</a:t>
            </a: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1028" name="Picture 4" descr="Principal Component Analysis (PCA) Transformation | BioRender Science ...">
            <a:extLst>
              <a:ext uri="{FF2B5EF4-FFF2-40B4-BE49-F238E27FC236}">
                <a16:creationId xmlns:a16="http://schemas.microsoft.com/office/drawing/2014/main" id="{E741FE6F-599C-A72B-BB40-62DF92F61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296" y="3429000"/>
            <a:ext cx="3605048" cy="252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2D16BD1-90B6-483D-736E-91FEB98235DB}"/>
              </a:ext>
            </a:extLst>
          </p:cNvPr>
          <p:cNvSpPr txBox="1"/>
          <p:nvPr/>
        </p:nvSpPr>
        <p:spPr>
          <a:xfrm>
            <a:off x="704194" y="1864858"/>
            <a:ext cx="420150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dirty="0"/>
              <a:t>Là phương pháp giảm chiều dữ liệu bằng cách biến đổi tập đặc trưng ban đầu thành một hệ trục tọa độ mới gồm các thành phần chính</a:t>
            </a: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2D722B64-143A-FE33-A83B-FF38A0A0F7B7}"/>
              </a:ext>
            </a:extLst>
          </p:cNvPr>
          <p:cNvSpPr/>
          <p:nvPr/>
        </p:nvSpPr>
        <p:spPr>
          <a:xfrm>
            <a:off x="6248400" y="1864858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Tiến trình 10">
            <a:extLst>
              <a:ext uri="{FF2B5EF4-FFF2-40B4-BE49-F238E27FC236}">
                <a16:creationId xmlns:a16="http://schemas.microsoft.com/office/drawing/2014/main" id="{333697C1-1656-CADC-AB4F-63D756EF6EEE}"/>
              </a:ext>
            </a:extLst>
          </p:cNvPr>
          <p:cNvSpPr/>
          <p:nvPr/>
        </p:nvSpPr>
        <p:spPr>
          <a:xfrm>
            <a:off x="6248400" y="2453041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ma trận hiệp phương sai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CC42DF8F-61FD-77CF-31BA-43AD4D0C123E}"/>
              </a:ext>
            </a:extLst>
          </p:cNvPr>
          <p:cNvSpPr/>
          <p:nvPr/>
        </p:nvSpPr>
        <p:spPr>
          <a:xfrm>
            <a:off x="6248400" y="309312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Tìm </a:t>
            </a:r>
            <a:r>
              <a:rPr lang="vi-VN" sz="1200" dirty="0" err="1"/>
              <a:t>vector</a:t>
            </a:r>
            <a:r>
              <a:rPr lang="vi-VN" sz="1200" dirty="0"/>
              <a:t> riêng, giá trị riêng</a:t>
            </a:r>
          </a:p>
        </p:txBody>
      </p:sp>
      <p:sp>
        <p:nvSpPr>
          <p:cNvPr id="14" name="Lưu đồ: Tiến trình 13">
            <a:extLst>
              <a:ext uri="{FF2B5EF4-FFF2-40B4-BE49-F238E27FC236}">
                <a16:creationId xmlns:a16="http://schemas.microsoft.com/office/drawing/2014/main" id="{2EE2767B-5ED2-E6F6-DC02-C60805090FAD}"/>
              </a:ext>
            </a:extLst>
          </p:cNvPr>
          <p:cNvSpPr/>
          <p:nvPr/>
        </p:nvSpPr>
        <p:spPr>
          <a:xfrm>
            <a:off x="6248400" y="371183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Sắp xếp các thành phần chính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CF7CD0E3-994A-7287-9E01-8656BEEECB21}"/>
              </a:ext>
            </a:extLst>
          </p:cNvPr>
          <p:cNvSpPr/>
          <p:nvPr/>
        </p:nvSpPr>
        <p:spPr>
          <a:xfrm>
            <a:off x="6248400" y="437668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Chọn K</a:t>
            </a:r>
          </a:p>
        </p:txBody>
      </p:sp>
      <p:sp>
        <p:nvSpPr>
          <p:cNvPr id="16" name="Lưu đồ: Tiến trình 15">
            <a:extLst>
              <a:ext uri="{FF2B5EF4-FFF2-40B4-BE49-F238E27FC236}">
                <a16:creationId xmlns:a16="http://schemas.microsoft.com/office/drawing/2014/main" id="{44708FA0-F25C-DDF4-9E83-F747843F7133}"/>
              </a:ext>
            </a:extLst>
          </p:cNvPr>
          <p:cNvSpPr/>
          <p:nvPr/>
        </p:nvSpPr>
        <p:spPr>
          <a:xfrm>
            <a:off x="6248399" y="502304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100" dirty="0"/>
              <a:t>Chuyển đổi dữ liệu lên không gian mới</a:t>
            </a:r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F775D5B7-E242-BD8F-547B-24278C8EC94B}"/>
              </a:ext>
            </a:extLst>
          </p:cNvPr>
          <p:cNvSpPr/>
          <p:nvPr/>
        </p:nvSpPr>
        <p:spPr>
          <a:xfrm>
            <a:off x="6211612" y="5663123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0CDBCBBB-254C-559B-483C-7DF67C07D19E}"/>
              </a:ext>
            </a:extLst>
          </p:cNvPr>
          <p:cNvCxnSpPr/>
          <p:nvPr/>
        </p:nvCxnSpPr>
        <p:spPr>
          <a:xfrm>
            <a:off x="6978764" y="220870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A2604618-5618-3265-70D3-0A710BBC1B68}"/>
              </a:ext>
            </a:extLst>
          </p:cNvPr>
          <p:cNvCxnSpPr>
            <a:cxnSpLocks/>
          </p:cNvCxnSpPr>
          <p:nvPr/>
        </p:nvCxnSpPr>
        <p:spPr>
          <a:xfrm>
            <a:off x="6981391" y="2854255"/>
            <a:ext cx="2629" cy="246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0D5ECC86-75DD-3C40-373A-24270FA4FF47}"/>
              </a:ext>
            </a:extLst>
          </p:cNvPr>
          <p:cNvCxnSpPr/>
          <p:nvPr/>
        </p:nvCxnSpPr>
        <p:spPr>
          <a:xfrm>
            <a:off x="6968553" y="345639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20E032A0-6412-3FFC-BC57-1A1776089FBF}"/>
              </a:ext>
            </a:extLst>
          </p:cNvPr>
          <p:cNvCxnSpPr/>
          <p:nvPr/>
        </p:nvCxnSpPr>
        <p:spPr>
          <a:xfrm>
            <a:off x="6973613" y="4118835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CD8F41C-D201-E335-4B86-71468B37E1DE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6976241" y="4838345"/>
            <a:ext cx="1" cy="184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0E448566-D82E-E9AA-BBD5-7A7F0B5E4C88}"/>
              </a:ext>
            </a:extLst>
          </p:cNvPr>
          <p:cNvCxnSpPr>
            <a:cxnSpLocks/>
          </p:cNvCxnSpPr>
          <p:nvPr/>
        </p:nvCxnSpPr>
        <p:spPr>
          <a:xfrm>
            <a:off x="6974956" y="5405278"/>
            <a:ext cx="0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49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E0DC-5CC8-F724-A921-C1358684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A2894-EBBE-BB74-D96D-27D5FE2A7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4BCDDC0-FE3C-C86C-F8DF-F26A541173D0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A426C9D-9495-7C37-72CF-2ABCD4EE4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19190"/>
            <a:ext cx="703667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1FEE8A92-B279-11AC-E642-FA60A417C443}"/>
              </a:ext>
            </a:extLst>
          </p:cNvPr>
          <p:cNvSpPr/>
          <p:nvPr/>
        </p:nvSpPr>
        <p:spPr>
          <a:xfrm>
            <a:off x="1379481" y="1243280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Dữ liệu 10">
            <a:extLst>
              <a:ext uri="{FF2B5EF4-FFF2-40B4-BE49-F238E27FC236}">
                <a16:creationId xmlns:a16="http://schemas.microsoft.com/office/drawing/2014/main" id="{D0A1A08D-890C-99A5-DDA2-980804E645D3}"/>
              </a:ext>
            </a:extLst>
          </p:cNvPr>
          <p:cNvSpPr/>
          <p:nvPr/>
        </p:nvSpPr>
        <p:spPr>
          <a:xfrm>
            <a:off x="1241860" y="1944351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sp>
        <p:nvSpPr>
          <p:cNvPr id="12" name="Lưu đồ: Tiến trình 11">
            <a:extLst>
              <a:ext uri="{FF2B5EF4-FFF2-40B4-BE49-F238E27FC236}">
                <a16:creationId xmlns:a16="http://schemas.microsoft.com/office/drawing/2014/main" id="{AC298B8D-CFDD-9BA8-3F8D-295B9E39C18E}"/>
              </a:ext>
            </a:extLst>
          </p:cNvPr>
          <p:cNvSpPr/>
          <p:nvPr/>
        </p:nvSpPr>
        <p:spPr>
          <a:xfrm>
            <a:off x="1241862" y="265358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Khởi tạo tâm cụm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9FBA03BD-DF93-FCA8-8D37-03A970A71510}"/>
              </a:ext>
            </a:extLst>
          </p:cNvPr>
          <p:cNvSpPr/>
          <p:nvPr/>
        </p:nvSpPr>
        <p:spPr>
          <a:xfrm>
            <a:off x="1241862" y="3347768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khoảng cách, gán điểm vào cụm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607435CD-A177-A655-6D5A-B2BB9FCE5922}"/>
              </a:ext>
            </a:extLst>
          </p:cNvPr>
          <p:cNvSpPr/>
          <p:nvPr/>
        </p:nvSpPr>
        <p:spPr>
          <a:xfrm>
            <a:off x="1241862" y="4041954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Cập nhật tâm cụm</a:t>
            </a:r>
          </a:p>
        </p:txBody>
      </p:sp>
      <p:sp>
        <p:nvSpPr>
          <p:cNvPr id="16" name="Lưu Đồ: Quyết Định 15">
            <a:extLst>
              <a:ext uri="{FF2B5EF4-FFF2-40B4-BE49-F238E27FC236}">
                <a16:creationId xmlns:a16="http://schemas.microsoft.com/office/drawing/2014/main" id="{4EC02AE8-FD5D-CCFB-DB36-DE3316D9E63B}"/>
              </a:ext>
            </a:extLst>
          </p:cNvPr>
          <p:cNvSpPr/>
          <p:nvPr/>
        </p:nvSpPr>
        <p:spPr>
          <a:xfrm>
            <a:off x="1104241" y="4736140"/>
            <a:ext cx="1868542" cy="73978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Kiểm tra hội tụ</a:t>
            </a:r>
          </a:p>
        </p:txBody>
      </p:sp>
      <p:sp>
        <p:nvSpPr>
          <p:cNvPr id="17" name="Lưu đồ: Tiến trình 16">
            <a:extLst>
              <a:ext uri="{FF2B5EF4-FFF2-40B4-BE49-F238E27FC236}">
                <a16:creationId xmlns:a16="http://schemas.microsoft.com/office/drawing/2014/main" id="{8DBD6366-D411-09CB-5FC4-FF2D083B80A3}"/>
              </a:ext>
            </a:extLst>
          </p:cNvPr>
          <p:cNvSpPr/>
          <p:nvPr/>
        </p:nvSpPr>
        <p:spPr>
          <a:xfrm>
            <a:off x="1241860" y="564250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Xuất kết quả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C0978133-8CFB-006F-2F61-90C29246C573}"/>
              </a:ext>
            </a:extLst>
          </p:cNvPr>
          <p:cNvSpPr/>
          <p:nvPr/>
        </p:nvSpPr>
        <p:spPr>
          <a:xfrm>
            <a:off x="1310669" y="6308079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DA3955FF-7C39-EDB6-89FB-EE96DACBFB86}"/>
              </a:ext>
            </a:extLst>
          </p:cNvPr>
          <p:cNvCxnSpPr>
            <a:cxnSpLocks/>
          </p:cNvCxnSpPr>
          <p:nvPr/>
        </p:nvCxnSpPr>
        <p:spPr>
          <a:xfrm flipH="1">
            <a:off x="2035882" y="1704945"/>
            <a:ext cx="1" cy="23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4BA43E45-DA7B-48D4-F346-CEFB4665EC65}"/>
              </a:ext>
            </a:extLst>
          </p:cNvPr>
          <p:cNvCxnSpPr/>
          <p:nvPr/>
        </p:nvCxnSpPr>
        <p:spPr>
          <a:xfrm>
            <a:off x="2035883" y="2412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CB0D5E44-AA3A-9FA4-7E2D-CD55B00403F2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035883" y="3120970"/>
            <a:ext cx="2630" cy="226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FDE6CDB-ECF4-EA55-443D-733E2FEDE0BB}"/>
              </a:ext>
            </a:extLst>
          </p:cNvPr>
          <p:cNvCxnSpPr/>
          <p:nvPr/>
        </p:nvCxnSpPr>
        <p:spPr>
          <a:xfrm>
            <a:off x="2035882" y="377191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713424FF-5535-1620-EB66-9963BA10882F}"/>
              </a:ext>
            </a:extLst>
          </p:cNvPr>
          <p:cNvCxnSpPr/>
          <p:nvPr/>
        </p:nvCxnSpPr>
        <p:spPr>
          <a:xfrm>
            <a:off x="2033255" y="448978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EA710A7-4CF2-34A8-B713-942D4679E83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592353" y="3582681"/>
            <a:ext cx="64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843026D0-EE70-C5E7-8E07-05350D267235}"/>
              </a:ext>
            </a:extLst>
          </p:cNvPr>
          <p:cNvCxnSpPr/>
          <p:nvPr/>
        </p:nvCxnSpPr>
        <p:spPr>
          <a:xfrm>
            <a:off x="592353" y="3582681"/>
            <a:ext cx="0" cy="15322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Đường nối Thẳng 31">
            <a:extLst>
              <a:ext uri="{FF2B5EF4-FFF2-40B4-BE49-F238E27FC236}">
                <a16:creationId xmlns:a16="http://schemas.microsoft.com/office/drawing/2014/main" id="{496D296D-9257-794B-9D0E-701F89604CB2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92353" y="5106032"/>
            <a:ext cx="51188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8FE23BF-AC1B-C625-D96C-9FAAC8337D2D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972783" y="5106033"/>
            <a:ext cx="547657" cy="8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A9477284-E2D7-EEA2-7588-7EFE8C948532}"/>
              </a:ext>
            </a:extLst>
          </p:cNvPr>
          <p:cNvCxnSpPr/>
          <p:nvPr/>
        </p:nvCxnSpPr>
        <p:spPr>
          <a:xfrm>
            <a:off x="3520440" y="5106032"/>
            <a:ext cx="0" cy="776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0781190B-07AC-E409-1939-7C7D4F29E300}"/>
              </a:ext>
            </a:extLst>
          </p:cNvPr>
          <p:cNvCxnSpPr>
            <a:endCxn id="17" idx="3"/>
          </p:cNvCxnSpPr>
          <p:nvPr/>
        </p:nvCxnSpPr>
        <p:spPr>
          <a:xfrm flipH="1" flipV="1">
            <a:off x="2835162" y="5877415"/>
            <a:ext cx="685278" cy="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ưu đồ: Điểm Kết Thúc 42">
            <a:extLst>
              <a:ext uri="{FF2B5EF4-FFF2-40B4-BE49-F238E27FC236}">
                <a16:creationId xmlns:a16="http://schemas.microsoft.com/office/drawing/2014/main" id="{51440439-F856-917E-ADC7-DC4A0CB08ACF}"/>
              </a:ext>
            </a:extLst>
          </p:cNvPr>
          <p:cNvSpPr/>
          <p:nvPr/>
        </p:nvSpPr>
        <p:spPr>
          <a:xfrm>
            <a:off x="67430" y="5241018"/>
            <a:ext cx="1312051" cy="234907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/>
              <a:t>Chưa hội tụ</a:t>
            </a:r>
            <a:endParaRPr lang="vi-VN" dirty="0"/>
          </a:p>
        </p:txBody>
      </p:sp>
      <p:sp>
        <p:nvSpPr>
          <p:cNvPr id="46" name="Lưu đồ: Điểm Kết Thúc 45">
            <a:extLst>
              <a:ext uri="{FF2B5EF4-FFF2-40B4-BE49-F238E27FC236}">
                <a16:creationId xmlns:a16="http://schemas.microsoft.com/office/drawing/2014/main" id="{F59C6466-2C0C-BD1B-66FD-9209CD44254B}"/>
              </a:ext>
            </a:extLst>
          </p:cNvPr>
          <p:cNvSpPr/>
          <p:nvPr/>
        </p:nvSpPr>
        <p:spPr>
          <a:xfrm>
            <a:off x="2917275" y="4803633"/>
            <a:ext cx="900346" cy="240154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Đã hội tụ</a:t>
            </a:r>
          </a:p>
        </p:txBody>
      </p:sp>
      <p:pic>
        <p:nvPicPr>
          <p:cNvPr id="48" name="Hình ảnh 47">
            <a:extLst>
              <a:ext uri="{FF2B5EF4-FFF2-40B4-BE49-F238E27FC236}">
                <a16:creationId xmlns:a16="http://schemas.microsoft.com/office/drawing/2014/main" id="{45C6A272-CC83-AD46-56FC-62D09212C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344" y="1333263"/>
            <a:ext cx="4824909" cy="2260667"/>
          </a:xfrm>
          <a:prstGeom prst="rect">
            <a:avLst/>
          </a:prstGeom>
        </p:spPr>
      </p:pic>
      <p:pic>
        <p:nvPicPr>
          <p:cNvPr id="50" name="Hình ảnh 49">
            <a:extLst>
              <a:ext uri="{FF2B5EF4-FFF2-40B4-BE49-F238E27FC236}">
                <a16:creationId xmlns:a16="http://schemas.microsoft.com/office/drawing/2014/main" id="{11E12F5F-26BE-802C-AFE7-5BCC8B4A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44" y="3596705"/>
            <a:ext cx="4908829" cy="23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0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89B5C975-FE0E-44C1-E3D8-311D759AA872}"/>
              </a:ext>
            </a:extLst>
          </p:cNvPr>
          <p:cNvSpPr txBox="1"/>
          <p:nvPr/>
        </p:nvSpPr>
        <p:spPr>
          <a:xfrm>
            <a:off x="5207876" y="4035972"/>
            <a:ext cx="35735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dirty="0"/>
              <a:t>- Lấy ra 300 ảnh từ mỗi thư mục cảm xúc để </a:t>
            </a:r>
            <a:r>
              <a:rPr lang="vi-VN" sz="2400" dirty="0" err="1"/>
              <a:t>training</a:t>
            </a:r>
            <a:r>
              <a:rPr lang="vi-VN" sz="2400" dirty="0"/>
              <a:t>, và 300 ảnh từ mỗi thư mục để </a:t>
            </a:r>
            <a:r>
              <a:rPr lang="vi-VN" sz="2400" dirty="0" err="1"/>
              <a:t>test</a:t>
            </a:r>
            <a:endParaRPr lang="vi-VN" sz="2400" dirty="0"/>
          </a:p>
        </p:txBody>
      </p:sp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8B5D-42DB-CE92-6E3F-5A7E5721F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E7C5111-690B-C0F5-61DE-FC58C5995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7D200C2-F03D-ECE7-4241-9D627A21DF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550766-A523-583A-0474-7975D30EA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35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A1F43C7-45C1-2268-2250-26401EA6DDF1}"/>
              </a:ext>
            </a:extLst>
          </p:cNvPr>
          <p:cNvSpPr txBox="1"/>
          <p:nvPr/>
        </p:nvSpPr>
        <p:spPr>
          <a:xfrm>
            <a:off x="1103587" y="2648043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Angry</a:t>
            </a:r>
            <a:endParaRPr lang="vi-VN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71756C7-41C8-9436-1250-83909BFF3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11D1419-034E-81F0-87ED-062A67459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1355801"/>
            <a:ext cx="1079939" cy="1079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2A3074A9-32EB-3E50-16E6-440A78F8894E}"/>
              </a:ext>
            </a:extLst>
          </p:cNvPr>
          <p:cNvSpPr txBox="1"/>
          <p:nvPr/>
        </p:nvSpPr>
        <p:spPr>
          <a:xfrm>
            <a:off x="3655628" y="2640527"/>
            <a:ext cx="916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Disgust</a:t>
            </a:r>
            <a:endParaRPr lang="vi-VN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7C904647-8B7A-1BCC-42B5-74CED4CA9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867" y="1355801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B8DA9805-EFDF-C4C1-420C-87B22E43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D2465CD9-A86C-B767-8B9E-AE5CDB31D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5ED9286-45D6-637F-5A06-EB378AB1E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315309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5B699B90-57BE-CB26-7F5D-C56951934C10}"/>
              </a:ext>
            </a:extLst>
          </p:cNvPr>
          <p:cNvSpPr txBox="1"/>
          <p:nvPr/>
        </p:nvSpPr>
        <p:spPr>
          <a:xfrm>
            <a:off x="1103587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Fear</a:t>
            </a:r>
            <a:endParaRPr lang="vi-VN" b="1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98968E92-C7D3-7762-5333-4C6A2DAEA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399" y="3121223"/>
            <a:ext cx="1058916" cy="1058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4CC776FF-D03F-875C-95C3-0838ADBEE1B0}"/>
              </a:ext>
            </a:extLst>
          </p:cNvPr>
          <p:cNvSpPr txBox="1"/>
          <p:nvPr/>
        </p:nvSpPr>
        <p:spPr>
          <a:xfrm>
            <a:off x="3752193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Happy</a:t>
            </a:r>
            <a:endParaRPr lang="vi-VN" b="1" dirty="0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CDBC0CC8-4F5D-1FC2-9B74-1720A688E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712" y="138733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F8F51C2D-87AF-9A3D-F603-AE314B51E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4" y="13768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C3898183-82CC-E0A6-EAFB-E7CC9B78FE10}"/>
              </a:ext>
            </a:extLst>
          </p:cNvPr>
          <p:cNvSpPr txBox="1"/>
          <p:nvPr/>
        </p:nvSpPr>
        <p:spPr>
          <a:xfrm>
            <a:off x="6852744" y="2640526"/>
            <a:ext cx="1187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Neutral</a:t>
            </a:r>
            <a:endParaRPr lang="vi-VN" b="1" dirty="0"/>
          </a:p>
        </p:txBody>
      </p:sp>
      <p:pic>
        <p:nvPicPr>
          <p:cNvPr id="2068" name="Picture 20">
            <a:extLst>
              <a:ext uri="{FF2B5EF4-FFF2-40B4-BE49-F238E27FC236}">
                <a16:creationId xmlns:a16="http://schemas.microsoft.com/office/drawing/2014/main" id="{996C035D-45CE-BFE1-77B8-1A6C9BA5E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1179" y="3121223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>
            <a:extLst>
              <a:ext uri="{FF2B5EF4-FFF2-40B4-BE49-F238E27FC236}">
                <a16:creationId xmlns:a16="http://schemas.microsoft.com/office/drawing/2014/main" id="{D83DEDB4-E3B3-BDFB-44EB-44AAEE905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5" y="31212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F72B1ED-7D9D-A16B-8B2C-47FFC9A2BD6A}"/>
              </a:ext>
            </a:extLst>
          </p:cNvPr>
          <p:cNvSpPr txBox="1"/>
          <p:nvPr/>
        </p:nvSpPr>
        <p:spPr>
          <a:xfrm>
            <a:off x="7076745" y="4422549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Sad</a:t>
            </a:r>
            <a:endParaRPr lang="vi-VN" b="1" dirty="0"/>
          </a:p>
        </p:txBody>
      </p:sp>
      <p:pic>
        <p:nvPicPr>
          <p:cNvPr id="2072" name="Picture 24">
            <a:extLst>
              <a:ext uri="{FF2B5EF4-FFF2-40B4-BE49-F238E27FC236}">
                <a16:creationId xmlns:a16="http://schemas.microsoft.com/office/drawing/2014/main" id="{EB538EC9-AE15-6B6D-323B-E8ACFBD63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4886645"/>
            <a:ext cx="1035270" cy="1035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FDF8682C-8F83-DC18-9E16-B0BEFE55597C}"/>
              </a:ext>
            </a:extLst>
          </p:cNvPr>
          <p:cNvSpPr txBox="1"/>
          <p:nvPr/>
        </p:nvSpPr>
        <p:spPr>
          <a:xfrm>
            <a:off x="1072055" y="6129133"/>
            <a:ext cx="9301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Surprise</a:t>
            </a:r>
            <a:endParaRPr lang="vi-VN" b="1" dirty="0"/>
          </a:p>
        </p:txBody>
      </p:sp>
      <p:pic>
        <p:nvPicPr>
          <p:cNvPr id="2074" name="Picture 26">
            <a:extLst>
              <a:ext uri="{FF2B5EF4-FFF2-40B4-BE49-F238E27FC236}">
                <a16:creationId xmlns:a16="http://schemas.microsoft.com/office/drawing/2014/main" id="{BA9660F5-323D-4737-E93B-824ABD386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4849916"/>
            <a:ext cx="1090447" cy="1090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181BE7BB-B0D4-517E-9077-1E2A5CD79D98}"/>
              </a:ext>
            </a:extLst>
          </p:cNvPr>
          <p:cNvSpPr txBox="1"/>
          <p:nvPr/>
        </p:nvSpPr>
        <p:spPr>
          <a:xfrm>
            <a:off x="3538044" y="4886645"/>
            <a:ext cx="49017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xét:</a:t>
            </a:r>
            <a:r>
              <a:rPr lang="vi-VN" sz="2400" dirty="0"/>
              <a:t> </a:t>
            </a:r>
            <a:r>
              <a:rPr lang="vi-VN" sz="2400" dirty="0" err="1"/>
              <a:t>dataset</a:t>
            </a:r>
            <a:r>
              <a:rPr lang="vi-VN" sz="2400" dirty="0"/>
              <a:t> rất khó, nhiều nhiễu, các ảnh được phân loại rất giống nhau và không dễ gán nhãn</a:t>
            </a:r>
          </a:p>
        </p:txBody>
      </p:sp>
    </p:spTree>
    <p:extLst>
      <p:ext uri="{BB962C8B-B14F-4D97-AF65-F5344CB8AC3E}">
        <p14:creationId xmlns:p14="http://schemas.microsoft.com/office/powerpoint/2010/main" val="499001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3A80F-45FE-D6D1-B82D-CEB40E0E7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55ADEC2-3317-C5B5-6BC3-1905F0302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17D3728-AD5B-70A8-27C7-4A5040E77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CCC69F69-BCA7-2132-8245-15D44A9176D5}"/>
              </a:ext>
            </a:extLst>
          </p:cNvPr>
          <p:cNvSpPr txBox="1"/>
          <p:nvPr/>
        </p:nvSpPr>
        <p:spPr>
          <a:xfrm>
            <a:off x="402021" y="1984415"/>
            <a:ext cx="29087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0.50 -&gt;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0.60 -&gt; </a:t>
            </a:r>
            <a:r>
              <a:rPr lang="vi-VN" sz="1800" dirty="0" err="1"/>
              <a:t>Accuracy</a:t>
            </a:r>
            <a:r>
              <a:rPr lang="vi-VN" sz="1800" dirty="0"/>
              <a:t> TEST: 0.2156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0.70 -&gt;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0.80 -&gt; </a:t>
            </a:r>
            <a:r>
              <a:rPr lang="vi-VN" sz="1800" dirty="0" err="1"/>
              <a:t>Accuracy</a:t>
            </a:r>
            <a:r>
              <a:rPr lang="vi-VN" sz="1800" dirty="0"/>
              <a:t> TEST: 0.2051</a:t>
            </a:r>
          </a:p>
          <a:p>
            <a:r>
              <a:rPr lang="vi-VN" sz="1800" b="1" dirty="0"/>
              <a:t>PCA </a:t>
            </a:r>
            <a:r>
              <a:rPr lang="vi-VN" sz="1800" b="1" dirty="0" err="1"/>
              <a:t>yeu</a:t>
            </a:r>
            <a:r>
              <a:rPr lang="vi-VN" sz="1800" b="1" dirty="0"/>
              <a:t> cau 0.90 -&gt; </a:t>
            </a:r>
            <a:r>
              <a:rPr lang="vi-VN" sz="1800" b="1" dirty="0" err="1"/>
              <a:t>Accuracy</a:t>
            </a:r>
            <a:r>
              <a:rPr lang="vi-VN" sz="1800" b="1" dirty="0"/>
              <a:t> TEST: 0.2292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0.95 -&gt; </a:t>
            </a:r>
            <a:r>
              <a:rPr lang="vi-VN" sz="1800" dirty="0" err="1"/>
              <a:t>Accuracy</a:t>
            </a:r>
            <a:r>
              <a:rPr lang="vi-VN" sz="1800" dirty="0"/>
              <a:t> TEST: 0.2114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71B53EC-5499-FE69-CE12-7BE9BF04E94F}"/>
              </a:ext>
            </a:extLst>
          </p:cNvPr>
          <p:cNvSpPr txBox="1"/>
          <p:nvPr/>
        </p:nvSpPr>
        <p:spPr>
          <a:xfrm>
            <a:off x="4025462" y="1296702"/>
            <a:ext cx="57806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 tốt nhất tại mức PCA = 0.90</a:t>
            </a:r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03308121-AC7C-6439-911E-FB4AC55F2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1" y="1722446"/>
            <a:ext cx="5228896" cy="3921672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7178496-9A18-A3CA-3F8B-B0E6B36B32B1}"/>
              </a:ext>
            </a:extLst>
          </p:cNvPr>
          <p:cNvSpPr txBox="1"/>
          <p:nvPr/>
        </p:nvSpPr>
        <p:spPr>
          <a:xfrm>
            <a:off x="212835" y="1187669"/>
            <a:ext cx="5780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Khảo sát PCA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3DC3FBA-B3CB-8BC2-E780-8E14F0143064}"/>
              </a:ext>
            </a:extLst>
          </p:cNvPr>
          <p:cNvSpPr txBox="1"/>
          <p:nvPr/>
        </p:nvSpPr>
        <p:spPr>
          <a:xfrm>
            <a:off x="402021" y="5644118"/>
            <a:ext cx="8468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600" b="1" dirty="0"/>
              <a:t>Nhận xét: 0.90 là mốc giảm nhiễu vừa đủ, giữ lại được các phần thông tin cần thiết, giúp K-</a:t>
            </a:r>
            <a:r>
              <a:rPr lang="vi-VN" sz="1600" b="1" dirty="0" err="1"/>
              <a:t>means</a:t>
            </a:r>
            <a:r>
              <a:rPr lang="vi-VN" sz="1600" b="1" dirty="0"/>
              <a:t> gom cụm ổn định hơn</a:t>
            </a:r>
          </a:p>
        </p:txBody>
      </p:sp>
    </p:spTree>
    <p:extLst>
      <p:ext uri="{BB962C8B-B14F-4D97-AF65-F5344CB8AC3E}">
        <p14:creationId xmlns:p14="http://schemas.microsoft.com/office/powerpoint/2010/main" val="3288006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3EEC1-7F47-FD6A-090C-818FF74D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E9AFA4-D0FB-3FC5-5A5F-785903BCD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87FFA78-0291-A1E9-5303-5E5C864B47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88ED6F70-5686-5FC2-4A6D-CF0C0CED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822" y="1302032"/>
            <a:ext cx="5228896" cy="3921672"/>
          </a:xfrm>
          <a:prstGeom prst="rect">
            <a:avLst/>
          </a:prstGeom>
        </p:spPr>
      </p:pic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207D0A7-2504-C9C6-A3E1-550D74D0CB47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015E900D-328E-FF6E-042B-9A12477A2BF4}"/>
              </a:ext>
            </a:extLst>
          </p:cNvPr>
          <p:cNvSpPr txBox="1"/>
          <p:nvPr/>
        </p:nvSpPr>
        <p:spPr>
          <a:xfrm>
            <a:off x="325821" y="1902372"/>
            <a:ext cx="369964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sz="1800" dirty="0"/>
              <a:t>Thấp, do đây là phân cụm không giám sát,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FER2013 là 1 </a:t>
            </a:r>
            <a:r>
              <a:rPr lang="vi-VN" sz="1800" dirty="0" err="1"/>
              <a:t>dataset</a:t>
            </a:r>
            <a:r>
              <a:rPr lang="vi-VN" sz="1800" dirty="0"/>
              <a:t> khó vì kích </a:t>
            </a:r>
            <a:r>
              <a:rPr lang="vi-VN" sz="1800" dirty="0" err="1"/>
              <a:t>thuớc</a:t>
            </a:r>
            <a:r>
              <a:rPr lang="vi-VN" sz="1800" dirty="0"/>
              <a:t> nhỏ (48x48) và nhiều nhiễu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Một số cảm xúc rất giống nhau như: </a:t>
            </a:r>
            <a:r>
              <a:rPr lang="vi-VN" sz="1800" b="1" dirty="0" err="1"/>
              <a:t>sad</a:t>
            </a:r>
            <a:r>
              <a:rPr lang="vi-VN" sz="1800" b="1" dirty="0"/>
              <a:t> và </a:t>
            </a:r>
            <a:r>
              <a:rPr lang="vi-VN" sz="1800" b="1" dirty="0" err="1"/>
              <a:t>neutral</a:t>
            </a:r>
            <a:r>
              <a:rPr lang="vi-VN" sz="1800" b="1" dirty="0"/>
              <a:t>, </a:t>
            </a:r>
            <a:r>
              <a:rPr lang="vi-VN" sz="1800" b="1" dirty="0" err="1"/>
              <a:t>fear</a:t>
            </a:r>
            <a:r>
              <a:rPr lang="vi-VN" sz="1800" b="1" dirty="0"/>
              <a:t> và </a:t>
            </a:r>
            <a:r>
              <a:rPr lang="vi-VN" sz="1800" b="1" dirty="0" err="1"/>
              <a:t>surprise</a:t>
            </a:r>
            <a:r>
              <a:rPr lang="vi-VN" sz="1800" b="1" dirty="0"/>
              <a:t>, </a:t>
            </a:r>
            <a:r>
              <a:rPr lang="vi-VN" sz="1800" b="1" dirty="0" err="1"/>
              <a:t>angry</a:t>
            </a:r>
            <a:r>
              <a:rPr lang="vi-VN" sz="1800" b="1" dirty="0"/>
              <a:t> và </a:t>
            </a:r>
            <a:r>
              <a:rPr lang="vi-VN" sz="1800" b="1" dirty="0" err="1"/>
              <a:t>disgust</a:t>
            </a:r>
            <a:endParaRPr lang="vi-VN" sz="1800" b="1" dirty="0"/>
          </a:p>
          <a:p>
            <a:r>
              <a:rPr lang="vi-VN" sz="1800" dirty="0"/>
              <a:t>=&gt; Kết quả thấp là hoàn toàn bình thường</a:t>
            </a:r>
          </a:p>
        </p:txBody>
      </p:sp>
    </p:spTree>
    <p:extLst>
      <p:ext uri="{BB962C8B-B14F-4D97-AF65-F5344CB8AC3E}">
        <p14:creationId xmlns:p14="http://schemas.microsoft.com/office/powerpoint/2010/main" val="3403906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2694</TotalTime>
  <Words>862</Words>
  <Application>Microsoft Office PowerPoint</Application>
  <PresentationFormat>Trình chiếu Trên màn hình (4:3)</PresentationFormat>
  <Paragraphs>130</Paragraphs>
  <Slides>19</Slides>
  <Notes>8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19</vt:i4>
      </vt:variant>
    </vt:vector>
  </HeadingPairs>
  <TitlesOfParts>
    <vt:vector size="23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Giới thiệu về bài toán </vt:lpstr>
      <vt:lpstr>1. Giới thiệu về bài toán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3. Khảo sát, đánh giá</vt:lpstr>
      <vt:lpstr>3. Khảo sát, đánh giá</vt:lpstr>
      <vt:lpstr>3. Khảo sát, đánh giá</vt:lpstr>
      <vt:lpstr>4. So sánh, đối chiếu kết quả</vt:lpstr>
      <vt:lpstr>5.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112</cp:revision>
  <dcterms:created xsi:type="dcterms:W3CDTF">2017-10-17T01:43:35Z</dcterms:created>
  <dcterms:modified xsi:type="dcterms:W3CDTF">2025-11-30T03:51:46Z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