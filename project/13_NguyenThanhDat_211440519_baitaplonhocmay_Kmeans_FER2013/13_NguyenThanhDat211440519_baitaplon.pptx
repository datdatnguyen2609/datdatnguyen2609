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300" r:id="rId6"/>
    <p:sldId id="301" r:id="rId7"/>
    <p:sldId id="302" r:id="rId8"/>
    <p:sldId id="303" r:id="rId9"/>
    <p:sldId id="311" r:id="rId10"/>
    <p:sldId id="291" r:id="rId11"/>
    <p:sldId id="310" r:id="rId12"/>
    <p:sldId id="314" r:id="rId13"/>
    <p:sldId id="312" r:id="rId14"/>
    <p:sldId id="313" r:id="rId15"/>
    <p:sldId id="294" r:id="rId16"/>
    <p:sldId id="317" r:id="rId17"/>
    <p:sldId id="304" r:id="rId18"/>
    <p:sldId id="315" r:id="rId19"/>
    <p:sldId id="324" r:id="rId20"/>
    <p:sldId id="316" r:id="rId21"/>
    <p:sldId id="318" r:id="rId22"/>
    <p:sldId id="305" r:id="rId23"/>
    <p:sldId id="319" r:id="rId24"/>
    <p:sldId id="321" r:id="rId25"/>
    <p:sldId id="307" r:id="rId26"/>
    <p:sldId id="322" r:id="rId27"/>
    <p:sldId id="323" r:id="rId28"/>
    <p:sldId id="306" r:id="rId29"/>
  </p:sldIdLst>
  <p:sldSz cx="9144000" cy="6858000" type="screen4x3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g7uoUar2FONQYJwEy87gUzpUQY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 VŨ DŨ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4F4F4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20BE63-4007-4B99-8653-B8915922B5FC}">
  <a:tblStyle styleId="{E320BE63-4007-4B99-8653-B8915922B5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307D7D-2257-42CE-8DAA-5773DBCB34A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47" autoAdjust="0"/>
  </p:normalViewPr>
  <p:slideViewPr>
    <p:cSldViewPr snapToGrid="0">
      <p:cViewPr varScale="1">
        <p:scale>
          <a:sx n="91" d="100"/>
          <a:sy n="91" d="100"/>
        </p:scale>
        <p:origin x="218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4763" y="0"/>
            <a:ext cx="2919412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01700" y="739775"/>
            <a:ext cx="493236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013"/>
            <a:ext cx="2919413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A72E-7B1E-570C-7ECE-2A9D411B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60326-EB59-B819-A73C-E27F9C4CF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9B345-0F92-275E-2445-440A549DD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0146-888F-0CF0-540C-087B0B1DAA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997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B80C-F1E7-8E6C-6A46-5E1B30C2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7300A-7843-1F27-EC97-D6F7A5B8A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0DFD0-E65F-EF19-B888-307A0FA65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F46F3-A5EF-C9BC-83F9-F0E510B335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4633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ECEBA-3058-4028-80C1-D9276C26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EC2F8-DE83-CE37-FDDC-40A016968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6D95A-C684-AFE9-31D4-D3DC6D04D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4D6C3-B742-2758-798B-E85B976BD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5548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381C-6CCA-18C5-7D54-104F81D3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14F99-14D9-0725-71B7-F10DBAEBA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1DDDA-D7FC-028E-CBBB-C07E1C207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3E497-378F-E5B2-9CCB-63AAFC2D08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6369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51CE-55BD-995D-BA14-1A615D3D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0C985-B4B7-9716-394E-401BCBE00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27B66-DC2F-2562-01F8-D3D7F33C9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47BBA-F2FD-D66F-4ACF-002375ADF0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2951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485F-AF48-14D7-0EFE-AB237514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4E7B3-A194-0BAE-5B79-5C00F25AA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E567F-F966-2FFE-C282-719F5CE32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EA78D-4782-A872-59B5-AEA912EAA4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820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409E-06CA-6544-D9CE-95C802EE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CAB04-CA79-F775-85FE-EB1E7EF4A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3F66C-4521-03A7-8337-61442E301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7FCAE-8EAC-0572-CA86-06EA9030AC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327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 err="1"/>
              <a:t>angry</a:t>
            </a:r>
            <a:endParaRPr lang="vi-VN" dirty="0"/>
          </a:p>
          <a:p>
            <a:r>
              <a:rPr lang="vi-VN" dirty="0"/>
              <a:t>Bị đoán sang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 là nhiều</a:t>
            </a:r>
          </a:p>
          <a:p>
            <a:r>
              <a:rPr lang="vi-VN" dirty="0"/>
              <a:t>Lý do: </a:t>
            </a:r>
            <a:r>
              <a:rPr lang="vi-VN" dirty="0" err="1"/>
              <a:t>angry</a:t>
            </a:r>
            <a:r>
              <a:rPr lang="vi-VN" dirty="0"/>
              <a:t> có đường nét mắt và miệng dễ bị lẫn với </a:t>
            </a:r>
            <a:r>
              <a:rPr lang="vi-VN" dirty="0" err="1"/>
              <a:t>sad</a:t>
            </a:r>
            <a:r>
              <a:rPr lang="vi-VN" dirty="0"/>
              <a:t> hoặc </a:t>
            </a:r>
            <a:r>
              <a:rPr lang="vi-VN" dirty="0" err="1"/>
              <a:t>surprise</a:t>
            </a:r>
            <a:r>
              <a:rPr lang="vi-VN" dirty="0"/>
              <a:t> khi chỉ dùng </a:t>
            </a:r>
            <a:r>
              <a:rPr lang="vi-VN" dirty="0" err="1"/>
              <a:t>gradient</a:t>
            </a:r>
            <a:r>
              <a:rPr lang="vi-VN" dirty="0"/>
              <a:t> HOG</a:t>
            </a:r>
          </a:p>
          <a:p>
            <a:r>
              <a:rPr lang="vi-VN" b="1" dirty="0" err="1"/>
              <a:t>disgust</a:t>
            </a:r>
            <a:endParaRPr lang="vi-VN" dirty="0"/>
          </a:p>
          <a:p>
            <a:r>
              <a:rPr lang="vi-VN" dirty="0"/>
              <a:t>Phần lớn bị nhầm thành </a:t>
            </a:r>
            <a:r>
              <a:rPr lang="vi-VN" dirty="0" err="1"/>
              <a:t>disgust</a:t>
            </a:r>
            <a:r>
              <a:rPr lang="vi-VN" dirty="0"/>
              <a:t> chính nó, nhưng nhiều bị nhầm sang </a:t>
            </a:r>
            <a:r>
              <a:rPr lang="vi-VN" dirty="0" err="1"/>
              <a:t>surprise</a:t>
            </a:r>
            <a:r>
              <a:rPr lang="vi-VN" dirty="0"/>
              <a:t> và </a:t>
            </a:r>
            <a:r>
              <a:rPr lang="vi-VN" dirty="0" err="1"/>
              <a:t>happy</a:t>
            </a:r>
            <a:endParaRPr lang="vi-VN" dirty="0"/>
          </a:p>
          <a:p>
            <a:r>
              <a:rPr lang="vi-VN" dirty="0" err="1"/>
              <a:t>disgust</a:t>
            </a:r>
            <a:r>
              <a:rPr lang="vi-VN" dirty="0"/>
              <a:t> trong FER2013 rất ít mẫu và hình dạng cũng không đặc trưng rõ</a:t>
            </a:r>
          </a:p>
          <a:p>
            <a:r>
              <a:rPr lang="vi-VN" b="1" dirty="0" err="1"/>
              <a:t>fear</a:t>
            </a:r>
            <a:endParaRPr lang="vi-VN" dirty="0"/>
          </a:p>
          <a:p>
            <a:r>
              <a:rPr lang="vi-VN" dirty="0"/>
              <a:t>Lẫn nhiều với </a:t>
            </a:r>
            <a:r>
              <a:rPr lang="vi-VN" dirty="0" err="1"/>
              <a:t>surprise</a:t>
            </a:r>
            <a:r>
              <a:rPr lang="vi-VN" dirty="0"/>
              <a:t> và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 err="1"/>
              <a:t>fear</a:t>
            </a:r>
            <a:r>
              <a:rPr lang="vi-VN" dirty="0"/>
              <a:t> và </a:t>
            </a:r>
            <a:r>
              <a:rPr lang="vi-VN" dirty="0" err="1"/>
              <a:t>surprise</a:t>
            </a:r>
            <a:r>
              <a:rPr lang="vi-VN" dirty="0"/>
              <a:t> có </a:t>
            </a:r>
            <a:r>
              <a:rPr lang="vi-VN" dirty="0" err="1"/>
              <a:t>pattern</a:t>
            </a:r>
            <a:r>
              <a:rPr lang="vi-VN" dirty="0"/>
              <a:t> </a:t>
            </a:r>
            <a:r>
              <a:rPr lang="vi-VN" dirty="0" err="1"/>
              <a:t>gradient</a:t>
            </a:r>
            <a:r>
              <a:rPr lang="vi-VN" dirty="0"/>
              <a:t> gần giống: mắt mở lớn, miệng mở nhẹ</a:t>
            </a:r>
          </a:p>
          <a:p>
            <a:r>
              <a:rPr lang="vi-VN" b="1" dirty="0" err="1"/>
              <a:t>happy</a:t>
            </a:r>
            <a:endParaRPr lang="vi-VN" dirty="0"/>
          </a:p>
          <a:p>
            <a:r>
              <a:rPr lang="vi-VN" dirty="0"/>
              <a:t>Chủ yếu bị dự đoán thành </a:t>
            </a:r>
            <a:r>
              <a:rPr lang="vi-VN" dirty="0" err="1"/>
              <a:t>happy</a:t>
            </a:r>
            <a:r>
              <a:rPr lang="vi-VN" dirty="0"/>
              <a:t> hoặc </a:t>
            </a:r>
            <a:r>
              <a:rPr lang="vi-VN" dirty="0" err="1"/>
              <a:t>surprise</a:t>
            </a:r>
            <a:r>
              <a:rPr lang="vi-VN" dirty="0"/>
              <a:t> hoặc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 err="1"/>
              <a:t>happy</a:t>
            </a:r>
            <a:r>
              <a:rPr lang="vi-VN" dirty="0"/>
              <a:t> có hình dạng rõ (miệng cười) nhưng </a:t>
            </a:r>
            <a:r>
              <a:rPr lang="vi-VN" dirty="0" err="1"/>
              <a:t>gradient</a:t>
            </a:r>
            <a:r>
              <a:rPr lang="vi-VN" dirty="0"/>
              <a:t> đôi khi bị nhầm sang </a:t>
            </a:r>
            <a:r>
              <a:rPr lang="vi-VN" dirty="0" err="1"/>
              <a:t>surprise</a:t>
            </a:r>
            <a:r>
              <a:rPr lang="vi-VN" dirty="0"/>
              <a:t> vì vùng miệng mở rộng</a:t>
            </a:r>
          </a:p>
          <a:p>
            <a:r>
              <a:rPr lang="vi-VN" b="1" dirty="0" err="1"/>
              <a:t>neutral</a:t>
            </a:r>
            <a:endParaRPr lang="vi-VN" dirty="0"/>
          </a:p>
          <a:p>
            <a:r>
              <a:rPr lang="vi-VN" dirty="0"/>
              <a:t>Nhiều ảnh bị nhầm sang </a:t>
            </a:r>
            <a:r>
              <a:rPr lang="vi-VN" dirty="0" err="1"/>
              <a:t>sad</a:t>
            </a:r>
            <a:r>
              <a:rPr lang="vi-VN" dirty="0"/>
              <a:t> và </a:t>
            </a:r>
            <a:r>
              <a:rPr lang="vi-VN" dirty="0" err="1"/>
              <a:t>surprise</a:t>
            </a:r>
            <a:endParaRPr lang="vi-VN" dirty="0"/>
          </a:p>
          <a:p>
            <a:r>
              <a:rPr lang="vi-VN" dirty="0" err="1"/>
              <a:t>neutral</a:t>
            </a:r>
            <a:r>
              <a:rPr lang="vi-VN" dirty="0"/>
              <a:t> rất khó phân biệt chỉ bằng </a:t>
            </a:r>
            <a:r>
              <a:rPr lang="vi-VN" dirty="0" err="1"/>
              <a:t>gradient</a:t>
            </a:r>
            <a:r>
              <a:rPr lang="vi-VN" dirty="0"/>
              <a:t> vì cấu trúc mặt ít đặc trưng</a:t>
            </a:r>
          </a:p>
          <a:p>
            <a:r>
              <a:rPr lang="vi-VN" b="1" dirty="0" err="1"/>
              <a:t>sad</a:t>
            </a:r>
            <a:endParaRPr lang="vi-VN" dirty="0"/>
          </a:p>
          <a:p>
            <a:r>
              <a:rPr lang="vi-VN" dirty="0"/>
              <a:t>Nhiều ảnh bị nhầm sang </a:t>
            </a:r>
            <a:r>
              <a:rPr lang="vi-VN" dirty="0" err="1"/>
              <a:t>surprise</a:t>
            </a:r>
            <a:r>
              <a:rPr lang="vi-VN" dirty="0"/>
              <a:t> và </a:t>
            </a:r>
            <a:r>
              <a:rPr lang="vi-VN" dirty="0" err="1"/>
              <a:t>happy</a:t>
            </a:r>
            <a:endParaRPr lang="vi-VN" dirty="0"/>
          </a:p>
          <a:p>
            <a:r>
              <a:rPr lang="vi-VN" dirty="0" err="1"/>
              <a:t>sad</a:t>
            </a:r>
            <a:r>
              <a:rPr lang="vi-VN" dirty="0"/>
              <a:t> và </a:t>
            </a:r>
            <a:r>
              <a:rPr lang="vi-VN" dirty="0" err="1"/>
              <a:t>neutral</a:t>
            </a:r>
            <a:r>
              <a:rPr lang="vi-VN" dirty="0"/>
              <a:t> có </a:t>
            </a:r>
            <a:r>
              <a:rPr lang="vi-VN" dirty="0" err="1"/>
              <a:t>gradient</a:t>
            </a:r>
            <a:r>
              <a:rPr lang="vi-VN" dirty="0"/>
              <a:t> rất yếu nên dễ bị gom sai </a:t>
            </a:r>
            <a:r>
              <a:rPr lang="vi-VN" dirty="0" err="1"/>
              <a:t>cluster</a:t>
            </a:r>
            <a:endParaRPr lang="vi-VN" dirty="0"/>
          </a:p>
          <a:p>
            <a:r>
              <a:rPr lang="vi-VN" b="1" dirty="0" err="1"/>
              <a:t>surprise</a:t>
            </a:r>
            <a:endParaRPr lang="vi-VN" dirty="0"/>
          </a:p>
          <a:p>
            <a:r>
              <a:rPr lang="vi-VN" dirty="0"/>
              <a:t>Đây là </a:t>
            </a:r>
            <a:r>
              <a:rPr lang="vi-VN" dirty="0" err="1"/>
              <a:t>class</a:t>
            </a:r>
            <a:r>
              <a:rPr lang="vi-VN" dirty="0"/>
              <a:t> dễ nhất và mô hình đoán đúng nhiều nhất</a:t>
            </a:r>
          </a:p>
          <a:p>
            <a:r>
              <a:rPr lang="vi-VN" dirty="0" err="1"/>
              <a:t>surprise</a:t>
            </a:r>
            <a:r>
              <a:rPr lang="vi-VN" dirty="0"/>
              <a:t> có đặc trưng </a:t>
            </a:r>
            <a:r>
              <a:rPr lang="vi-VN" dirty="0" err="1"/>
              <a:t>gradient</a:t>
            </a:r>
            <a:r>
              <a:rPr lang="vi-VN" dirty="0"/>
              <a:t> mạnh: mắt mở to, miệng mở lớn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8381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Mức tổng thể</a:t>
            </a:r>
          </a:p>
          <a:p>
            <a:r>
              <a:rPr lang="vi-VN" dirty="0"/>
              <a:t>Ma trận có đường chéo chính khá đậm, nghĩa là SVM phân loại đúng nhiều hơn hẳn so với K-</a:t>
            </a:r>
            <a:r>
              <a:rPr lang="vi-VN" dirty="0" err="1"/>
              <a:t>Means</a:t>
            </a:r>
            <a:r>
              <a:rPr lang="vi-VN" dirty="0"/>
              <a:t> trước đó.</a:t>
            </a:r>
          </a:p>
          <a:p>
            <a:r>
              <a:rPr lang="vi-VN" dirty="0"/>
              <a:t>Điều này cho thấy HOG + PCA + SVM đã học được biên phân tách giữa các cảm xúc tốt hơn rất nhiều so với phân cụm K-</a:t>
            </a:r>
            <a:r>
              <a:rPr lang="vi-VN" dirty="0" err="1"/>
              <a:t>Means</a:t>
            </a:r>
            <a:r>
              <a:rPr lang="vi-VN" dirty="0"/>
              <a:t> không giám sát.</a:t>
            </a:r>
          </a:p>
          <a:p>
            <a:r>
              <a:rPr lang="vi-VN" dirty="0"/>
              <a:t>Theo từng lớp cảm xúc</a:t>
            </a:r>
          </a:p>
          <a:p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 có số lượng dự đoán đúng khá lớn trên đường chéo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angry</a:t>
            </a:r>
            <a:r>
              <a:rPr lang="vi-VN" dirty="0"/>
              <a:t>: 99 mẫu đúng nhưng vẫn bị nhầm khá nhiều sang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disgust</a:t>
            </a:r>
            <a:r>
              <a:rPr lang="vi-VN" dirty="0"/>
              <a:t>: 84 mẫu đúng, ít nhầm hơn, chứng tỏ SVM phân biệt </a:t>
            </a:r>
            <a:r>
              <a:rPr lang="vi-VN" dirty="0" err="1"/>
              <a:t>disgust</a:t>
            </a:r>
            <a:r>
              <a:rPr lang="vi-VN" dirty="0"/>
              <a:t> tốt hơn K-</a:t>
            </a:r>
            <a:r>
              <a:rPr lang="vi-VN" dirty="0" err="1"/>
              <a:t>Means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happy</a:t>
            </a:r>
            <a:r>
              <a:rPr lang="vi-VN" dirty="0"/>
              <a:t>: 176 mẫu đúng, là một trong các lớp dễ nhận dạng nhất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neutral</a:t>
            </a:r>
            <a:r>
              <a:rPr lang="vi-VN" dirty="0"/>
              <a:t>: 114 mẫu đúng nhưng vẫn hay bị lẫn với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sad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surprise</a:t>
            </a:r>
            <a:r>
              <a:rPr lang="vi-VN" dirty="0"/>
              <a:t>: 173 mẫu đúng, vẫn là lớp dễ nhất, </a:t>
            </a:r>
            <a:r>
              <a:rPr lang="vi-VN" dirty="0" err="1"/>
              <a:t>gradient</a:t>
            </a:r>
            <a:r>
              <a:rPr lang="vi-VN" dirty="0"/>
              <a:t> của miệng và mắt rất đặc trưng</a:t>
            </a:r>
          </a:p>
          <a:p>
            <a:r>
              <a:rPr lang="vi-VN" dirty="0" err="1"/>
              <a:t>fear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vẫn là hai lớp khó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fear</a:t>
            </a:r>
            <a:r>
              <a:rPr lang="vi-VN" dirty="0"/>
              <a:t>: chỉ khoảng 71 mẫu đúng, rất nhiều bị nhầm sang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, </a:t>
            </a:r>
            <a:r>
              <a:rPr lang="vi-VN" dirty="0" err="1"/>
              <a:t>surprise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sad</a:t>
            </a:r>
            <a:r>
              <a:rPr lang="vi-VN" dirty="0"/>
              <a:t>: số đúng không quá cao, thường bị nhầm thành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neutral</a:t>
            </a:r>
            <a:endParaRPr lang="vi-VN" dirty="0"/>
          </a:p>
          <a:p>
            <a:r>
              <a:rPr lang="vi-VN" dirty="0"/>
              <a:t>Kiểu nhầm lẫn chính</a:t>
            </a:r>
          </a:p>
          <a:p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surprise</a:t>
            </a:r>
            <a:r>
              <a:rPr lang="vi-VN" dirty="0"/>
              <a:t> ↔ </a:t>
            </a:r>
            <a:r>
              <a:rPr lang="vi-VN" dirty="0" err="1"/>
              <a:t>sad</a:t>
            </a:r>
            <a:r>
              <a:rPr lang="vi-VN" dirty="0"/>
              <a:t>: ba cảm xúc này có biểu cảm khuôn mặt khá giống nhau trong FER2013 nên HOG + SVM vẫn khó tách biệt hoàn toàn</a:t>
            </a:r>
          </a:p>
          <a:p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disgust</a:t>
            </a:r>
            <a:r>
              <a:rPr lang="vi-VN" dirty="0"/>
              <a:t> ↔ </a:t>
            </a:r>
            <a:r>
              <a:rPr lang="vi-VN" dirty="0" err="1"/>
              <a:t>sad</a:t>
            </a:r>
            <a:r>
              <a:rPr lang="vi-VN" dirty="0"/>
              <a:t>: đường nét chân mày và miệng khiến </a:t>
            </a:r>
            <a:r>
              <a:rPr lang="vi-VN" dirty="0" err="1"/>
              <a:t>gradient</a:t>
            </a:r>
            <a:r>
              <a:rPr lang="vi-VN" dirty="0"/>
              <a:t> tương tự nhau, dẫn đến bị lẫn cụm</a:t>
            </a:r>
          </a:p>
          <a:p>
            <a:r>
              <a:rPr lang="vi-VN" dirty="0" err="1"/>
              <a:t>neutral</a:t>
            </a:r>
            <a:r>
              <a:rPr lang="vi-VN" dirty="0"/>
              <a:t> bị lẫn với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do khuôn mặt ít đặc trưng, biên dạng </a:t>
            </a:r>
            <a:r>
              <a:rPr lang="vi-VN" dirty="0" err="1"/>
              <a:t>gradient</a:t>
            </a:r>
            <a:r>
              <a:rPr lang="vi-VN" dirty="0"/>
              <a:t> yếu</a:t>
            </a:r>
          </a:p>
          <a:p>
            <a:r>
              <a:rPr lang="vi-VN" dirty="0"/>
              <a:t>Kết luận và ý nghĩa</a:t>
            </a:r>
          </a:p>
          <a:p>
            <a:r>
              <a:rPr lang="vi-VN" dirty="0"/>
              <a:t>So với K-</a:t>
            </a:r>
            <a:r>
              <a:rPr lang="vi-VN" dirty="0" err="1"/>
              <a:t>Means</a:t>
            </a:r>
            <a:r>
              <a:rPr lang="vi-VN" dirty="0"/>
              <a:t>, SVM tận dụng tốt hơn đặc trưng HOG + PCA, cho đường chéo ma trận rõ ràng và </a:t>
            </a:r>
            <a:r>
              <a:rPr lang="vi-VN" dirty="0" err="1"/>
              <a:t>accuracy</a:t>
            </a:r>
            <a:r>
              <a:rPr lang="vi-VN" dirty="0"/>
              <a:t> cao hơn nhiều.</a:t>
            </a:r>
          </a:p>
          <a:p>
            <a:r>
              <a:rPr lang="vi-VN" dirty="0"/>
              <a:t>PCA 90% giữ lại đủ thông tin để SVM phân lớp tốt nhưng vẫn giảm nhiễu và số chiều, do đó là lựa chọn PCA hợp lý cho </a:t>
            </a:r>
            <a:r>
              <a:rPr lang="vi-VN" dirty="0" err="1"/>
              <a:t>pipeline</a:t>
            </a:r>
            <a:r>
              <a:rPr lang="vi-VN" dirty="0"/>
              <a:t> HOG + PCA + SVM trên FER2013.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878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8201-9F22-2D3B-1185-6820D19A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271CDE7-B6DF-8034-B0F7-0C760E62A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B1F92348-3FB6-F41D-6E6D-A6609F1B5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Đánh giá mô hình CNN dựa trên </a:t>
            </a:r>
            <a:r>
              <a:rPr lang="vi-VN" b="1" dirty="0" err="1"/>
              <a:t>confusion</a:t>
            </a:r>
            <a:r>
              <a:rPr lang="vi-VN" b="1" dirty="0"/>
              <a:t> </a:t>
            </a:r>
            <a:r>
              <a:rPr lang="vi-VN" b="1" dirty="0" err="1"/>
              <a:t>matrix</a:t>
            </a:r>
            <a:endParaRPr lang="vi-VN" b="1" dirty="0"/>
          </a:p>
          <a:p>
            <a:r>
              <a:rPr lang="vi-VN" b="1" dirty="0"/>
              <a:t>Hiệu năng tổng thể</a:t>
            </a:r>
            <a:endParaRPr lang="vi-VN" dirty="0"/>
          </a:p>
          <a:p>
            <a:pPr lvl="1"/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r>
              <a:rPr lang="vi-VN" dirty="0"/>
              <a:t> cho thấy CNN đã học được đặc trưng từ ảnh tốt hơn </a:t>
            </a:r>
            <a:r>
              <a:rPr lang="vi-VN" dirty="0" err="1"/>
              <a:t>KMeans</a:t>
            </a:r>
            <a:r>
              <a:rPr lang="vi-VN" dirty="0"/>
              <a:t> hoặc SVM + HOG, thể hiện qua đường chéo chính đậm và đều hơn.</a:t>
            </a:r>
          </a:p>
          <a:p>
            <a:pPr lvl="1"/>
            <a:r>
              <a:rPr lang="vi-VN" dirty="0"/>
              <a:t>Tuy vậy, mô hình vẫn gặp khó khăn ở một số cảm xúc có biểu hiện khuôn mặt tương tự nhau, phản ánh đặc trưng phức tạp của FER2013.</a:t>
            </a:r>
          </a:p>
          <a:p>
            <a:r>
              <a:rPr lang="vi-VN" b="1" dirty="0"/>
              <a:t>Những cảm xúc mô hình nhận diện tốt</a:t>
            </a:r>
            <a:endParaRPr lang="vi-VN" dirty="0"/>
          </a:p>
          <a:p>
            <a:pPr lvl="1"/>
            <a:r>
              <a:rPr lang="vi-VN" b="1" dirty="0" err="1"/>
              <a:t>Surprise</a:t>
            </a:r>
            <a:r>
              <a:rPr lang="vi-VN" b="1" dirty="0"/>
              <a:t>: 171 mẫu đúng</a:t>
            </a:r>
            <a:br>
              <a:rPr lang="vi-VN" dirty="0"/>
            </a:br>
            <a:r>
              <a:rPr lang="vi-VN" dirty="0"/>
              <a:t>Đây là lớp dễ nhất với CNN vì biểu hiện mắt mở to, miệng mở tạo ra </a:t>
            </a:r>
            <a:r>
              <a:rPr lang="vi-VN" dirty="0" err="1"/>
              <a:t>gradient</a:t>
            </a:r>
            <a:r>
              <a:rPr lang="vi-VN" dirty="0"/>
              <a:t> rất rõ.</a:t>
            </a:r>
          </a:p>
          <a:p>
            <a:pPr lvl="1"/>
            <a:r>
              <a:rPr lang="vi-VN" b="1" dirty="0" err="1"/>
              <a:t>Neutral</a:t>
            </a:r>
            <a:r>
              <a:rPr lang="vi-VN" b="1" dirty="0"/>
              <a:t>: 138 mẫu đúng</a:t>
            </a:r>
            <a:br>
              <a:rPr lang="vi-VN" dirty="0"/>
            </a:br>
            <a:r>
              <a:rPr lang="vi-VN" dirty="0"/>
              <a:t>Đây là lớp có biểu cảm ổn định và ít biến thiên, CNN học tốt khuôn mặt ở trạng thái nghỉ.</a:t>
            </a:r>
          </a:p>
          <a:p>
            <a:pPr lvl="1"/>
            <a:r>
              <a:rPr lang="vi-VN" b="1" dirty="0" err="1"/>
              <a:t>Happy</a:t>
            </a:r>
            <a:r>
              <a:rPr lang="vi-VN" b="1" dirty="0"/>
              <a:t>: 121 mẫu đúng</a:t>
            </a:r>
            <a:br>
              <a:rPr lang="vi-VN" dirty="0"/>
            </a:br>
            <a:r>
              <a:rPr lang="vi-VN" dirty="0"/>
              <a:t>NBC (</a:t>
            </a:r>
            <a:r>
              <a:rPr lang="vi-VN" dirty="0" err="1"/>
              <a:t>mouth</a:t>
            </a:r>
            <a:r>
              <a:rPr lang="vi-VN" dirty="0"/>
              <a:t> </a:t>
            </a:r>
            <a:r>
              <a:rPr lang="vi-VN" dirty="0" err="1"/>
              <a:t>curvature</a:t>
            </a:r>
            <a:r>
              <a:rPr lang="vi-VN" dirty="0"/>
              <a:t>) trong </a:t>
            </a:r>
            <a:r>
              <a:rPr lang="vi-VN" dirty="0" err="1"/>
              <a:t>happy</a:t>
            </a:r>
            <a:r>
              <a:rPr lang="vi-VN" dirty="0"/>
              <a:t> giúp CNN phân biệt tốt.</a:t>
            </a:r>
          </a:p>
          <a:p>
            <a:r>
              <a:rPr lang="vi-VN" b="1" dirty="0"/>
              <a:t>Những cảm xúc mô hình nhận diện trung bình</a:t>
            </a:r>
            <a:endParaRPr lang="vi-VN" dirty="0"/>
          </a:p>
          <a:p>
            <a:pPr lvl="1"/>
            <a:r>
              <a:rPr lang="vi-VN" b="1" dirty="0" err="1"/>
              <a:t>Sad</a:t>
            </a:r>
            <a:r>
              <a:rPr lang="vi-VN" b="1" dirty="0"/>
              <a:t>: 86 mẫu đúng</a:t>
            </a:r>
            <a:br>
              <a:rPr lang="vi-VN" dirty="0"/>
            </a:br>
            <a:r>
              <a:rPr lang="vi-VN" dirty="0"/>
              <a:t>Tuy nhận diện khá tốt, </a:t>
            </a:r>
            <a:r>
              <a:rPr lang="vi-VN" dirty="0" err="1"/>
              <a:t>sad</a:t>
            </a:r>
            <a:r>
              <a:rPr lang="vi-VN" dirty="0"/>
              <a:t> vẫn bị nhầm với </a:t>
            </a:r>
            <a:r>
              <a:rPr lang="vi-VN" dirty="0" err="1"/>
              <a:t>neutral</a:t>
            </a:r>
            <a:r>
              <a:rPr lang="vi-VN" dirty="0"/>
              <a:t> và </a:t>
            </a:r>
            <a:r>
              <a:rPr lang="vi-VN" dirty="0" err="1"/>
              <a:t>angry</a:t>
            </a:r>
            <a:r>
              <a:rPr lang="vi-VN" dirty="0"/>
              <a:t>, vốn có đường miệng và chân mày gần nhau.</a:t>
            </a:r>
          </a:p>
          <a:p>
            <a:pPr lvl="1"/>
            <a:r>
              <a:rPr lang="vi-VN" b="1" dirty="0" err="1"/>
              <a:t>Angry</a:t>
            </a:r>
            <a:r>
              <a:rPr lang="vi-VN" b="1" dirty="0"/>
              <a:t>: 54 mẫu đúng</a:t>
            </a:r>
            <a:br>
              <a:rPr lang="vi-VN" dirty="0"/>
            </a:br>
            <a:r>
              <a:rPr lang="vi-VN" dirty="0" err="1"/>
              <a:t>Angry</a:t>
            </a:r>
            <a:r>
              <a:rPr lang="vi-VN" dirty="0"/>
              <a:t> thường bị nhầm với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 do cấu trúc mắt và lông mày tương tự.</a:t>
            </a:r>
          </a:p>
          <a:p>
            <a:r>
              <a:rPr lang="vi-VN" b="1" dirty="0"/>
              <a:t>Những cảm xúc mô hình nhận diện kém</a:t>
            </a:r>
            <a:endParaRPr lang="vi-VN" dirty="0"/>
          </a:p>
          <a:p>
            <a:pPr lvl="1"/>
            <a:r>
              <a:rPr lang="vi-VN" b="1" dirty="0" err="1"/>
              <a:t>Disgust</a:t>
            </a:r>
            <a:r>
              <a:rPr lang="vi-VN" b="1" dirty="0"/>
              <a:t>: 81 mẫu đúng</a:t>
            </a:r>
            <a:br>
              <a:rPr lang="vi-VN" dirty="0"/>
            </a:br>
            <a:r>
              <a:rPr lang="vi-VN" dirty="0"/>
              <a:t>Lớp này ít ảnh trong </a:t>
            </a:r>
            <a:r>
              <a:rPr lang="vi-VN" dirty="0" err="1"/>
              <a:t>dataset</a:t>
            </a:r>
            <a:r>
              <a:rPr lang="vi-VN" dirty="0"/>
              <a:t> và đặc trưng không mạnh nên dễ bị lẫn với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neutral</a:t>
            </a:r>
            <a:r>
              <a:rPr lang="vi-VN" dirty="0"/>
              <a:t>.</a:t>
            </a:r>
          </a:p>
          <a:p>
            <a:pPr lvl="1"/>
            <a:r>
              <a:rPr lang="vi-VN" b="1" dirty="0" err="1"/>
              <a:t>Fear</a:t>
            </a:r>
            <a:r>
              <a:rPr lang="vi-VN" b="1" dirty="0"/>
              <a:t>: chỉ 36 mẫu đúng</a:t>
            </a:r>
            <a:br>
              <a:rPr lang="vi-VN" dirty="0"/>
            </a:br>
            <a:r>
              <a:rPr lang="vi-VN" dirty="0" err="1"/>
              <a:t>Fear</a:t>
            </a:r>
            <a:r>
              <a:rPr lang="vi-VN" dirty="0"/>
              <a:t> vẫn là lớp khó nhất trong FER2013.</a:t>
            </a:r>
            <a:br>
              <a:rPr lang="vi-VN" dirty="0"/>
            </a:br>
            <a:r>
              <a:rPr lang="vi-VN" dirty="0" err="1"/>
              <a:t>Fear</a:t>
            </a:r>
            <a:r>
              <a:rPr lang="vi-VN" dirty="0"/>
              <a:t> dễ bị nhầm với </a:t>
            </a:r>
            <a:r>
              <a:rPr lang="vi-VN" dirty="0" err="1"/>
              <a:t>surprise</a:t>
            </a:r>
            <a:r>
              <a:rPr lang="vi-VN" dirty="0"/>
              <a:t>,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do biểu cảm mắt lớn, miệng mở tương tự </a:t>
            </a:r>
            <a:r>
              <a:rPr lang="vi-VN" dirty="0" err="1"/>
              <a:t>surprise</a:t>
            </a:r>
            <a:r>
              <a:rPr lang="vi-VN" dirty="0"/>
              <a:t> nhưng không rõ bằng.</a:t>
            </a:r>
          </a:p>
          <a:p>
            <a:r>
              <a:rPr lang="vi-VN" b="1" dirty="0"/>
              <a:t>Kiểu nhầm lẫn chính</a:t>
            </a:r>
            <a:br>
              <a:rPr lang="vi-VN" dirty="0"/>
            </a:br>
            <a:r>
              <a:rPr lang="vi-VN" dirty="0"/>
              <a:t>Những cặp biểu cảm có mức nhầm lẫn cao gồm</a:t>
            </a:r>
          </a:p>
          <a:p>
            <a:pPr lvl="1"/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surprise</a:t>
            </a:r>
            <a:endParaRPr lang="vi-VN" dirty="0"/>
          </a:p>
          <a:p>
            <a:pPr lvl="1"/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disgust</a:t>
            </a:r>
            <a:endParaRPr lang="vi-VN" dirty="0"/>
          </a:p>
          <a:p>
            <a:pPr lvl="1"/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neutral</a:t>
            </a:r>
            <a:endParaRPr lang="vi-VN" dirty="0"/>
          </a:p>
          <a:p>
            <a:pPr lvl="1"/>
            <a:r>
              <a:rPr lang="vi-VN" dirty="0" err="1"/>
              <a:t>sad</a:t>
            </a:r>
            <a:r>
              <a:rPr lang="vi-VN" dirty="0"/>
              <a:t> ↔ </a:t>
            </a:r>
            <a:r>
              <a:rPr lang="vi-VN" dirty="0" err="1"/>
              <a:t>neutral</a:t>
            </a:r>
            <a:endParaRPr lang="vi-VN" dirty="0"/>
          </a:p>
          <a:p>
            <a:pPr lvl="1"/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/>
              <a:t>Đây đều là các cặp có biên dạng </a:t>
            </a:r>
            <a:r>
              <a:rPr lang="vi-VN" dirty="0" err="1"/>
              <a:t>gradient</a:t>
            </a:r>
            <a:r>
              <a:rPr lang="vi-VN" dirty="0"/>
              <a:t> khuôn mặt gần nhau hoặc mang tính mơ hồ trong ảnh xám 48x48.</a:t>
            </a:r>
          </a:p>
          <a:p>
            <a:r>
              <a:rPr lang="vi-VN" b="1" dirty="0"/>
              <a:t>Kết luận tổng quan</a:t>
            </a:r>
            <a:endParaRPr lang="vi-VN" dirty="0"/>
          </a:p>
          <a:p>
            <a:pPr lvl="1"/>
            <a:r>
              <a:rPr lang="vi-VN" dirty="0"/>
              <a:t>CNN cho kết quả tốt hơn SVM + HOG ở hầu hết các cảm xúc, đặc biệt là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.</a:t>
            </a:r>
          </a:p>
          <a:p>
            <a:pPr lvl="1"/>
            <a:r>
              <a:rPr lang="vi-VN" dirty="0"/>
              <a:t>Tuy vẫn còn nhiều nhầm lẫn ở các lớp khó như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 nhưng kết quả hiện tại phù hợp với đặc thù bộ dữ liệu FER2013 (ảnh </a:t>
            </a:r>
            <a:r>
              <a:rPr lang="vi-VN" dirty="0" err="1"/>
              <a:t>grayscale</a:t>
            </a:r>
            <a:r>
              <a:rPr lang="vi-VN" dirty="0"/>
              <a:t> nhỏ, nhiễu cao, biểu cảm mơ hồ).</a:t>
            </a:r>
          </a:p>
          <a:p>
            <a:pPr lvl="1"/>
            <a:r>
              <a:rPr lang="vi-VN" dirty="0"/>
              <a:t>Khối CNN hiện tại đã hoạt động tốt ở mức </a:t>
            </a:r>
            <a:r>
              <a:rPr lang="vi-VN" dirty="0" err="1"/>
              <a:t>baseline</a:t>
            </a:r>
            <a:r>
              <a:rPr lang="vi-VN" dirty="0"/>
              <a:t>. Nếu cần cải thiện thêm, có thể nâng cấp theo hướng</a:t>
            </a:r>
          </a:p>
          <a:p>
            <a:pPr lvl="2"/>
            <a:r>
              <a:rPr lang="vi-VN" dirty="0"/>
              <a:t>thêm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augmentation</a:t>
            </a:r>
            <a:endParaRPr lang="vi-VN" dirty="0"/>
          </a:p>
          <a:p>
            <a:pPr lvl="2"/>
            <a:r>
              <a:rPr lang="vi-VN" dirty="0"/>
              <a:t>dùng </a:t>
            </a:r>
            <a:r>
              <a:rPr lang="vi-VN" dirty="0" err="1"/>
              <a:t>deeper</a:t>
            </a:r>
            <a:r>
              <a:rPr lang="vi-VN" dirty="0"/>
              <a:t> CNN</a:t>
            </a:r>
          </a:p>
          <a:p>
            <a:pPr lvl="2"/>
            <a:r>
              <a:rPr lang="vi-VN" dirty="0"/>
              <a:t>dùng </a:t>
            </a:r>
            <a:r>
              <a:rPr lang="vi-VN" dirty="0" err="1"/>
              <a:t>optimizer</a:t>
            </a:r>
            <a:r>
              <a:rPr lang="vi-VN" dirty="0"/>
              <a:t> tốt hơn như </a:t>
            </a:r>
            <a:r>
              <a:rPr lang="vi-VN" dirty="0" err="1"/>
              <a:t>AdamW</a:t>
            </a:r>
            <a:endParaRPr lang="vi-VN" dirty="0"/>
          </a:p>
          <a:p>
            <a:pPr lvl="2"/>
            <a:r>
              <a:rPr lang="vi-VN" dirty="0"/>
              <a:t>tăng số ảnh </a:t>
            </a:r>
            <a:r>
              <a:rPr lang="vi-VN" dirty="0" err="1"/>
              <a:t>train</a:t>
            </a:r>
            <a:r>
              <a:rPr lang="vi-VN" dirty="0"/>
              <a:t> </a:t>
            </a:r>
            <a:r>
              <a:rPr lang="vi-VN" dirty="0" err="1"/>
              <a:t>per</a:t>
            </a:r>
            <a:r>
              <a:rPr lang="vi-VN" dirty="0"/>
              <a:t> </a:t>
            </a:r>
            <a:r>
              <a:rPr lang="vi-VN" dirty="0" err="1"/>
              <a:t>emotion</a:t>
            </a: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B34F256-65CE-2E36-B777-D160C8D1DA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59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746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body" idx="1"/>
          </p:nvPr>
        </p:nvSpPr>
        <p:spPr>
          <a:xfrm>
            <a:off x="457200" y="1323105"/>
            <a:ext cx="8229600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100"/>
              </a:spcBef>
              <a:spcAft>
                <a:spcPts val="0"/>
              </a:spcAft>
              <a:buClr>
                <a:srgbClr val="0C0C0C"/>
              </a:buClr>
              <a:buSzPts val="2600"/>
              <a:buFont typeface="Noto Sans Symbols"/>
              <a:buChar char="❑"/>
              <a:defRPr sz="2600" b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3pPr>
            <a:lvl4pPr marL="1828800" lvl="3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9"/>
          <p:cNvPicPr preferRelativeResize="0"/>
          <p:nvPr/>
        </p:nvPicPr>
        <p:blipFill rotWithShape="1">
          <a:blip r:embed="rId2">
            <a:alphaModFix/>
          </a:blip>
          <a:srcRect t="8081" b="8861"/>
          <a:stretch/>
        </p:blipFill>
        <p:spPr>
          <a:xfrm>
            <a:off x="0" y="1131888"/>
            <a:ext cx="9144000" cy="5370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0" y="2057400"/>
            <a:ext cx="9144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457200" y="76200"/>
            <a:ext cx="7239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FFFF00"/>
              </a:buClr>
              <a:buSzPts val="3000"/>
              <a:buNone/>
              <a:defRPr sz="3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solidFill>
                  <a:schemeClr val="dk1"/>
                </a:solidFill>
              </a:defRPr>
            </a:lvl1pPr>
            <a:lvl2pPr marL="914400" lvl="1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solidFill>
                  <a:schemeClr val="dk1"/>
                </a:solidFill>
              </a:defRPr>
            </a:lvl1pPr>
            <a:lvl2pPr marL="914400" lvl="1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body" idx="1"/>
          </p:nvPr>
        </p:nvSpPr>
        <p:spPr>
          <a:xfrm rot="5400000">
            <a:off x="2194719" y="-365918"/>
            <a:ext cx="47545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openxmlformats.org/officeDocument/2006/relationships/image" Target="../media/image27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5" Type="http://schemas.openxmlformats.org/officeDocument/2006/relationships/image" Target="../media/image2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Relationship Id="rId1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307428" y="1572588"/>
            <a:ext cx="8027277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212529"/>
              </a:buClr>
              <a:buSzPts val="2400"/>
            </a:pPr>
            <a:r>
              <a:rPr lang="vi-VN" sz="4400" b="1" i="0" u="none" strike="noStrike" cap="none">
                <a:solidFill>
                  <a:srgbClr val="212529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Nhận dạng cảm xúc trên tập cơ sở dữ liệu FER2013 sử dụng thuật toán K-</a:t>
            </a:r>
            <a:r>
              <a:rPr lang="vi-VN" sz="4400" b="1" i="0" u="none" strike="noStrike" cap="none" dirty="0" err="1">
                <a:solidFill>
                  <a:srgbClr val="212529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means</a:t>
            </a:r>
            <a:endParaRPr lang="vi-VN" sz="4400" b="1" i="0" u="none" strike="noStrike" cap="none" dirty="0">
              <a:solidFill>
                <a:srgbClr val="212529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81000" y="3920820"/>
            <a:ext cx="7620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GVHD: TS. Nguyễn Thúy Bình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Nguyễn Thành Đạt </a:t>
            </a:r>
            <a:r>
              <a:rPr lang="en-US" sz="24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 211440519 – KTDT-THCN1-K62</a:t>
            </a:r>
            <a:endParaRPr sz="2400" b="0" i="0" u="none" strike="noStrike" cap="none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116E839-D721-14A3-6ED0-70234A9F9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" y="1"/>
            <a:ext cx="2425700" cy="1219200"/>
          </a:xfrm>
        </p:spPr>
        <p:txBody>
          <a:bodyPr/>
          <a:lstStyle/>
          <a:p>
            <a:r>
              <a:rPr lang="vi-VN" dirty="0">
                <a:solidFill>
                  <a:schemeClr val="bg1"/>
                </a:solidFill>
              </a:rPr>
              <a:t>Mục lục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FD4E566-6E04-8BF4-4DBF-D6E2A0E19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03" y="1629541"/>
            <a:ext cx="5551652" cy="2458984"/>
          </a:xfrm>
        </p:spPr>
        <p:txBody>
          <a:bodyPr/>
          <a:lstStyle/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Tổng quan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Thuật toán và tập dữ liệu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Khảo sát, đánh giá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So sánh, đối chiếu kết quả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Hướng phát triển</a:t>
            </a:r>
          </a:p>
          <a:p>
            <a:pPr marL="565150" indent="-514350" algn="l">
              <a:buAutoNum type="arabicPeriod"/>
            </a:pPr>
            <a:endParaRPr lang="vi-VN" dirty="0">
              <a:solidFill>
                <a:schemeClr val="tx1"/>
              </a:solidFill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D617F7E-2E3A-6A3A-0AEE-2754B0BD2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8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0D5620-B959-6CC1-6C49-6012D41DC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r>
              <a:rPr lang="vi-VN" dirty="0"/>
              <a:t>1. Tổng quan</a:t>
            </a:r>
            <a:br>
              <a:rPr lang="vi-VN" dirty="0"/>
            </a:b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6E85DE9-03AF-B46B-A71F-CF98467CD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1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26C0EA-B636-B755-FB83-5CA3666C00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Tiêu đề 1">
            <a:extLst>
              <a:ext uri="{FF2B5EF4-FFF2-40B4-BE49-F238E27FC236}">
                <a16:creationId xmlns:a16="http://schemas.microsoft.com/office/drawing/2014/main" id="{8BAAE06C-939C-47DB-C167-EBC721418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35" y="346732"/>
            <a:ext cx="3079532" cy="431033"/>
          </a:xfrm>
        </p:spPr>
        <p:txBody>
          <a:bodyPr/>
          <a:lstStyle/>
          <a:p>
            <a:r>
              <a:rPr lang="vi-VN" dirty="0">
                <a:solidFill>
                  <a:schemeClr val="bg1"/>
                </a:solidFill>
              </a:rPr>
              <a:t>1</a:t>
            </a:r>
            <a:r>
              <a:rPr lang="vi-VN">
                <a:solidFill>
                  <a:schemeClr val="bg1"/>
                </a:solidFill>
              </a:rPr>
              <a:t>. </a:t>
            </a:r>
            <a:r>
              <a:rPr lang="vi-VN" dirty="0">
                <a:solidFill>
                  <a:schemeClr val="bg1"/>
                </a:solidFill>
              </a:rPr>
              <a:t>Tổng quan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783A09B-3AB1-8FD8-B481-ACB235147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37" y="1670545"/>
            <a:ext cx="74623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Nhận dạng cảm xúc</a:t>
            </a:r>
            <a:r>
              <a:rPr lang="vi-VN" altLang="vi-VN" sz="2400" dirty="0">
                <a:solidFill>
                  <a:schemeClr val="tx1"/>
                </a:solidFill>
                <a:latin typeface="Arial" panose="020B0604020202020204" pitchFamily="34" charset="0"/>
              </a:rPr>
              <a:t> với 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FER2013 là bộ dữ liệu chuẩn gồm nhiều ảnh khuôn mặt với các cảm xúc khác nhau.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Thuật toán K-</a:t>
            </a:r>
            <a:r>
              <a:rPr kumimoji="0" lang="vi-VN" altLang="vi-V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được dùng để phân cụm ảnh sau khi tiền xử lý và trích xuất đặc trưng với HOG và giảm chiều dữ liệu với PCA.</a:t>
            </a:r>
          </a:p>
        </p:txBody>
      </p:sp>
    </p:spTree>
    <p:extLst>
      <p:ext uri="{BB962C8B-B14F-4D97-AF65-F5344CB8AC3E}">
        <p14:creationId xmlns:p14="http://schemas.microsoft.com/office/powerpoint/2010/main" val="394084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2B81-75AA-C2B1-35A9-79D8995A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72686B-B4D5-3F3D-BB56-93444474E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2. Thuật toán và tập dữ liệu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AAF4BD4-1995-45FA-6F87-95655EF48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8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A040-AACF-49F2-48C9-86A73153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5F03-CF5E-ED2C-CA10-008F4C1EE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1B08C7F-FABD-EA11-9358-FBCB8BA0B35C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0ECF1DFA-DC91-6BCE-8D88-A35617239E9E}"/>
              </a:ext>
            </a:extLst>
          </p:cNvPr>
          <p:cNvSpPr/>
          <p:nvPr/>
        </p:nvSpPr>
        <p:spPr>
          <a:xfrm>
            <a:off x="483476" y="1891807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Nhập ảnh </a:t>
            </a:r>
          </a:p>
          <a:p>
            <a:pPr algn="ctr"/>
            <a:r>
              <a:rPr lang="vi-VN" sz="2000" dirty="0"/>
              <a:t>đầu vào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92EF051-B0E1-7005-61AE-6F692618399D}"/>
              </a:ext>
            </a:extLst>
          </p:cNvPr>
          <p:cNvSpPr/>
          <p:nvPr/>
        </p:nvSpPr>
        <p:spPr>
          <a:xfrm>
            <a:off x="3628696" y="1891805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Tiền xử lý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17ED55F-C876-120E-CAC4-C04453E1FF91}"/>
              </a:ext>
            </a:extLst>
          </p:cNvPr>
          <p:cNvSpPr/>
          <p:nvPr/>
        </p:nvSpPr>
        <p:spPr>
          <a:xfrm>
            <a:off x="6773917" y="1891806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Trích chọn đặc trưng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76E5A664-007F-56A5-D2D1-3DAB93983032}"/>
              </a:ext>
            </a:extLst>
          </p:cNvPr>
          <p:cNvSpPr/>
          <p:nvPr/>
        </p:nvSpPr>
        <p:spPr>
          <a:xfrm>
            <a:off x="3628696" y="3639208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Giảm chiều dữ liệu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9E41102-4885-BCE8-D8C7-D335636F22E4}"/>
              </a:ext>
            </a:extLst>
          </p:cNvPr>
          <p:cNvSpPr/>
          <p:nvPr/>
        </p:nvSpPr>
        <p:spPr>
          <a:xfrm>
            <a:off x="6773917" y="3639208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Chuẩn hóa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499D00A5-3133-58FB-A134-C4C70BFC7DD4}"/>
              </a:ext>
            </a:extLst>
          </p:cNvPr>
          <p:cNvSpPr/>
          <p:nvPr/>
        </p:nvSpPr>
        <p:spPr>
          <a:xfrm>
            <a:off x="483476" y="3639208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Phân cụm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BD08632-E40F-0F64-556C-2EB3EADE0823}"/>
              </a:ext>
            </a:extLst>
          </p:cNvPr>
          <p:cNvSpPr/>
          <p:nvPr/>
        </p:nvSpPr>
        <p:spPr>
          <a:xfrm>
            <a:off x="1986457" y="5370843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Gán nhãn cảm xúc cho từng cụm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30952715-E2D1-F4EA-82FB-2C012996B5DC}"/>
              </a:ext>
            </a:extLst>
          </p:cNvPr>
          <p:cNvSpPr/>
          <p:nvPr/>
        </p:nvSpPr>
        <p:spPr>
          <a:xfrm>
            <a:off x="5201306" y="5365560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Đánh giá</a:t>
            </a:r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BFE6CB3F-7137-A7FC-E7F7-74ED4A3C62BF}"/>
              </a:ext>
            </a:extLst>
          </p:cNvPr>
          <p:cNvCxnSpPr>
            <a:stCxn id="3" idx="3"/>
            <a:endCxn id="8" idx="1"/>
          </p:cNvCxnSpPr>
          <p:nvPr/>
        </p:nvCxnSpPr>
        <p:spPr>
          <a:xfrm flipV="1">
            <a:off x="2396359" y="2312247"/>
            <a:ext cx="123233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378FD608-11D0-406A-923F-CFB01B44395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541579" y="2312247"/>
            <a:ext cx="12323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E45B1D7E-1745-9226-AD9F-5B51C075D935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7730359" y="2732689"/>
            <a:ext cx="0" cy="90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26F58548-1327-2AF5-CF57-E2B0A5A812AF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5541579" y="4059650"/>
            <a:ext cx="1232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56BCB189-EE83-B6A7-CEB9-E30578D2804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396359" y="4059649"/>
            <a:ext cx="12323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CE80C51D-10F2-4207-0F8B-137366DC1F15}"/>
              </a:ext>
            </a:extLst>
          </p:cNvPr>
          <p:cNvCxnSpPr>
            <a:cxnSpLocks/>
            <a:stCxn id="12" idx="2"/>
            <a:endCxn id="13" idx="1"/>
          </p:cNvCxnSpPr>
          <p:nvPr/>
        </p:nvCxnSpPr>
        <p:spPr>
          <a:xfrm>
            <a:off x="1439918" y="4480091"/>
            <a:ext cx="546539" cy="131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0A5420DA-D5D5-166E-AB3B-6BDEBB190BCE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3899340" y="5786002"/>
            <a:ext cx="1301966" cy="5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FE0F759E-0617-DE07-1371-59B1A58CE726}"/>
              </a:ext>
            </a:extLst>
          </p:cNvPr>
          <p:cNvSpPr txBox="1"/>
          <p:nvPr/>
        </p:nvSpPr>
        <p:spPr>
          <a:xfrm>
            <a:off x="336330" y="1216242"/>
            <a:ext cx="37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/>
              <a:t>Sơ đồ tổng quan</a:t>
            </a:r>
          </a:p>
        </p:txBody>
      </p:sp>
    </p:spTree>
    <p:extLst>
      <p:ext uri="{BB962C8B-B14F-4D97-AF65-F5344CB8AC3E}">
        <p14:creationId xmlns:p14="http://schemas.microsoft.com/office/powerpoint/2010/main" val="128740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5812-603D-5E1C-9AC8-EE32D08F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8BE4-81B5-2B1E-D2D5-C36FEDB5F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91EA6B1-BCFA-7506-DF07-3D6617CD3E45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B2984BF-449E-35CA-3AE9-6B2D4EDD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30" y="1175522"/>
            <a:ext cx="50554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Tiền xử lý + Trích chọn đặc trưng với HOG</a:t>
            </a:r>
            <a:r>
              <a:rPr kumimoji="0" lang="vi-VN" altLang="vi-V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vi-VN" sz="2400" dirty="0" err="1"/>
              <a:t>Histogram</a:t>
            </a:r>
            <a:r>
              <a:rPr lang="vi-VN" sz="2400" dirty="0"/>
              <a:t> </a:t>
            </a:r>
            <a:r>
              <a:rPr lang="vi-VN" sz="2400" dirty="0" err="1"/>
              <a:t>of</a:t>
            </a:r>
            <a:r>
              <a:rPr lang="vi-VN" sz="2400" dirty="0"/>
              <a:t> </a:t>
            </a:r>
            <a:r>
              <a:rPr lang="vi-VN" sz="2400" dirty="0" err="1"/>
              <a:t>Oriented</a:t>
            </a:r>
            <a:r>
              <a:rPr lang="vi-VN" sz="2400" dirty="0"/>
              <a:t> </a:t>
            </a:r>
            <a:r>
              <a:rPr lang="vi-VN" sz="2400" dirty="0" err="1"/>
              <a:t>Gradients</a:t>
            </a:r>
            <a:r>
              <a:rPr lang="vi-VN" sz="2400" dirty="0"/>
              <a:t>)</a:t>
            </a:r>
            <a:endParaRPr kumimoji="0" lang="vi-VN" altLang="vi-V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2400" dirty="0"/>
              <a:t>- HOG là phương pháp mô tả đặc trưng dựa trên hướng biến thiên cục bộ của ảnh. </a:t>
            </a:r>
          </a:p>
        </p:txBody>
      </p:sp>
      <p:pic>
        <p:nvPicPr>
          <p:cNvPr id="1026" name="Picture 2" descr="Histogram of Oriented Gradients explained using OpenCV">
            <a:extLst>
              <a:ext uri="{FF2B5EF4-FFF2-40B4-BE49-F238E27FC236}">
                <a16:creationId xmlns:a16="http://schemas.microsoft.com/office/drawing/2014/main" id="{2D237175-CD0E-F020-8E8B-344CC774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48" y="3429000"/>
            <a:ext cx="5276193" cy="296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881066F-54B7-4BF6-0289-5400DCB444EC}"/>
              </a:ext>
            </a:extLst>
          </p:cNvPr>
          <p:cNvSpPr txBox="1"/>
          <p:nvPr/>
        </p:nvSpPr>
        <p:spPr>
          <a:xfrm>
            <a:off x="5743903" y="3615748"/>
            <a:ext cx="314784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/>
              <a:t>- Tập trung vào việc phân tích các cạnh và đường biên với </a:t>
            </a:r>
            <a:r>
              <a:rPr lang="vi-VN" sz="2400" dirty="0" err="1"/>
              <a:t>gradient</a:t>
            </a:r>
            <a:r>
              <a:rPr lang="vi-VN" sz="2400" dirty="0"/>
              <a:t>, =&gt; các mô tả gọn nhưng giàu thông tin về hình dạng. 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CAE5083-8DB5-71EA-B5F9-ECAF9527E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89" y="1297242"/>
            <a:ext cx="3613063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87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E144-6DAF-89D2-37D9-9857505F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41ACD-4A3A-F2B8-1FD4-DDAAB866AE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6B4EAD61-A96F-FEE4-907B-92D848083B12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9EC4F7-743E-4D5B-25BA-082D3CFBA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8844"/>
            <a:ext cx="70366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HOG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11A2BDBB-2D60-604B-6AD4-F5ACD9602E68}"/>
              </a:ext>
            </a:extLst>
          </p:cNvPr>
          <p:cNvSpPr/>
          <p:nvPr/>
        </p:nvSpPr>
        <p:spPr>
          <a:xfrm>
            <a:off x="1022131" y="1339676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Bắt đầu</a:t>
            </a: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307F3567-2E34-5734-1291-D7100FC8A9A7}"/>
              </a:ext>
            </a:extLst>
          </p:cNvPr>
          <p:cNvCxnSpPr>
            <a:stCxn id="8" idx="4"/>
          </p:cNvCxnSpPr>
          <p:nvPr/>
        </p:nvCxnSpPr>
        <p:spPr>
          <a:xfrm>
            <a:off x="1749973" y="1801341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BE95518C-9538-58D6-8A96-45CB5747054B}"/>
              </a:ext>
            </a:extLst>
          </p:cNvPr>
          <p:cNvSpPr/>
          <p:nvPr/>
        </p:nvSpPr>
        <p:spPr>
          <a:xfrm>
            <a:off x="922283" y="2755814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Tiền xử lý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52074250-4E07-3826-484C-84B145387E3D}"/>
              </a:ext>
            </a:extLst>
          </p:cNvPr>
          <p:cNvSpPr/>
          <p:nvPr/>
        </p:nvSpPr>
        <p:spPr>
          <a:xfrm>
            <a:off x="922283" y="3452442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Tính độ lớn và hướng </a:t>
            </a:r>
            <a:r>
              <a:rPr lang="vi-VN" dirty="0" err="1"/>
              <a:t>Gradient</a:t>
            </a:r>
            <a:endParaRPr lang="vi-VN" dirty="0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AB72E43A-A669-9288-1A48-FF7F4E46C533}"/>
              </a:ext>
            </a:extLst>
          </p:cNvPr>
          <p:cNvSpPr/>
          <p:nvPr/>
        </p:nvSpPr>
        <p:spPr>
          <a:xfrm>
            <a:off x="915713" y="4149070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Tính </a:t>
            </a:r>
            <a:r>
              <a:rPr lang="vi-VN" dirty="0" err="1"/>
              <a:t>vector</a:t>
            </a:r>
            <a:r>
              <a:rPr lang="vi-VN" dirty="0"/>
              <a:t> đặc trưng cho các ô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4B92B320-CF15-AAB2-8756-0E0B446E496B}"/>
              </a:ext>
            </a:extLst>
          </p:cNvPr>
          <p:cNvSpPr/>
          <p:nvPr/>
        </p:nvSpPr>
        <p:spPr>
          <a:xfrm>
            <a:off x="915713" y="4845698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Chuẩn hóa khối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632B70AC-890D-03BC-8821-1385B09E91D5}"/>
              </a:ext>
            </a:extLst>
          </p:cNvPr>
          <p:cNvSpPr/>
          <p:nvPr/>
        </p:nvSpPr>
        <p:spPr>
          <a:xfrm>
            <a:off x="922283" y="5542326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Ghép khối tạo </a:t>
            </a:r>
            <a:r>
              <a:rPr lang="vi-VN" dirty="0" err="1"/>
              <a:t>vector</a:t>
            </a:r>
            <a:r>
              <a:rPr lang="vi-VN" dirty="0"/>
              <a:t> HOG</a:t>
            </a:r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6C0A9464-62F1-53DD-9E5D-9F4CAC8D440D}"/>
              </a:ext>
            </a:extLst>
          </p:cNvPr>
          <p:cNvSpPr/>
          <p:nvPr/>
        </p:nvSpPr>
        <p:spPr>
          <a:xfrm>
            <a:off x="1022130" y="6177227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Kết thúc</a:t>
            </a:r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DAB151F7-FE02-B5EF-9ABF-14A121343A27}"/>
              </a:ext>
            </a:extLst>
          </p:cNvPr>
          <p:cNvCxnSpPr/>
          <p:nvPr/>
        </p:nvCxnSpPr>
        <p:spPr>
          <a:xfrm>
            <a:off x="1747344" y="2491186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98AEEB6F-B277-5AD4-6931-B10E129A7072}"/>
              </a:ext>
            </a:extLst>
          </p:cNvPr>
          <p:cNvCxnSpPr/>
          <p:nvPr/>
        </p:nvCxnSpPr>
        <p:spPr>
          <a:xfrm>
            <a:off x="1744717" y="3206038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9A11236B-6B57-7223-0A3B-9BA00B367984}"/>
              </a:ext>
            </a:extLst>
          </p:cNvPr>
          <p:cNvCxnSpPr/>
          <p:nvPr/>
        </p:nvCxnSpPr>
        <p:spPr>
          <a:xfrm>
            <a:off x="1742090" y="3891752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16FC99ED-C88A-25FC-CDDD-68B68068CE3C}"/>
              </a:ext>
            </a:extLst>
          </p:cNvPr>
          <p:cNvCxnSpPr/>
          <p:nvPr/>
        </p:nvCxnSpPr>
        <p:spPr>
          <a:xfrm>
            <a:off x="1739463" y="4568431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CD69E889-1E0B-1CD8-44B6-54917EE9F464}"/>
              </a:ext>
            </a:extLst>
          </p:cNvPr>
          <p:cNvCxnSpPr/>
          <p:nvPr/>
        </p:nvCxnSpPr>
        <p:spPr>
          <a:xfrm>
            <a:off x="1752600" y="5260479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6A7197F9-2A22-A5AB-F613-D61895F2B28F}"/>
              </a:ext>
            </a:extLst>
          </p:cNvPr>
          <p:cNvCxnSpPr/>
          <p:nvPr/>
        </p:nvCxnSpPr>
        <p:spPr>
          <a:xfrm>
            <a:off x="1752600" y="5919382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ưu đồ: Dữ liệu 25">
            <a:extLst>
              <a:ext uri="{FF2B5EF4-FFF2-40B4-BE49-F238E27FC236}">
                <a16:creationId xmlns:a16="http://schemas.microsoft.com/office/drawing/2014/main" id="{1C59E1AF-8C59-70FC-71BC-41852F5C107B}"/>
              </a:ext>
            </a:extLst>
          </p:cNvPr>
          <p:cNvSpPr/>
          <p:nvPr/>
        </p:nvSpPr>
        <p:spPr>
          <a:xfrm>
            <a:off x="892722" y="2083037"/>
            <a:ext cx="1730923" cy="46982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Ảnh đầu vào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38C194DE-25B5-8DB6-33DC-96D0A76A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524" y="1133258"/>
            <a:ext cx="4956166" cy="148685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FC5EE650-9921-F7F4-3D84-923594674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600" y="2454619"/>
            <a:ext cx="2066737" cy="2066737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20BC8D53-45C7-DFC7-711D-6C823DFBB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129" y="2474167"/>
            <a:ext cx="2094264" cy="2094264"/>
          </a:xfrm>
          <a:prstGeom prst="rect">
            <a:avLst/>
          </a:prstGeom>
        </p:spPr>
      </p:pic>
      <p:pic>
        <p:nvPicPr>
          <p:cNvPr id="29" name="Hình ảnh 28">
            <a:extLst>
              <a:ext uri="{FF2B5EF4-FFF2-40B4-BE49-F238E27FC236}">
                <a16:creationId xmlns:a16="http://schemas.microsoft.com/office/drawing/2014/main" id="{031F524E-1E0F-953E-50AA-FE9A26BEA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999" y="2627730"/>
            <a:ext cx="1920001" cy="1908399"/>
          </a:xfrm>
          <a:prstGeom prst="rect">
            <a:avLst/>
          </a:prstGeom>
        </p:spPr>
      </p:pic>
      <p:pic>
        <p:nvPicPr>
          <p:cNvPr id="31" name="Hình ảnh 30">
            <a:extLst>
              <a:ext uri="{FF2B5EF4-FFF2-40B4-BE49-F238E27FC236}">
                <a16:creationId xmlns:a16="http://schemas.microsoft.com/office/drawing/2014/main" id="{CA9E845F-7415-DAC6-EA1A-F09EE89E89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9607" y="4522845"/>
            <a:ext cx="5276193" cy="197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7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022E-4893-67E0-7D75-E71A391D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A9B4C-FE80-5DB6-64F6-1AB2CA098D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4360D29-8D95-0924-AE6D-5917F8664CB7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F1EBCD0-DCA8-C910-96C4-EAEC0AF0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28" y="1150886"/>
            <a:ext cx="85659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 chiều dữ liệu với PCA(</a:t>
            </a:r>
            <a:r>
              <a:rPr lang="vi-VN" sz="2400" dirty="0" err="1"/>
              <a:t>Principal</a:t>
            </a:r>
            <a:r>
              <a:rPr lang="vi-VN" sz="2400" dirty="0"/>
              <a:t> </a:t>
            </a:r>
            <a:r>
              <a:rPr lang="vi-VN" sz="2400" dirty="0" err="1"/>
              <a:t>Component</a:t>
            </a:r>
            <a:r>
              <a:rPr lang="vi-VN" sz="2400" dirty="0"/>
              <a:t> </a:t>
            </a:r>
            <a:r>
              <a:rPr lang="vi-VN" sz="2400" dirty="0" err="1"/>
              <a:t>Analysis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028" name="Picture 4" descr="Principal Component Analysis (PCA) Transformation | BioRender Science ...">
            <a:extLst>
              <a:ext uri="{FF2B5EF4-FFF2-40B4-BE49-F238E27FC236}">
                <a16:creationId xmlns:a16="http://schemas.microsoft.com/office/drawing/2014/main" id="{E741FE6F-599C-A72B-BB40-62DF92F61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96" y="3429000"/>
            <a:ext cx="3605048" cy="252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2D16BD1-90B6-483D-736E-91FEB98235DB}"/>
              </a:ext>
            </a:extLst>
          </p:cNvPr>
          <p:cNvSpPr txBox="1"/>
          <p:nvPr/>
        </p:nvSpPr>
        <p:spPr>
          <a:xfrm>
            <a:off x="704194" y="1864858"/>
            <a:ext cx="42015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dirty="0"/>
              <a:t>Là phương pháp giảm chiều dữ liệu bằng cách biến đổi tập đặc trưng ban đầu thành một hệ trục tọa độ mới gồm các thành phần chính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2D722B64-143A-FE33-A83B-FF38A0A0F7B7}"/>
              </a:ext>
            </a:extLst>
          </p:cNvPr>
          <p:cNvSpPr/>
          <p:nvPr/>
        </p:nvSpPr>
        <p:spPr>
          <a:xfrm>
            <a:off x="6248400" y="1864858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Bắt đầu</a:t>
            </a:r>
          </a:p>
        </p:txBody>
      </p:sp>
      <p:sp>
        <p:nvSpPr>
          <p:cNvPr id="11" name="Lưu đồ: Tiến trình 10">
            <a:extLst>
              <a:ext uri="{FF2B5EF4-FFF2-40B4-BE49-F238E27FC236}">
                <a16:creationId xmlns:a16="http://schemas.microsoft.com/office/drawing/2014/main" id="{333697C1-1656-CADC-AB4F-63D756EF6EEE}"/>
              </a:ext>
            </a:extLst>
          </p:cNvPr>
          <p:cNvSpPr/>
          <p:nvPr/>
        </p:nvSpPr>
        <p:spPr>
          <a:xfrm>
            <a:off x="6248400" y="2453041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Tính ma trận hiệp phương sai</a:t>
            </a:r>
          </a:p>
        </p:txBody>
      </p:sp>
      <p:sp>
        <p:nvSpPr>
          <p:cNvPr id="13" name="Lưu đồ: Tiến trình 12">
            <a:extLst>
              <a:ext uri="{FF2B5EF4-FFF2-40B4-BE49-F238E27FC236}">
                <a16:creationId xmlns:a16="http://schemas.microsoft.com/office/drawing/2014/main" id="{CC42DF8F-61FD-77CF-31BA-43AD4D0C123E}"/>
              </a:ext>
            </a:extLst>
          </p:cNvPr>
          <p:cNvSpPr/>
          <p:nvPr/>
        </p:nvSpPr>
        <p:spPr>
          <a:xfrm>
            <a:off x="6248400" y="3093124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Tìm </a:t>
            </a:r>
            <a:r>
              <a:rPr lang="vi-VN" sz="1200" dirty="0" err="1"/>
              <a:t>vector</a:t>
            </a:r>
            <a:r>
              <a:rPr lang="vi-VN" sz="1200" dirty="0"/>
              <a:t> riêng, giá trị riêng</a:t>
            </a:r>
          </a:p>
        </p:txBody>
      </p:sp>
      <p:sp>
        <p:nvSpPr>
          <p:cNvPr id="14" name="Lưu đồ: Tiến trình 13">
            <a:extLst>
              <a:ext uri="{FF2B5EF4-FFF2-40B4-BE49-F238E27FC236}">
                <a16:creationId xmlns:a16="http://schemas.microsoft.com/office/drawing/2014/main" id="{2EE2767B-5ED2-E6F6-DC02-C60805090FAD}"/>
              </a:ext>
            </a:extLst>
          </p:cNvPr>
          <p:cNvSpPr/>
          <p:nvPr/>
        </p:nvSpPr>
        <p:spPr>
          <a:xfrm>
            <a:off x="6248400" y="3711834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Sắp xếp các thành phần chính</a:t>
            </a:r>
          </a:p>
        </p:txBody>
      </p:sp>
      <p:sp>
        <p:nvSpPr>
          <p:cNvPr id="15" name="Lưu đồ: Tiến trình 14">
            <a:extLst>
              <a:ext uri="{FF2B5EF4-FFF2-40B4-BE49-F238E27FC236}">
                <a16:creationId xmlns:a16="http://schemas.microsoft.com/office/drawing/2014/main" id="{CF7CD0E3-994A-7287-9E01-8656BEEECB21}"/>
              </a:ext>
            </a:extLst>
          </p:cNvPr>
          <p:cNvSpPr/>
          <p:nvPr/>
        </p:nvSpPr>
        <p:spPr>
          <a:xfrm>
            <a:off x="6248400" y="4376680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Chọn K</a:t>
            </a:r>
          </a:p>
        </p:txBody>
      </p:sp>
      <p:sp>
        <p:nvSpPr>
          <p:cNvPr id="16" name="Lưu đồ: Tiến trình 15">
            <a:extLst>
              <a:ext uri="{FF2B5EF4-FFF2-40B4-BE49-F238E27FC236}">
                <a16:creationId xmlns:a16="http://schemas.microsoft.com/office/drawing/2014/main" id="{44708FA0-F25C-DDF4-9E83-F747843F7133}"/>
              </a:ext>
            </a:extLst>
          </p:cNvPr>
          <p:cNvSpPr/>
          <p:nvPr/>
        </p:nvSpPr>
        <p:spPr>
          <a:xfrm>
            <a:off x="6248399" y="5023040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/>
              <a:t>Chuyển đổi dữ liệu lên không gian mới</a:t>
            </a:r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F775D5B7-E242-BD8F-547B-24278C8EC94B}"/>
              </a:ext>
            </a:extLst>
          </p:cNvPr>
          <p:cNvSpPr/>
          <p:nvPr/>
        </p:nvSpPr>
        <p:spPr>
          <a:xfrm>
            <a:off x="6211612" y="5663123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Kết thúc</a:t>
            </a:r>
          </a:p>
        </p:txBody>
      </p: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0CDBCBBB-254C-559B-483C-7DF67C07D19E}"/>
              </a:ext>
            </a:extLst>
          </p:cNvPr>
          <p:cNvCxnSpPr/>
          <p:nvPr/>
        </p:nvCxnSpPr>
        <p:spPr>
          <a:xfrm>
            <a:off x="6978764" y="2208703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A2604618-5618-3265-70D3-0A710BBC1B68}"/>
              </a:ext>
            </a:extLst>
          </p:cNvPr>
          <p:cNvCxnSpPr>
            <a:cxnSpLocks/>
          </p:cNvCxnSpPr>
          <p:nvPr/>
        </p:nvCxnSpPr>
        <p:spPr>
          <a:xfrm>
            <a:off x="6981391" y="2854255"/>
            <a:ext cx="2629" cy="246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0D5ECC86-75DD-3C40-373A-24270FA4FF47}"/>
              </a:ext>
            </a:extLst>
          </p:cNvPr>
          <p:cNvCxnSpPr/>
          <p:nvPr/>
        </p:nvCxnSpPr>
        <p:spPr>
          <a:xfrm>
            <a:off x="6968553" y="3456393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20E032A0-6412-3FFC-BC57-1A1776089FBF}"/>
              </a:ext>
            </a:extLst>
          </p:cNvPr>
          <p:cNvCxnSpPr/>
          <p:nvPr/>
        </p:nvCxnSpPr>
        <p:spPr>
          <a:xfrm>
            <a:off x="6973613" y="4118835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CD8F41C-D201-E335-4B86-71468B37E1D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6976241" y="4838345"/>
            <a:ext cx="1" cy="184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0E448566-D82E-E9AA-BBD5-7A7F0B5E4C88}"/>
              </a:ext>
            </a:extLst>
          </p:cNvPr>
          <p:cNvCxnSpPr>
            <a:cxnSpLocks/>
          </p:cNvCxnSpPr>
          <p:nvPr/>
        </p:nvCxnSpPr>
        <p:spPr>
          <a:xfrm>
            <a:off x="6974956" y="5405278"/>
            <a:ext cx="0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49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AB0C-90C0-05B1-9DED-F6245B9D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FC23F-278B-87C6-D3A2-73B73537F9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9E681F9-F9B1-C033-E637-066C609C596B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53EBCF1-30DC-E8F3-152B-AEEA54B49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77" y="1267910"/>
            <a:ext cx="490940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 cụm với K-</a:t>
            </a:r>
            <a:r>
              <a:rPr kumimoji="0" lang="vi-VN" altLang="vi-V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endParaRPr kumimoji="0" lang="vi-VN" altLang="vi-V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1800" dirty="0"/>
              <a:t>- K-</a:t>
            </a:r>
            <a:r>
              <a:rPr lang="vi-VN" sz="1800" dirty="0" err="1"/>
              <a:t>Means</a:t>
            </a:r>
            <a:r>
              <a:rPr lang="vi-VN" sz="1800" dirty="0"/>
              <a:t> là thuật toán phân cụm nhằm chia dữ liệu thành K nhóm sao cho các điểm trong cùng một nhóm có độ tương đồng cao.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1800" dirty="0"/>
              <a:t>- Thuật toán hoạt động bằng cách lặp hai bước chính: gán từng điểm dữ liệu vào cụm có tâm gần nhất và cập nhật lại tâm cụm bằng trung bình của các điểm đã được gán. 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E6A2E64-DC9D-B345-74CA-EB06222A0358}"/>
              </a:ext>
            </a:extLst>
          </p:cNvPr>
          <p:cNvSpPr txBox="1"/>
          <p:nvPr/>
        </p:nvSpPr>
        <p:spPr>
          <a:xfrm>
            <a:off x="5912070" y="4109581"/>
            <a:ext cx="26223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2000" dirty="0"/>
              <a:t>-  Quá trình này tiếp tục cho đến khi các tâm cụm hầu như không thay đổi nữa.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2000" dirty="0"/>
              <a:t>- K-</a:t>
            </a:r>
            <a:r>
              <a:rPr lang="vi-VN" sz="2000" dirty="0" err="1"/>
              <a:t>Means</a:t>
            </a:r>
            <a:r>
              <a:rPr lang="vi-VN" sz="2000" dirty="0"/>
              <a:t> đơn giản, dễ triển khai</a:t>
            </a:r>
          </a:p>
          <a:p>
            <a:endParaRPr lang="vi-VN" sz="2000" dirty="0"/>
          </a:p>
        </p:txBody>
      </p:sp>
      <p:pic>
        <p:nvPicPr>
          <p:cNvPr id="3" name="Picture 2" descr="K-Means Clustering From Scratch in Python [Algorithm Explained] - AskPython">
            <a:extLst>
              <a:ext uri="{FF2B5EF4-FFF2-40B4-BE49-F238E27FC236}">
                <a16:creationId xmlns:a16="http://schemas.microsoft.com/office/drawing/2014/main" id="{E48E2EEB-EE75-796C-080C-5931E2A6D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30" y="3560806"/>
            <a:ext cx="4988033" cy="299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chine Learning: Algorithm Classification Overview">
            <a:extLst>
              <a:ext uri="{FF2B5EF4-FFF2-40B4-BE49-F238E27FC236}">
                <a16:creationId xmlns:a16="http://schemas.microsoft.com/office/drawing/2014/main" id="{57F0117B-0BFF-AF0B-5909-71FBA68B8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81" y="1267910"/>
            <a:ext cx="3652542" cy="206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3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E0DC-5CC8-F724-A921-C13586845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A2894-EBBE-BB74-D96D-27D5FE2A77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4BCDDC0-FE3C-C86C-F8DF-F26A541173D0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426C9D-9495-7C37-72CF-2ABCD4EE4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19190"/>
            <a:ext cx="70366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</a:t>
            </a:r>
            <a:r>
              <a:rPr kumimoji="0" lang="vi-VN" altLang="vi-V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endParaRPr kumimoji="0" lang="vi-VN" altLang="vi-V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1FEE8A92-B279-11AC-E642-FA60A417C443}"/>
              </a:ext>
            </a:extLst>
          </p:cNvPr>
          <p:cNvSpPr/>
          <p:nvPr/>
        </p:nvSpPr>
        <p:spPr>
          <a:xfrm>
            <a:off x="1379481" y="1243280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Bắt đầu</a:t>
            </a:r>
          </a:p>
        </p:txBody>
      </p:sp>
      <p:sp>
        <p:nvSpPr>
          <p:cNvPr id="11" name="Lưu đồ: Dữ liệu 10">
            <a:extLst>
              <a:ext uri="{FF2B5EF4-FFF2-40B4-BE49-F238E27FC236}">
                <a16:creationId xmlns:a16="http://schemas.microsoft.com/office/drawing/2014/main" id="{D0A1A08D-890C-99A5-DDA2-980804E645D3}"/>
              </a:ext>
            </a:extLst>
          </p:cNvPr>
          <p:cNvSpPr/>
          <p:nvPr/>
        </p:nvSpPr>
        <p:spPr>
          <a:xfrm>
            <a:off x="1241860" y="1944351"/>
            <a:ext cx="1730923" cy="46982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Ảnh đầu vào</a:t>
            </a:r>
          </a:p>
        </p:txBody>
      </p:sp>
      <p:sp>
        <p:nvSpPr>
          <p:cNvPr id="12" name="Lưu đồ: Tiến trình 11">
            <a:extLst>
              <a:ext uri="{FF2B5EF4-FFF2-40B4-BE49-F238E27FC236}">
                <a16:creationId xmlns:a16="http://schemas.microsoft.com/office/drawing/2014/main" id="{AC298B8D-CFDD-9BA8-3F8D-295B9E39C18E}"/>
              </a:ext>
            </a:extLst>
          </p:cNvPr>
          <p:cNvSpPr/>
          <p:nvPr/>
        </p:nvSpPr>
        <p:spPr>
          <a:xfrm>
            <a:off x="1241862" y="2653582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Khởi tạo tâm cụm</a:t>
            </a:r>
          </a:p>
        </p:txBody>
      </p:sp>
      <p:sp>
        <p:nvSpPr>
          <p:cNvPr id="13" name="Lưu đồ: Tiến trình 12">
            <a:extLst>
              <a:ext uri="{FF2B5EF4-FFF2-40B4-BE49-F238E27FC236}">
                <a16:creationId xmlns:a16="http://schemas.microsoft.com/office/drawing/2014/main" id="{9FBA03BD-DF93-FCA8-8D37-03A970A71510}"/>
              </a:ext>
            </a:extLst>
          </p:cNvPr>
          <p:cNvSpPr/>
          <p:nvPr/>
        </p:nvSpPr>
        <p:spPr>
          <a:xfrm>
            <a:off x="1241862" y="3347768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Tính khoảng cách, gán điểm vào cụm</a:t>
            </a:r>
          </a:p>
        </p:txBody>
      </p:sp>
      <p:sp>
        <p:nvSpPr>
          <p:cNvPr id="15" name="Lưu đồ: Tiến trình 14">
            <a:extLst>
              <a:ext uri="{FF2B5EF4-FFF2-40B4-BE49-F238E27FC236}">
                <a16:creationId xmlns:a16="http://schemas.microsoft.com/office/drawing/2014/main" id="{607435CD-A177-A655-6D5A-B2BB9FCE5922}"/>
              </a:ext>
            </a:extLst>
          </p:cNvPr>
          <p:cNvSpPr/>
          <p:nvPr/>
        </p:nvSpPr>
        <p:spPr>
          <a:xfrm>
            <a:off x="1241862" y="4041954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Cập nhật tâm cụm</a:t>
            </a:r>
          </a:p>
        </p:txBody>
      </p:sp>
      <p:sp>
        <p:nvSpPr>
          <p:cNvPr id="16" name="Lưu Đồ: Quyết Định 15">
            <a:extLst>
              <a:ext uri="{FF2B5EF4-FFF2-40B4-BE49-F238E27FC236}">
                <a16:creationId xmlns:a16="http://schemas.microsoft.com/office/drawing/2014/main" id="{4EC02AE8-FD5D-CCFB-DB36-DE3316D9E63B}"/>
              </a:ext>
            </a:extLst>
          </p:cNvPr>
          <p:cNvSpPr/>
          <p:nvPr/>
        </p:nvSpPr>
        <p:spPr>
          <a:xfrm>
            <a:off x="1104241" y="4736140"/>
            <a:ext cx="1868542" cy="73978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Kiểm tra hội tụ</a:t>
            </a:r>
          </a:p>
        </p:txBody>
      </p:sp>
      <p:sp>
        <p:nvSpPr>
          <p:cNvPr id="17" name="Lưu đồ: Tiến trình 16">
            <a:extLst>
              <a:ext uri="{FF2B5EF4-FFF2-40B4-BE49-F238E27FC236}">
                <a16:creationId xmlns:a16="http://schemas.microsoft.com/office/drawing/2014/main" id="{8DBD6366-D411-09CB-5FC4-FF2D083B80A3}"/>
              </a:ext>
            </a:extLst>
          </p:cNvPr>
          <p:cNvSpPr/>
          <p:nvPr/>
        </p:nvSpPr>
        <p:spPr>
          <a:xfrm>
            <a:off x="1241860" y="5642502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Xuất kết quả</a:t>
            </a:r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C0978133-8CFB-006F-2F61-90C29246C573}"/>
              </a:ext>
            </a:extLst>
          </p:cNvPr>
          <p:cNvSpPr/>
          <p:nvPr/>
        </p:nvSpPr>
        <p:spPr>
          <a:xfrm>
            <a:off x="1310669" y="6308079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Kết thúc</a:t>
            </a:r>
          </a:p>
        </p:txBody>
      </p: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DA3955FF-7C39-EDB6-89FB-EE96DACBFB86}"/>
              </a:ext>
            </a:extLst>
          </p:cNvPr>
          <p:cNvCxnSpPr>
            <a:cxnSpLocks/>
          </p:cNvCxnSpPr>
          <p:nvPr/>
        </p:nvCxnSpPr>
        <p:spPr>
          <a:xfrm flipH="1">
            <a:off x="2035882" y="1704945"/>
            <a:ext cx="1" cy="23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4BA43E45-DA7B-48D4-F346-CEFB4665EC65}"/>
              </a:ext>
            </a:extLst>
          </p:cNvPr>
          <p:cNvCxnSpPr/>
          <p:nvPr/>
        </p:nvCxnSpPr>
        <p:spPr>
          <a:xfrm>
            <a:off x="2035883" y="2412479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CB0D5E44-AA3A-9FA4-7E2D-CD55B00403F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035883" y="3120970"/>
            <a:ext cx="2630" cy="226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2FDE6CDB-ECF4-EA55-443D-733E2FEDE0BB}"/>
              </a:ext>
            </a:extLst>
          </p:cNvPr>
          <p:cNvCxnSpPr/>
          <p:nvPr/>
        </p:nvCxnSpPr>
        <p:spPr>
          <a:xfrm>
            <a:off x="2035882" y="3771913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713424FF-5535-1620-EB66-9963BA10882F}"/>
              </a:ext>
            </a:extLst>
          </p:cNvPr>
          <p:cNvCxnSpPr/>
          <p:nvPr/>
        </p:nvCxnSpPr>
        <p:spPr>
          <a:xfrm>
            <a:off x="2033255" y="4489781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6EA710A7-4CF2-34A8-B713-942D4679E83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92353" y="3582681"/>
            <a:ext cx="649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Đường nối Thẳng 30">
            <a:extLst>
              <a:ext uri="{FF2B5EF4-FFF2-40B4-BE49-F238E27FC236}">
                <a16:creationId xmlns:a16="http://schemas.microsoft.com/office/drawing/2014/main" id="{843026D0-EE70-C5E7-8E07-05350D267235}"/>
              </a:ext>
            </a:extLst>
          </p:cNvPr>
          <p:cNvCxnSpPr/>
          <p:nvPr/>
        </p:nvCxnSpPr>
        <p:spPr>
          <a:xfrm>
            <a:off x="592353" y="3582681"/>
            <a:ext cx="0" cy="153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Đường nối Thẳng 31">
            <a:extLst>
              <a:ext uri="{FF2B5EF4-FFF2-40B4-BE49-F238E27FC236}">
                <a16:creationId xmlns:a16="http://schemas.microsoft.com/office/drawing/2014/main" id="{496D296D-9257-794B-9D0E-701F89604CB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592353" y="5106032"/>
            <a:ext cx="51188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Đường nối Thẳng 35">
            <a:extLst>
              <a:ext uri="{FF2B5EF4-FFF2-40B4-BE49-F238E27FC236}">
                <a16:creationId xmlns:a16="http://schemas.microsoft.com/office/drawing/2014/main" id="{88FE23BF-AC1B-C625-D96C-9FAAC8337D2D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2972783" y="5106033"/>
            <a:ext cx="547657" cy="8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A9477284-E2D7-EEA2-7588-7EFE8C948532}"/>
              </a:ext>
            </a:extLst>
          </p:cNvPr>
          <p:cNvCxnSpPr/>
          <p:nvPr/>
        </p:nvCxnSpPr>
        <p:spPr>
          <a:xfrm>
            <a:off x="3520440" y="5106032"/>
            <a:ext cx="0" cy="776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0781190B-07AC-E409-1939-7C7D4F29E300}"/>
              </a:ext>
            </a:extLst>
          </p:cNvPr>
          <p:cNvCxnSpPr>
            <a:endCxn id="17" idx="3"/>
          </p:cNvCxnSpPr>
          <p:nvPr/>
        </p:nvCxnSpPr>
        <p:spPr>
          <a:xfrm flipH="1" flipV="1">
            <a:off x="2835162" y="5877415"/>
            <a:ext cx="685278" cy="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ưu đồ: Điểm Kết Thúc 42">
            <a:extLst>
              <a:ext uri="{FF2B5EF4-FFF2-40B4-BE49-F238E27FC236}">
                <a16:creationId xmlns:a16="http://schemas.microsoft.com/office/drawing/2014/main" id="{51440439-F856-917E-ADC7-DC4A0CB08ACF}"/>
              </a:ext>
            </a:extLst>
          </p:cNvPr>
          <p:cNvSpPr/>
          <p:nvPr/>
        </p:nvSpPr>
        <p:spPr>
          <a:xfrm>
            <a:off x="67430" y="5241018"/>
            <a:ext cx="1312051" cy="23490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/>
              <a:t>Chưa hội tụ</a:t>
            </a:r>
            <a:endParaRPr lang="vi-VN" dirty="0"/>
          </a:p>
        </p:txBody>
      </p:sp>
      <p:sp>
        <p:nvSpPr>
          <p:cNvPr id="46" name="Lưu đồ: Điểm Kết Thúc 45">
            <a:extLst>
              <a:ext uri="{FF2B5EF4-FFF2-40B4-BE49-F238E27FC236}">
                <a16:creationId xmlns:a16="http://schemas.microsoft.com/office/drawing/2014/main" id="{F59C6466-2C0C-BD1B-66FD-9209CD44254B}"/>
              </a:ext>
            </a:extLst>
          </p:cNvPr>
          <p:cNvSpPr/>
          <p:nvPr/>
        </p:nvSpPr>
        <p:spPr>
          <a:xfrm>
            <a:off x="2917275" y="4803633"/>
            <a:ext cx="900346" cy="24015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Đã hội tụ</a:t>
            </a:r>
          </a:p>
        </p:txBody>
      </p:sp>
      <p:pic>
        <p:nvPicPr>
          <p:cNvPr id="48" name="Hình ảnh 47">
            <a:extLst>
              <a:ext uri="{FF2B5EF4-FFF2-40B4-BE49-F238E27FC236}">
                <a16:creationId xmlns:a16="http://schemas.microsoft.com/office/drawing/2014/main" id="{45C6A272-CC83-AD46-56FC-62D09212C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344" y="1333263"/>
            <a:ext cx="4824909" cy="2260667"/>
          </a:xfrm>
          <a:prstGeom prst="rect">
            <a:avLst/>
          </a:prstGeom>
        </p:spPr>
      </p:pic>
      <p:pic>
        <p:nvPicPr>
          <p:cNvPr id="50" name="Hình ảnh 49">
            <a:extLst>
              <a:ext uri="{FF2B5EF4-FFF2-40B4-BE49-F238E27FC236}">
                <a16:creationId xmlns:a16="http://schemas.microsoft.com/office/drawing/2014/main" id="{11E12F5F-26BE-802C-AFE7-5BCC8B4A2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344" y="3596705"/>
            <a:ext cx="4908829" cy="230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0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B7805-BC0D-69D1-4A12-DFDAC3B5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92E9A-15A3-E5E1-DCB4-177959511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156D56D-55D9-7AE9-1B8C-F6EA367A9CA2}"/>
              </a:ext>
            </a:extLst>
          </p:cNvPr>
          <p:cNvSpPr txBox="1"/>
          <p:nvPr/>
        </p:nvSpPr>
        <p:spPr>
          <a:xfrm>
            <a:off x="357353" y="210206"/>
            <a:ext cx="594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459C680-0D60-3A14-EEFB-01E596B1E828}"/>
              </a:ext>
            </a:extLst>
          </p:cNvPr>
          <p:cNvSpPr txBox="1"/>
          <p:nvPr/>
        </p:nvSpPr>
        <p:spPr>
          <a:xfrm>
            <a:off x="199697" y="1313792"/>
            <a:ext cx="48452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Tập dữ liệu </a:t>
            </a:r>
            <a:r>
              <a:rPr lang="vi-VN" sz="2800" b="1" dirty="0"/>
              <a:t>FER2013</a:t>
            </a:r>
            <a:r>
              <a:rPr lang="vi-VN" sz="2800" dirty="0"/>
              <a:t>: 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Gồm 35.887 ảnh khuôn mặt căn đúng giữa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Ảnh mức xám, 48x48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Được phân ra thành 2 mục: </a:t>
            </a:r>
            <a:r>
              <a:rPr lang="vi-VN" sz="2800" dirty="0" err="1"/>
              <a:t>Training</a:t>
            </a:r>
            <a:r>
              <a:rPr lang="vi-VN" sz="2800" dirty="0"/>
              <a:t> và </a:t>
            </a:r>
            <a:r>
              <a:rPr lang="vi-VN" sz="2800" dirty="0" err="1"/>
              <a:t>Test</a:t>
            </a:r>
            <a:endParaRPr lang="vi-VN" sz="2800" dirty="0"/>
          </a:p>
          <a:p>
            <a:pPr marL="457200" indent="-457200">
              <a:buFontTx/>
              <a:buChar char="-"/>
            </a:pPr>
            <a:r>
              <a:rPr lang="vi-VN" sz="2800" dirty="0"/>
              <a:t>Theo 7 cảm xúc: </a:t>
            </a:r>
            <a:r>
              <a:rPr lang="en-US" sz="2800" dirty="0"/>
              <a:t>0. Angry, 1.Disgust, 2.Fear, 3.Happy, 4.Sad, 5.Surprise, 6.Neutral</a:t>
            </a:r>
            <a:endParaRPr lang="vi-VN" sz="2800" dirty="0"/>
          </a:p>
        </p:txBody>
      </p:sp>
      <p:pic>
        <p:nvPicPr>
          <p:cNvPr id="1028" name="Picture 4" descr="FER-2013 | Wolfram Data Repository">
            <a:extLst>
              <a:ext uri="{FF2B5EF4-FFF2-40B4-BE49-F238E27FC236}">
                <a16:creationId xmlns:a16="http://schemas.microsoft.com/office/drawing/2014/main" id="{3A116AD5-7C44-E515-C016-DE2813BF4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153" y="1436024"/>
            <a:ext cx="4297149" cy="23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89B5C975-FE0E-44C1-E3D8-311D759AA872}"/>
              </a:ext>
            </a:extLst>
          </p:cNvPr>
          <p:cNvSpPr txBox="1"/>
          <p:nvPr/>
        </p:nvSpPr>
        <p:spPr>
          <a:xfrm>
            <a:off x="5207876" y="4035972"/>
            <a:ext cx="3573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- Lấy ra 300 ảnh từ mỗi thư mục cảm xúc để </a:t>
            </a:r>
            <a:r>
              <a:rPr lang="vi-VN" sz="2400" dirty="0" err="1"/>
              <a:t>training</a:t>
            </a:r>
            <a:r>
              <a:rPr lang="vi-VN" sz="2400" dirty="0"/>
              <a:t>, và 300 ảnh từ mỗi thư mục để </a:t>
            </a:r>
            <a:r>
              <a:rPr lang="vi-VN" sz="2400" dirty="0" err="1"/>
              <a:t>test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411193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8B5D-42DB-CE92-6E3F-5A7E5721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7C5111-690B-C0F5-61DE-FC58C5995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7D200C2-F03D-ECE7-4241-9D627A21DF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550766-A523-583A-0474-7975D30EA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5" y="1355801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A1F43C7-45C1-2268-2250-26401EA6DDF1}"/>
              </a:ext>
            </a:extLst>
          </p:cNvPr>
          <p:cNvSpPr txBox="1"/>
          <p:nvPr/>
        </p:nvSpPr>
        <p:spPr>
          <a:xfrm>
            <a:off x="1103587" y="2648043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Angry</a:t>
            </a:r>
            <a:endParaRPr lang="vi-VN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1756C7-41C8-9436-1250-83909BFF3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79" y="1355801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11D1419-034E-81F0-87ED-062A67459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523" y="1355801"/>
            <a:ext cx="1079939" cy="107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A3074A9-32EB-3E50-16E6-440A78F8894E}"/>
              </a:ext>
            </a:extLst>
          </p:cNvPr>
          <p:cNvSpPr txBox="1"/>
          <p:nvPr/>
        </p:nvSpPr>
        <p:spPr>
          <a:xfrm>
            <a:off x="3655628" y="2640527"/>
            <a:ext cx="916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Disgust</a:t>
            </a:r>
            <a:endParaRPr lang="vi-VN" b="1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C904647-8B7A-1BCC-42B5-74CED4CA9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867" y="1355801"/>
            <a:ext cx="1090448" cy="109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8DA9805-EFDF-C4C1-420C-87B22E439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03" y="3121223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D2465CD9-A86C-B767-8B9E-AE5CDB31D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79" y="3121223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E5ED9286-45D6-637F-5A06-EB378AB1E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523" y="3153091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B699B90-57BE-CB26-7F5D-C56951934C10}"/>
              </a:ext>
            </a:extLst>
          </p:cNvPr>
          <p:cNvSpPr txBox="1"/>
          <p:nvPr/>
        </p:nvSpPr>
        <p:spPr>
          <a:xfrm>
            <a:off x="1103587" y="4371650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 dirty="0" err="1"/>
              <a:t>Fear</a:t>
            </a:r>
            <a:endParaRPr lang="vi-VN" b="1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98968E92-C7D3-7762-5333-4C6A2DAEA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9" y="3121223"/>
            <a:ext cx="1058916" cy="105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4CC776FF-D03F-875C-95C3-0838ADBEE1B0}"/>
              </a:ext>
            </a:extLst>
          </p:cNvPr>
          <p:cNvSpPr txBox="1"/>
          <p:nvPr/>
        </p:nvSpPr>
        <p:spPr>
          <a:xfrm>
            <a:off x="3752193" y="4371650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Happy</a:t>
            </a:r>
            <a:endParaRPr lang="vi-VN" b="1" dirty="0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CDBC0CC8-4F5D-1FC2-9B74-1720A688E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712" y="1387334"/>
            <a:ext cx="1058915" cy="10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F8F51C2D-87AF-9A3D-F603-AE314B51E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954" y="1376824"/>
            <a:ext cx="1058915" cy="10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C3898183-82CC-E0A6-EAFB-E7CC9B78FE10}"/>
              </a:ext>
            </a:extLst>
          </p:cNvPr>
          <p:cNvSpPr txBox="1"/>
          <p:nvPr/>
        </p:nvSpPr>
        <p:spPr>
          <a:xfrm>
            <a:off x="6852744" y="2640526"/>
            <a:ext cx="118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 dirty="0" err="1"/>
              <a:t>Neutral</a:t>
            </a:r>
            <a:endParaRPr lang="vi-VN" b="1" dirty="0"/>
          </a:p>
        </p:txBody>
      </p:sp>
      <p:pic>
        <p:nvPicPr>
          <p:cNvPr id="2068" name="Picture 20">
            <a:extLst>
              <a:ext uri="{FF2B5EF4-FFF2-40B4-BE49-F238E27FC236}">
                <a16:creationId xmlns:a16="http://schemas.microsoft.com/office/drawing/2014/main" id="{996C035D-45CE-BFE1-77B8-1A6C9BA5E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179" y="3121223"/>
            <a:ext cx="1090448" cy="109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D83DEDB4-E3B3-BDFB-44EB-44AAEE90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955" y="3121224"/>
            <a:ext cx="1058915" cy="10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4F72B1ED-7D9D-A16B-8B2C-47FFC9A2BD6A}"/>
              </a:ext>
            </a:extLst>
          </p:cNvPr>
          <p:cNvSpPr txBox="1"/>
          <p:nvPr/>
        </p:nvSpPr>
        <p:spPr>
          <a:xfrm>
            <a:off x="7076745" y="4422549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Sad</a:t>
            </a:r>
            <a:endParaRPr lang="vi-VN" b="1" dirty="0"/>
          </a:p>
        </p:txBody>
      </p:sp>
      <p:pic>
        <p:nvPicPr>
          <p:cNvPr id="2072" name="Picture 24">
            <a:extLst>
              <a:ext uri="{FF2B5EF4-FFF2-40B4-BE49-F238E27FC236}">
                <a16:creationId xmlns:a16="http://schemas.microsoft.com/office/drawing/2014/main" id="{EB538EC9-AE15-6B6D-323B-E8ACFBD63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03" y="4886645"/>
            <a:ext cx="1035270" cy="103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FDF8682C-8F83-DC18-9E16-B0BEFE55597C}"/>
              </a:ext>
            </a:extLst>
          </p:cNvPr>
          <p:cNvSpPr txBox="1"/>
          <p:nvPr/>
        </p:nvSpPr>
        <p:spPr>
          <a:xfrm>
            <a:off x="1072055" y="6129133"/>
            <a:ext cx="930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Surprise</a:t>
            </a:r>
            <a:endParaRPr lang="vi-VN" b="1" dirty="0"/>
          </a:p>
        </p:txBody>
      </p:sp>
      <p:pic>
        <p:nvPicPr>
          <p:cNvPr id="2074" name="Picture 26">
            <a:extLst>
              <a:ext uri="{FF2B5EF4-FFF2-40B4-BE49-F238E27FC236}">
                <a16:creationId xmlns:a16="http://schemas.microsoft.com/office/drawing/2014/main" id="{BA9660F5-323D-4737-E93B-824ABD38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79" y="4849916"/>
            <a:ext cx="1090447" cy="109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181BE7BB-B0D4-517E-9077-1E2A5CD79D98}"/>
              </a:ext>
            </a:extLst>
          </p:cNvPr>
          <p:cNvSpPr txBox="1"/>
          <p:nvPr/>
        </p:nvSpPr>
        <p:spPr>
          <a:xfrm>
            <a:off x="3538044" y="4886645"/>
            <a:ext cx="4901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Nhận xét:</a:t>
            </a:r>
            <a:r>
              <a:rPr lang="vi-VN" sz="2400" dirty="0"/>
              <a:t> </a:t>
            </a:r>
            <a:r>
              <a:rPr lang="vi-VN" sz="2400" dirty="0" err="1"/>
              <a:t>dataset</a:t>
            </a:r>
            <a:r>
              <a:rPr lang="vi-VN" sz="2400" dirty="0"/>
              <a:t> rất khó, nhiều nhiễu, các ảnh được phân loại rất giống nhau và không dễ gán nhãn</a:t>
            </a:r>
          </a:p>
        </p:txBody>
      </p:sp>
    </p:spTree>
    <p:extLst>
      <p:ext uri="{BB962C8B-B14F-4D97-AF65-F5344CB8AC3E}">
        <p14:creationId xmlns:p14="http://schemas.microsoft.com/office/powerpoint/2010/main" val="499001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BAD5-A6AC-4BD4-5601-AD403923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AE95368-40BA-8609-6984-ADF3200C6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9DB168C-ECCF-8B7A-44B2-8917A8D9DD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25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A80F-45FE-D6D1-B82D-CEB40E0E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55ADEC2-3317-C5B5-6BC3-1905F0302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17D3728-AD5B-70A8-27C7-4A5040E77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CCC69F69-BCA7-2132-8245-15D44A9176D5}"/>
              </a:ext>
            </a:extLst>
          </p:cNvPr>
          <p:cNvSpPr txBox="1"/>
          <p:nvPr/>
        </p:nvSpPr>
        <p:spPr>
          <a:xfrm>
            <a:off x="402021" y="1984415"/>
            <a:ext cx="29087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0.50 -&gt; </a:t>
            </a:r>
            <a:r>
              <a:rPr lang="vi-VN" sz="1800" dirty="0" err="1"/>
              <a:t>Accuracy</a:t>
            </a:r>
            <a:r>
              <a:rPr lang="vi-VN" sz="1800" dirty="0"/>
              <a:t> TEST: 0.2025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0.60 -&gt; </a:t>
            </a:r>
            <a:r>
              <a:rPr lang="vi-VN" sz="1800" dirty="0" err="1"/>
              <a:t>Accuracy</a:t>
            </a:r>
            <a:r>
              <a:rPr lang="vi-VN" sz="1800" dirty="0"/>
              <a:t> TEST: 0.2156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0.70 -&gt; </a:t>
            </a:r>
            <a:r>
              <a:rPr lang="vi-VN" sz="1800" dirty="0" err="1"/>
              <a:t>Accuracy</a:t>
            </a:r>
            <a:r>
              <a:rPr lang="vi-VN" sz="1800" dirty="0"/>
              <a:t> TEST: 0.2025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0.80 -&gt; </a:t>
            </a:r>
            <a:r>
              <a:rPr lang="vi-VN" sz="1800" dirty="0" err="1"/>
              <a:t>Accuracy</a:t>
            </a:r>
            <a:r>
              <a:rPr lang="vi-VN" sz="1800" dirty="0"/>
              <a:t> TEST: 0.2051</a:t>
            </a:r>
          </a:p>
          <a:p>
            <a:r>
              <a:rPr lang="vi-VN" sz="1800" b="1" dirty="0"/>
              <a:t>PCA </a:t>
            </a:r>
            <a:r>
              <a:rPr lang="vi-VN" sz="1800" b="1" dirty="0" err="1"/>
              <a:t>yeu</a:t>
            </a:r>
            <a:r>
              <a:rPr lang="vi-VN" sz="1800" b="1" dirty="0"/>
              <a:t> cau 0.90 -&gt; </a:t>
            </a:r>
            <a:r>
              <a:rPr lang="vi-VN" sz="1800" b="1" dirty="0" err="1"/>
              <a:t>Accuracy</a:t>
            </a:r>
            <a:r>
              <a:rPr lang="vi-VN" sz="1800" b="1" dirty="0"/>
              <a:t> TEST: 0.2292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0.95 -&gt; </a:t>
            </a:r>
            <a:r>
              <a:rPr lang="vi-VN" sz="1800" dirty="0" err="1"/>
              <a:t>Accuracy</a:t>
            </a:r>
            <a:r>
              <a:rPr lang="vi-VN" sz="1800" dirty="0"/>
              <a:t> TEST: 0.2114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71B53EC-5499-FE69-CE12-7BE9BF04E94F}"/>
              </a:ext>
            </a:extLst>
          </p:cNvPr>
          <p:cNvSpPr txBox="1"/>
          <p:nvPr/>
        </p:nvSpPr>
        <p:spPr>
          <a:xfrm>
            <a:off x="4025462" y="1296702"/>
            <a:ext cx="578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err="1"/>
              <a:t>Accuracy</a:t>
            </a:r>
            <a:r>
              <a:rPr lang="vi-VN" sz="2000" b="1" dirty="0"/>
              <a:t> tốt nhất tại mức PCA = 0.90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3308121-AC7C-6439-911E-FB4AC55F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1" y="1722446"/>
            <a:ext cx="5228896" cy="3921672"/>
          </a:xfrm>
          <a:prstGeom prst="rect">
            <a:avLst/>
          </a:prstGeom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7178496-9A18-A3CA-3F8B-B0E6B36B32B1}"/>
              </a:ext>
            </a:extLst>
          </p:cNvPr>
          <p:cNvSpPr txBox="1"/>
          <p:nvPr/>
        </p:nvSpPr>
        <p:spPr>
          <a:xfrm>
            <a:off x="212835" y="1187669"/>
            <a:ext cx="5780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Khảo sát PCA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D3DC3FBA-B3CB-8BC2-E780-8E14F0143064}"/>
              </a:ext>
            </a:extLst>
          </p:cNvPr>
          <p:cNvSpPr txBox="1"/>
          <p:nvPr/>
        </p:nvSpPr>
        <p:spPr>
          <a:xfrm>
            <a:off x="402021" y="5670331"/>
            <a:ext cx="8468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/>
              <a:t>Nhận xét: 0.90 là mốc giảm nhiễu vừa đủ, giữ lại được các phần thông tin cần thiết, giúp K-</a:t>
            </a:r>
            <a:r>
              <a:rPr lang="vi-VN" sz="2000" b="1" dirty="0" err="1"/>
              <a:t>means</a:t>
            </a:r>
            <a:r>
              <a:rPr lang="vi-VN" sz="2000" b="1" dirty="0"/>
              <a:t> gom cụm ổn định hơn</a:t>
            </a:r>
          </a:p>
        </p:txBody>
      </p:sp>
    </p:spTree>
    <p:extLst>
      <p:ext uri="{BB962C8B-B14F-4D97-AF65-F5344CB8AC3E}">
        <p14:creationId xmlns:p14="http://schemas.microsoft.com/office/powerpoint/2010/main" val="3288006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B2E8E-8040-6B16-3919-A823B8DA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F0131C6-3B53-A843-FA42-9E4FE49E8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EA1915A-8044-6BBA-F32E-DBAE4D0A2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FBF612A2-63D7-2B44-F1C1-3633981791F8}"/>
              </a:ext>
            </a:extLst>
          </p:cNvPr>
          <p:cNvSpPr txBox="1"/>
          <p:nvPr/>
        </p:nvSpPr>
        <p:spPr>
          <a:xfrm>
            <a:off x="212835" y="1187669"/>
            <a:ext cx="5780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Khảo sát phân cụm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2EE75FA9-DA3C-EBAD-CF04-87C9719FD02F}"/>
              </a:ext>
            </a:extLst>
          </p:cNvPr>
          <p:cNvSpPr txBox="1"/>
          <p:nvPr/>
        </p:nvSpPr>
        <p:spPr>
          <a:xfrm>
            <a:off x="402021" y="5670331"/>
            <a:ext cx="699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/>
              <a:t>Các cụm thực tế khá bão hòa nên thuật toán </a:t>
            </a:r>
            <a:r>
              <a:rPr lang="vi-VN" sz="2000" b="1" dirty="0" err="1"/>
              <a:t>Kmeans</a:t>
            </a:r>
            <a:r>
              <a:rPr lang="vi-VN" sz="2000" b="1" dirty="0"/>
              <a:t> khó để phân ra được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E7B9B5CC-1D46-5C68-9A16-3CD0F0D0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52" y="1862125"/>
            <a:ext cx="4314497" cy="3595414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8BDBE8C4-59E7-3639-E2D0-3300F7E5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48" y="1862125"/>
            <a:ext cx="457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18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EEC1-7F47-FD6A-090C-818FF74D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E9AFA4-D0FB-3FC5-5A5F-785903BCD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87FFA78-0291-A1E9-5303-5E5C864B47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88ED6F70-5686-5FC2-4A6D-CF0C0CED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822" y="1302032"/>
            <a:ext cx="5228896" cy="3921672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207D0A7-2504-C9C6-A3E1-550D74D0CB47}"/>
              </a:ext>
            </a:extLst>
          </p:cNvPr>
          <p:cNvSpPr txBox="1"/>
          <p:nvPr/>
        </p:nvSpPr>
        <p:spPr>
          <a:xfrm>
            <a:off x="212834" y="1302032"/>
            <a:ext cx="4359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Nhận xét về: mức </a:t>
            </a:r>
            <a:r>
              <a:rPr lang="vi-VN" sz="2400" b="1" dirty="0" err="1"/>
              <a:t>Accuracy</a:t>
            </a:r>
            <a:r>
              <a:rPr lang="vi-VN" sz="2400" b="1" dirty="0"/>
              <a:t> 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015E900D-328E-FF6E-042B-9A12477A2BF4}"/>
              </a:ext>
            </a:extLst>
          </p:cNvPr>
          <p:cNvSpPr txBox="1"/>
          <p:nvPr/>
        </p:nvSpPr>
        <p:spPr>
          <a:xfrm>
            <a:off x="325821" y="1902372"/>
            <a:ext cx="36996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sz="1800" dirty="0"/>
              <a:t>Thấp, do đây là phân cụm không giám sát, 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FER2013 là 1 </a:t>
            </a:r>
            <a:r>
              <a:rPr lang="vi-VN" sz="1800" dirty="0" err="1"/>
              <a:t>dataset</a:t>
            </a:r>
            <a:r>
              <a:rPr lang="vi-VN" sz="1800" dirty="0"/>
              <a:t> khó vì kích </a:t>
            </a:r>
            <a:r>
              <a:rPr lang="vi-VN" sz="1800" dirty="0" err="1"/>
              <a:t>thuớc</a:t>
            </a:r>
            <a:r>
              <a:rPr lang="vi-VN" sz="1800" dirty="0"/>
              <a:t> nhỏ (48x48) và nhiều nhiễu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Một số cảm xúc rất giống nhau như: </a:t>
            </a:r>
            <a:r>
              <a:rPr lang="vi-VN" sz="1800" b="1" dirty="0" err="1"/>
              <a:t>sad</a:t>
            </a:r>
            <a:r>
              <a:rPr lang="vi-VN" sz="1800" b="1" dirty="0"/>
              <a:t> và </a:t>
            </a:r>
            <a:r>
              <a:rPr lang="vi-VN" sz="1800" b="1" dirty="0" err="1"/>
              <a:t>neutral</a:t>
            </a:r>
            <a:r>
              <a:rPr lang="vi-VN" sz="1800" b="1" dirty="0"/>
              <a:t>, </a:t>
            </a:r>
            <a:r>
              <a:rPr lang="vi-VN" sz="1800" b="1" dirty="0" err="1"/>
              <a:t>fear</a:t>
            </a:r>
            <a:r>
              <a:rPr lang="vi-VN" sz="1800" b="1" dirty="0"/>
              <a:t> và </a:t>
            </a:r>
            <a:r>
              <a:rPr lang="vi-VN" sz="1800" b="1" dirty="0" err="1"/>
              <a:t>surprise</a:t>
            </a:r>
            <a:r>
              <a:rPr lang="vi-VN" sz="1800" b="1" dirty="0"/>
              <a:t>, </a:t>
            </a:r>
            <a:r>
              <a:rPr lang="vi-VN" sz="1800" b="1" dirty="0" err="1"/>
              <a:t>angry</a:t>
            </a:r>
            <a:r>
              <a:rPr lang="vi-VN" sz="1800" b="1" dirty="0"/>
              <a:t> và </a:t>
            </a:r>
            <a:r>
              <a:rPr lang="vi-VN" sz="1800" b="1" dirty="0" err="1"/>
              <a:t>disgust</a:t>
            </a:r>
            <a:endParaRPr lang="vi-VN" sz="1800" b="1" dirty="0"/>
          </a:p>
          <a:p>
            <a:pPr marL="285750" indent="-285750">
              <a:buFontTx/>
              <a:buChar char="-"/>
            </a:pPr>
            <a:r>
              <a:rPr lang="vi-VN" sz="1800" b="1" dirty="0"/>
              <a:t>Không sử dụng học sâu nên không trích chọn được những đặc trưng có giá trị lớn (mắt, miệng, chân mày)</a:t>
            </a:r>
          </a:p>
          <a:p>
            <a:r>
              <a:rPr lang="vi-VN" sz="1800" dirty="0"/>
              <a:t>=&gt; Kết quả thấp là hoàn toàn bình thường</a:t>
            </a:r>
          </a:p>
        </p:txBody>
      </p:sp>
    </p:spTree>
    <p:extLst>
      <p:ext uri="{BB962C8B-B14F-4D97-AF65-F5344CB8AC3E}">
        <p14:creationId xmlns:p14="http://schemas.microsoft.com/office/powerpoint/2010/main" val="3403906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2602-2827-B943-5C2C-413A6962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FD66DD96-C029-E633-00A0-0C2D24CC8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354" y="1922142"/>
            <a:ext cx="5060646" cy="3795485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7E19A998-55BF-D50A-ECDE-6B6001C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F098137-B187-6134-A663-EA91318779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3BF49E35-9C76-3D3E-C753-86FF9B5E9FF4}"/>
              </a:ext>
            </a:extLst>
          </p:cNvPr>
          <p:cNvSpPr txBox="1"/>
          <p:nvPr/>
        </p:nvSpPr>
        <p:spPr>
          <a:xfrm>
            <a:off x="212834" y="1302032"/>
            <a:ext cx="4359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Nhận xét về: mức </a:t>
            </a:r>
            <a:r>
              <a:rPr lang="vi-VN" sz="2400" b="1" dirty="0" err="1"/>
              <a:t>Accuracy</a:t>
            </a:r>
            <a:r>
              <a:rPr lang="vi-VN" sz="2400" b="1" dirty="0"/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46C42F-AA4D-BF7E-E140-A329E87BB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34" y="2041910"/>
            <a:ext cx="450768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Angry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Bị đoán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là nhiều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Disgust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 lớn bị nhầm thành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disgust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chính nó, nhưng nhiều bị nhầm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vi-VN" altLang="vi-VN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Fear</a:t>
            </a:r>
            <a:r>
              <a:rPr lang="vi-VN" altLang="vi-VN" sz="1800" b="1" dirty="0">
                <a:solidFill>
                  <a:schemeClr val="tx1"/>
                </a:solidFill>
                <a:latin typeface="Arial" panose="020B0604020202020204" pitchFamily="34" charset="0"/>
              </a:rPr>
              <a:t>:     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Lẫn nhiều với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 yếu bị dự đoán thành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hoặc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hoặc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 ảnh bị nhầm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   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 ảnh bị nhầm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Đây là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dễ nhất và mô hình đoán đúng nhiều nhất</a:t>
            </a:r>
          </a:p>
        </p:txBody>
      </p:sp>
    </p:spTree>
    <p:extLst>
      <p:ext uri="{BB962C8B-B14F-4D97-AF65-F5344CB8AC3E}">
        <p14:creationId xmlns:p14="http://schemas.microsoft.com/office/powerpoint/2010/main" val="4040053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65890-B906-0763-3CF9-49DC1B51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14A0EF6-249D-544A-15D0-35F035E8B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4. So sánh, đối chiếu kết quả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9DC0992-2CFD-6130-9A95-7C3B883EE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97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9D17-BFE3-DF24-F7F1-E709B2EC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BF78874B-470D-CC17-ADE0-DF754521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248" y="1228506"/>
            <a:ext cx="4988911" cy="37416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41F45901-380A-B5BE-9F58-E6AC96248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503" y="1355835"/>
            <a:ext cx="4042541" cy="531977"/>
          </a:xfrm>
        </p:spPr>
        <p:txBody>
          <a:bodyPr/>
          <a:lstStyle/>
          <a:p>
            <a:pPr marL="50800"/>
            <a:r>
              <a:rPr lang="vi-VN" sz="2400" dirty="0"/>
              <a:t>So sánh với HOG + SVM + PCA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EAAF158-668D-EAD4-C6A8-FBB5DC2A9B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C05D052-EFFC-7349-F328-1318184B2655}"/>
              </a:ext>
            </a:extLst>
          </p:cNvPr>
          <p:cNvSpPr txBox="1"/>
          <p:nvPr/>
        </p:nvSpPr>
        <p:spPr>
          <a:xfrm>
            <a:off x="257503" y="3243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</a:rPr>
              <a:t>4. So sánh, đối chiếu kết quả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69D5A5C-9427-BDEA-AD53-11E5FECA9785}"/>
              </a:ext>
            </a:extLst>
          </p:cNvPr>
          <p:cNvSpPr txBox="1"/>
          <p:nvPr/>
        </p:nvSpPr>
        <p:spPr>
          <a:xfrm>
            <a:off x="257503" y="2015141"/>
            <a:ext cx="49889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/>
              <a:t>PCA 0.50 -&gt; </a:t>
            </a:r>
            <a:r>
              <a:rPr lang="vi-VN" sz="1600" dirty="0" err="1"/>
              <a:t>Accuracy</a:t>
            </a:r>
            <a:r>
              <a:rPr lang="vi-VN" sz="1600" dirty="0"/>
              <a:t> (SVM): 0.3815</a:t>
            </a:r>
          </a:p>
          <a:p>
            <a:r>
              <a:rPr lang="vi-VN" sz="1600" dirty="0"/>
              <a:t>PCA 0.60 -&gt; </a:t>
            </a:r>
            <a:r>
              <a:rPr lang="vi-VN" sz="1600" dirty="0" err="1"/>
              <a:t>Accuracy</a:t>
            </a:r>
            <a:r>
              <a:rPr lang="vi-VN" sz="1600" dirty="0"/>
              <a:t> (SVM): 0.3925</a:t>
            </a:r>
          </a:p>
          <a:p>
            <a:r>
              <a:rPr lang="vi-VN" sz="1600" dirty="0"/>
              <a:t>PCA 0.70 -&gt; </a:t>
            </a:r>
            <a:r>
              <a:rPr lang="vi-VN" sz="1600" dirty="0" err="1"/>
              <a:t>Accuracy</a:t>
            </a:r>
            <a:r>
              <a:rPr lang="vi-VN" sz="1600" dirty="0"/>
              <a:t> (SVM): 0.4024</a:t>
            </a:r>
          </a:p>
          <a:p>
            <a:r>
              <a:rPr lang="vi-VN" sz="1600" dirty="0"/>
              <a:t>PCA 0.80 -&gt; </a:t>
            </a:r>
            <a:r>
              <a:rPr lang="vi-VN" sz="1600" dirty="0" err="1"/>
              <a:t>Accuracy</a:t>
            </a:r>
            <a:r>
              <a:rPr lang="vi-VN" sz="1600" dirty="0"/>
              <a:t> (SVM): 0.4076</a:t>
            </a:r>
          </a:p>
          <a:p>
            <a:r>
              <a:rPr lang="vi-VN" sz="1600" b="1" dirty="0"/>
              <a:t>PCA 0.90 -&gt; </a:t>
            </a:r>
            <a:r>
              <a:rPr lang="vi-VN" sz="1600" b="1" dirty="0" err="1"/>
              <a:t>Accuracy</a:t>
            </a:r>
            <a:r>
              <a:rPr lang="vi-VN" sz="1600" b="1" dirty="0"/>
              <a:t> (SVM): 0.4113 (</a:t>
            </a:r>
            <a:r>
              <a:rPr lang="vi-VN" sz="1600" b="1" dirty="0" err="1"/>
              <a:t>best</a:t>
            </a:r>
            <a:r>
              <a:rPr lang="vi-VN" sz="1600" b="1" dirty="0"/>
              <a:t>)</a:t>
            </a:r>
          </a:p>
          <a:p>
            <a:r>
              <a:rPr lang="vi-VN" sz="1600" dirty="0"/>
              <a:t>PCA 0.95 -&gt; </a:t>
            </a:r>
            <a:r>
              <a:rPr lang="vi-VN" sz="1600" dirty="0" err="1"/>
              <a:t>Accuracy</a:t>
            </a:r>
            <a:r>
              <a:rPr lang="vi-VN" sz="1600" dirty="0"/>
              <a:t> (SVM): 0.4092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D3B157A4-E50B-134E-52FE-115AA556F964}"/>
              </a:ext>
            </a:extLst>
          </p:cNvPr>
          <p:cNvSpPr txBox="1"/>
          <p:nvPr/>
        </p:nvSpPr>
        <p:spPr>
          <a:xfrm>
            <a:off x="257502" y="3787358"/>
            <a:ext cx="4314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Nhận xét: </a:t>
            </a:r>
            <a:r>
              <a:rPr lang="vi-VN" sz="1800" dirty="0"/>
              <a:t>ma trận </a:t>
            </a:r>
            <a:r>
              <a:rPr lang="vi-VN" sz="1800" dirty="0" err="1"/>
              <a:t>Confusion</a:t>
            </a:r>
            <a:r>
              <a:rPr lang="vi-VN" sz="1800" dirty="0"/>
              <a:t> </a:t>
            </a:r>
            <a:r>
              <a:rPr lang="vi-VN" sz="1800" dirty="0" err="1"/>
              <a:t>Matrix</a:t>
            </a:r>
            <a:r>
              <a:rPr lang="vi-VN" sz="1800" dirty="0"/>
              <a:t> có đường chéo chính đậm, phân loại đúng hơn nhiều so với K-</a:t>
            </a:r>
            <a:r>
              <a:rPr lang="vi-VN" sz="1800" dirty="0" err="1"/>
              <a:t>means</a:t>
            </a:r>
            <a:r>
              <a:rPr lang="vi-VN" sz="1800" dirty="0"/>
              <a:t> trước đó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5 loại </a:t>
            </a:r>
            <a:r>
              <a:rPr lang="vi-VN" sz="1800" dirty="0" err="1"/>
              <a:t>angry</a:t>
            </a:r>
            <a:r>
              <a:rPr lang="vi-VN" sz="1800" dirty="0"/>
              <a:t>, </a:t>
            </a:r>
            <a:r>
              <a:rPr lang="vi-VN" sz="1800" dirty="0" err="1"/>
              <a:t>disgust</a:t>
            </a:r>
            <a:r>
              <a:rPr lang="vi-VN" sz="1800" dirty="0"/>
              <a:t>, </a:t>
            </a:r>
            <a:r>
              <a:rPr lang="vi-VN" sz="1800" dirty="0" err="1"/>
              <a:t>happy</a:t>
            </a:r>
            <a:r>
              <a:rPr lang="vi-VN" sz="1800" dirty="0"/>
              <a:t>, </a:t>
            </a:r>
            <a:r>
              <a:rPr lang="vi-VN" sz="1800" dirty="0" err="1"/>
              <a:t>neutral</a:t>
            </a:r>
            <a:r>
              <a:rPr lang="vi-VN" sz="1800" dirty="0"/>
              <a:t>, </a:t>
            </a:r>
            <a:r>
              <a:rPr lang="vi-VN" sz="1800" dirty="0" err="1"/>
              <a:t>surprise</a:t>
            </a:r>
            <a:r>
              <a:rPr lang="vi-VN" sz="1800" dirty="0"/>
              <a:t> có lượng đoán đúng nhiều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2 loại </a:t>
            </a:r>
            <a:r>
              <a:rPr lang="vi-VN" sz="1800" dirty="0" err="1"/>
              <a:t>fear</a:t>
            </a:r>
            <a:r>
              <a:rPr lang="vi-VN" sz="1800" dirty="0"/>
              <a:t> và </a:t>
            </a:r>
            <a:r>
              <a:rPr lang="vi-VN" sz="1800" dirty="0" err="1"/>
              <a:t>sad</a:t>
            </a:r>
            <a:r>
              <a:rPr lang="vi-VN" sz="1800" dirty="0"/>
              <a:t> vẫn là 2 lớp khó </a:t>
            </a:r>
          </a:p>
          <a:p>
            <a:r>
              <a:rPr lang="vi-VN" sz="1800" dirty="0"/>
              <a:t>=&gt; SVM tận dụng tốt đặc trưng của HOG + PCA</a:t>
            </a:r>
          </a:p>
        </p:txBody>
      </p:sp>
    </p:spTree>
    <p:extLst>
      <p:ext uri="{BB962C8B-B14F-4D97-AF65-F5344CB8AC3E}">
        <p14:creationId xmlns:p14="http://schemas.microsoft.com/office/powerpoint/2010/main" val="2722128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88DE-1E14-BB66-B5C6-6C915218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720730B-A928-122C-9531-232F6A912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502" y="1286985"/>
            <a:ext cx="3767960" cy="531977"/>
          </a:xfrm>
        </p:spPr>
        <p:txBody>
          <a:bodyPr/>
          <a:lstStyle/>
          <a:p>
            <a:pPr marL="50800"/>
            <a:r>
              <a:rPr lang="vi-VN" sz="2400" dirty="0"/>
              <a:t>So sánh với CNN(VGG FER)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D451BBE-41FC-F0BF-6560-8D33B7A3CF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7DA5626-6E40-49DC-520D-C25E4CC56A70}"/>
              </a:ext>
            </a:extLst>
          </p:cNvPr>
          <p:cNvSpPr txBox="1"/>
          <p:nvPr/>
        </p:nvSpPr>
        <p:spPr>
          <a:xfrm>
            <a:off x="257503" y="3243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</a:rPr>
              <a:t>4. So sánh, đối chiếu kết quả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59D89FA0-1223-7D26-F982-26A4B2AD921A}"/>
              </a:ext>
            </a:extLst>
          </p:cNvPr>
          <p:cNvSpPr txBox="1"/>
          <p:nvPr/>
        </p:nvSpPr>
        <p:spPr>
          <a:xfrm>
            <a:off x="257503" y="2661865"/>
            <a:ext cx="4314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Nhận xét: </a:t>
            </a:r>
            <a:r>
              <a:rPr lang="vi-VN" sz="1800" dirty="0"/>
              <a:t>Mô hình này hoạt động rất tốt, rất phù hợp với bài toán này.</a:t>
            </a:r>
          </a:p>
          <a:p>
            <a:r>
              <a:rPr lang="vi-VN" sz="1800" dirty="0"/>
              <a:t>- Đặc biệt là để phân lớp các lớp như </a:t>
            </a:r>
            <a:r>
              <a:rPr lang="vi-VN" sz="1800" dirty="0" err="1"/>
              <a:t>Happy</a:t>
            </a:r>
            <a:r>
              <a:rPr lang="vi-VN" sz="1800" dirty="0"/>
              <a:t>, </a:t>
            </a:r>
            <a:r>
              <a:rPr lang="vi-VN" sz="1800" dirty="0" err="1"/>
              <a:t>Surprise</a:t>
            </a:r>
            <a:r>
              <a:rPr lang="vi-VN" sz="1800" dirty="0"/>
              <a:t> vì chúng có tỉ lệ nhận dạng cao.</a:t>
            </a:r>
          </a:p>
          <a:p>
            <a:r>
              <a:rPr lang="vi-VN" sz="1800" dirty="0"/>
              <a:t>- Tuy vậy, các cảm xúc như </a:t>
            </a:r>
            <a:r>
              <a:rPr lang="vi-VN" sz="1800" dirty="0" err="1"/>
              <a:t>fear</a:t>
            </a:r>
            <a:r>
              <a:rPr lang="vi-VN" sz="1800" dirty="0"/>
              <a:t>, </a:t>
            </a:r>
            <a:r>
              <a:rPr lang="vi-VN" sz="1800" dirty="0" err="1"/>
              <a:t>sad</a:t>
            </a:r>
            <a:r>
              <a:rPr lang="vi-VN" sz="1800" dirty="0"/>
              <a:t> vẫn chưa quá cao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F903F55-1103-B772-9349-F960BEDCB8AB}"/>
              </a:ext>
            </a:extLst>
          </p:cNvPr>
          <p:cNvSpPr txBox="1"/>
          <p:nvPr/>
        </p:nvSpPr>
        <p:spPr>
          <a:xfrm>
            <a:off x="541283" y="1950063"/>
            <a:ext cx="2201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 err="1"/>
              <a:t>Accuracy</a:t>
            </a:r>
            <a:r>
              <a:rPr lang="vi-VN" sz="2000" b="1" dirty="0"/>
              <a:t>: 0.696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160D2D-8112-0CDF-7E0F-2FAE3F09B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103" y="1388807"/>
            <a:ext cx="4572001" cy="366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99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64DB-E67B-78E1-F66D-4E772F64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FE64F0-44BC-74CE-2588-F1A67B148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5. Kết luận, hướng phát triển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A057780-0F8E-BE14-C4EE-6E42AF1D35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3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CB20-D762-43C0-D2FE-60A60468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FDB64B-DD7D-87D2-C8F2-8BE9991BC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42" y="329872"/>
            <a:ext cx="5263056" cy="552997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5. Kết luận, hướng phát triển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65A5FC2-C8A8-4316-93BA-1283F35490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9FAA166E-EC59-E0DF-CCD5-24554E78AABA}"/>
              </a:ext>
            </a:extLst>
          </p:cNvPr>
          <p:cNvSpPr txBox="1"/>
          <p:nvPr/>
        </p:nvSpPr>
        <p:spPr>
          <a:xfrm>
            <a:off x="409902" y="1723697"/>
            <a:ext cx="53497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Tóm lại, FER2013 là 1 </a:t>
            </a:r>
            <a:r>
              <a:rPr lang="vi-VN" sz="2400" b="1" dirty="0" err="1"/>
              <a:t>dataset</a:t>
            </a:r>
            <a:r>
              <a:rPr lang="vi-VN" sz="2400" b="1" dirty="0"/>
              <a:t> khó, K-</a:t>
            </a:r>
            <a:r>
              <a:rPr lang="vi-VN" sz="2400" b="1" dirty="0" err="1"/>
              <a:t>means</a:t>
            </a:r>
            <a:r>
              <a:rPr lang="vi-VN" sz="2400" b="1" dirty="0"/>
              <a:t> không thể giải quyết nó với 1 </a:t>
            </a:r>
            <a:r>
              <a:rPr lang="vi-VN" sz="2400" b="1" dirty="0" err="1"/>
              <a:t>accuracy</a:t>
            </a:r>
            <a:r>
              <a:rPr lang="vi-VN" sz="2400" b="1" dirty="0"/>
              <a:t> cao được</a:t>
            </a:r>
          </a:p>
          <a:p>
            <a:r>
              <a:rPr lang="vi-VN" sz="2400" b="1" dirty="0"/>
              <a:t>=&gt; Yêu cầu 1 thuật toán tốt hơn, 1 </a:t>
            </a:r>
            <a:r>
              <a:rPr lang="vi-VN" sz="2400" b="1" dirty="0" err="1"/>
              <a:t>dataset</a:t>
            </a:r>
            <a:r>
              <a:rPr lang="vi-VN" sz="2400" b="1" dirty="0"/>
              <a:t> tốt hơn.</a:t>
            </a:r>
          </a:p>
          <a:p>
            <a:r>
              <a:rPr lang="vi-VN" sz="2400" b="1" dirty="0"/>
              <a:t> </a:t>
            </a:r>
          </a:p>
        </p:txBody>
      </p:sp>
      <p:pic>
        <p:nvPicPr>
          <p:cNvPr id="6" name="Hình ảnh 5" descr="Ảnh có chứa Mặt người, đen và trắng, ảnh chụp màn hình, đàn ông&#10;&#10;Nội dung do AI tạo ra có thể không chính xác.">
            <a:extLst>
              <a:ext uri="{FF2B5EF4-FFF2-40B4-BE49-F238E27FC236}">
                <a16:creationId xmlns:a16="http://schemas.microsoft.com/office/drawing/2014/main" id="{3C6F2AAE-F96D-21A9-5BFE-577363A2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522" y="4134185"/>
            <a:ext cx="5854262" cy="12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04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96D1-56B0-8FC0-43C7-C92732C9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3D4D4C-627F-4BE5-70CE-9B5829DE5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42" y="329872"/>
            <a:ext cx="5263056" cy="552997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5. Kết luận, hướng phát triển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003C9B6-B08F-7505-3FD7-27282A5F8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3AE4E31-B88B-9763-A73B-38180C98163E}"/>
              </a:ext>
            </a:extLst>
          </p:cNvPr>
          <p:cNvSpPr txBox="1"/>
          <p:nvPr/>
        </p:nvSpPr>
        <p:spPr>
          <a:xfrm>
            <a:off x="599090" y="1418897"/>
            <a:ext cx="7252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Hướng phát triển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FD86A4BF-8D10-D0F1-B576-5592058E554F}"/>
              </a:ext>
            </a:extLst>
          </p:cNvPr>
          <p:cNvSpPr txBox="1"/>
          <p:nvPr/>
        </p:nvSpPr>
        <p:spPr>
          <a:xfrm>
            <a:off x="924910" y="2217683"/>
            <a:ext cx="72941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vi-VN" sz="2000" dirty="0"/>
              <a:t>Sử dụng các thuật toán như SVM</a:t>
            </a:r>
            <a:r>
              <a:rPr lang="vi-VN" sz="2000"/>
              <a:t>, CNN(VGG FER) để </a:t>
            </a:r>
            <a:r>
              <a:rPr lang="vi-VN" sz="2000" dirty="0"/>
              <a:t>cải thiện </a:t>
            </a:r>
            <a:r>
              <a:rPr lang="vi-VN" sz="2000" dirty="0" err="1"/>
              <a:t>Accuracy</a:t>
            </a:r>
            <a:endParaRPr lang="vi-VN" sz="2000" dirty="0"/>
          </a:p>
          <a:p>
            <a:pPr marL="342900" indent="-342900">
              <a:buFontTx/>
              <a:buChar char="-"/>
            </a:pPr>
            <a:r>
              <a:rPr lang="vi-VN" sz="2000" dirty="0"/>
              <a:t>Lọc lại các ảnh bị nhiễu nặng, các ảnh không thể phân biệt được rõ ràng trong </a:t>
            </a:r>
            <a:r>
              <a:rPr lang="vi-VN" sz="2000" dirty="0" err="1"/>
              <a:t>dataset</a:t>
            </a:r>
            <a:endParaRPr lang="vi-VN" sz="2000" dirty="0"/>
          </a:p>
          <a:p>
            <a:pPr marL="342900" indent="-342900">
              <a:buFontTx/>
              <a:buChar char="-"/>
            </a:pPr>
            <a:r>
              <a:rPr lang="vi-VN" sz="2000" dirty="0"/>
              <a:t>Nếu thuật toán có thể cải thiện thì xem xét được đến những ứng dụng thời gian thực, bằng cách triển khai lên những phần cứng chuyên dụng như FPGA, </a:t>
            </a:r>
            <a:r>
              <a:rPr lang="vi-VN" sz="2000" dirty="0" err="1"/>
              <a:t>chip</a:t>
            </a:r>
            <a:r>
              <a:rPr lang="vi-VN" sz="2000" dirty="0"/>
              <a:t> nhúng AI</a:t>
            </a:r>
          </a:p>
          <a:p>
            <a:pPr marL="342900" indent="-342900">
              <a:buFontTx/>
              <a:buChar char="-"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75364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D08C-0483-3321-9042-43D5EA5A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2389CD-4FE5-F8BD-1E0E-CC552A36B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Xin chân thành cảm ơn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F29B9F0-F439-2CB5-EE2C-368E5D744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7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1ba1225-54d8-4fa6-934e-3020034412e0" xsi:nil="true"/>
    <lcf76f155ced4ddcb4097134ff3c332f xmlns="fd63efce-8fbd-4040-94f1-ea540616c8b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1C320DB09146B949355C1F67BBAE" ma:contentTypeVersion="11" ma:contentTypeDescription="Create a new document." ma:contentTypeScope="" ma:versionID="e125e36597350e941243b6b7c330b3de">
  <xsd:schema xmlns:xsd="http://www.w3.org/2001/XMLSchema" xmlns:xs="http://www.w3.org/2001/XMLSchema" xmlns:p="http://schemas.microsoft.com/office/2006/metadata/properties" xmlns:ns2="fd63efce-8fbd-4040-94f1-ea540616c8b8" xmlns:ns3="01ba1225-54d8-4fa6-934e-3020034412e0" targetNamespace="http://schemas.microsoft.com/office/2006/metadata/properties" ma:root="true" ma:fieldsID="bf6c9742e715e8ac6a70cfbe0fed6375" ns2:_="" ns3:_="">
    <xsd:import namespace="fd63efce-8fbd-4040-94f1-ea540616c8b8"/>
    <xsd:import namespace="01ba1225-54d8-4fa6-934e-3020034412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3efce-8fbd-4040-94f1-ea540616c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a1225-54d8-4fa6-934e-3020034412e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6236b-00cc-4cc2-9700-853704174dc2}" ma:internalName="TaxCatchAll" ma:showField="CatchAllData" ma:web="01ba1225-54d8-4fa6-934e-3020034412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DA69C8-DB4E-44EE-98E1-D5D5369288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169F43-67A6-4593-ADD7-B0CBCAF4936E}">
  <ds:schemaRefs>
    <ds:schemaRef ds:uri="http://schemas.microsoft.com/office/2006/metadata/properties"/>
    <ds:schemaRef ds:uri="http://schemas.microsoft.com/office/infopath/2007/PartnerControls"/>
    <ds:schemaRef ds:uri="01ba1225-54d8-4fa6-934e-3020034412e0"/>
    <ds:schemaRef ds:uri="fd63efce-8fbd-4040-94f1-ea540616c8b8"/>
  </ds:schemaRefs>
</ds:datastoreItem>
</file>

<file path=customXml/itemProps3.xml><?xml version="1.0" encoding="utf-8"?>
<ds:datastoreItem xmlns:ds="http://schemas.openxmlformats.org/officeDocument/2006/customXml" ds:itemID="{EF248721-A551-41C9-A070-D7A8AB8FA7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63efce-8fbd-4040-94f1-ea540616c8b8"/>
    <ds:schemaRef ds:uri="01ba1225-54d8-4fa6-934e-302003441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2847</TotalTime>
  <Words>2394</Words>
  <Application>Microsoft Office PowerPoint</Application>
  <PresentationFormat>Trình chiếu Trên màn hình (4:3)</PresentationFormat>
  <Paragraphs>241</Paragraphs>
  <Slides>25</Slides>
  <Notes>11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25</vt:i4>
      </vt:variant>
    </vt:vector>
  </HeadingPairs>
  <TitlesOfParts>
    <vt:vector size="29" baseType="lpstr">
      <vt:lpstr>Arial</vt:lpstr>
      <vt:lpstr>Calibri</vt:lpstr>
      <vt:lpstr>Noto Sans Symbols</vt:lpstr>
      <vt:lpstr>Office Theme</vt:lpstr>
      <vt:lpstr>Bản trình bày PowerPoint</vt:lpstr>
      <vt:lpstr>Mục lục</vt:lpstr>
      <vt:lpstr>1. Tổng quan </vt:lpstr>
      <vt:lpstr>1. Tổng quan</vt:lpstr>
      <vt:lpstr>2. Thuật toán và tập dữ liệu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3. Khảo sát, đánh giá</vt:lpstr>
      <vt:lpstr>3. Khảo sát, đánh giá</vt:lpstr>
      <vt:lpstr>3. Khảo sát, đánh giá</vt:lpstr>
      <vt:lpstr>3. Khảo sát, đánh giá</vt:lpstr>
      <vt:lpstr>3. Khảo sát, đánh giá</vt:lpstr>
      <vt:lpstr>3. Khảo sát, đánh giá</vt:lpstr>
      <vt:lpstr>4. So sánh, đối chiếu kết quả</vt:lpstr>
      <vt:lpstr>So sánh với HOG + SVM + PCA</vt:lpstr>
      <vt:lpstr>So sánh với CNN(VGG FER)</vt:lpstr>
      <vt:lpstr>5. Kết luận, hướng phát triển</vt:lpstr>
      <vt:lpstr>5. Kết luận, hướng phát triển</vt:lpstr>
      <vt:lpstr>5. Kết luận, hướng phát triển</vt:lpstr>
      <vt:lpstr>Xin chân thành cảm 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>Datdatnguyen</dc:creator>
  <cp:lastModifiedBy>Dat Nguyen</cp:lastModifiedBy>
  <cp:revision>123</cp:revision>
  <dcterms:created xsi:type="dcterms:W3CDTF">2017-10-17T01:43:35Z</dcterms:created>
  <dcterms:modified xsi:type="dcterms:W3CDTF">2025-11-30T10:54:07Z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0x01010060811C320DB09146B949355C1F67BBAE</vt:lpwstr>
  </property>
</Properties>
</file>